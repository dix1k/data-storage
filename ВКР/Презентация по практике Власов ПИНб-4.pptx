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4" r:id="rId1"/>
  </p:sldMasterIdLst>
  <p:notesMasterIdLst>
    <p:notesMasterId r:id="rId18"/>
  </p:notesMasterIdLst>
  <p:sldIdLst>
    <p:sldId id="256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292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86" autoAdjust="0"/>
    <p:restoredTop sz="94713" autoAdjust="0"/>
  </p:normalViewPr>
  <p:slideViewPr>
    <p:cSldViewPr>
      <p:cViewPr varScale="1">
        <p:scale>
          <a:sx n="111" d="100"/>
          <a:sy n="111" d="100"/>
        </p:scale>
        <p:origin x="106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10F23-F01B-413F-A34B-F875C56347E2}" type="datetimeFigureOut">
              <a:rPr lang="ru-RU" smtClean="0"/>
              <a:pPr/>
              <a:t>28.9.26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03266-27B2-4BE2-95F6-AC178D121F3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5FF3A-207D-4077-9983-92454F292F6C}" type="datetime1">
              <a:rPr lang="ru-RU" smtClean="0"/>
              <a:pPr/>
              <a:t>28.9.26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63A7-3C16-4562-90AC-B11852B3E7B1}" type="datetime1">
              <a:rPr lang="ru-RU" smtClean="0"/>
              <a:pPr/>
              <a:t>28.9.26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AB1B0-5D45-4B59-90CD-F824279315AD}" type="datetime1">
              <a:rPr lang="ru-RU" smtClean="0"/>
              <a:pPr/>
              <a:t>28.9.26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CDD38-6481-42CA-9D5C-69E3B71EE287}" type="datetime1">
              <a:rPr lang="ru-RU" smtClean="0"/>
              <a:pPr/>
              <a:t>28.9.26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4339-7924-4E25-AB43-70599E1B6DD1}" type="datetime1">
              <a:rPr lang="ru-RU" smtClean="0"/>
              <a:pPr/>
              <a:t>28.9.26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5B1D-E50A-44C6-A3A8-83E6DD9EFFFF}" type="datetime1">
              <a:rPr lang="ru-RU" smtClean="0"/>
              <a:pPr/>
              <a:t>28.9.26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6174A-188A-4407-A4E9-2F7E9DC8EF24}" type="datetime1">
              <a:rPr lang="ru-RU" smtClean="0"/>
              <a:pPr/>
              <a:t>28.9.26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6346-4B58-472B-9B7E-ABDAE5ECA80F}" type="datetime1">
              <a:rPr lang="ru-RU" smtClean="0"/>
              <a:pPr/>
              <a:t>28.9.26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7D1F6-2011-46A6-A39B-A356E6155F8B}" type="datetime1">
              <a:rPr lang="ru-RU" smtClean="0"/>
              <a:pPr/>
              <a:t>28.9.26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1EF82-6A5E-4A06-A9DA-8CA8946E5579}" type="datetime1">
              <a:rPr lang="ru-RU" smtClean="0"/>
              <a:pPr/>
              <a:t>28.9.26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67ABB-6ADD-48E4-B360-B144D2310B47}" type="datetime1">
              <a:rPr lang="ru-RU" smtClean="0"/>
              <a:pPr/>
              <a:t>28.9.26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D2EEC-9F96-4258-A5E9-6DD7C61738E4}" type="datetime1">
              <a:rPr lang="ru-RU" smtClean="0"/>
              <a:pPr/>
              <a:t>28.9.26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285720" y="332656"/>
            <a:ext cx="8603407" cy="35283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Отчёт 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 проектной практике</a:t>
            </a:r>
            <a:endParaRPr kumimoji="0" lang="ru-RU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228820"/>
              </p:ext>
            </p:extLst>
          </p:nvPr>
        </p:nvGraphicFramePr>
        <p:xfrm>
          <a:off x="2500298" y="4149080"/>
          <a:ext cx="6500858" cy="17145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1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9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90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Выполнил: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студент 4 курса гр. ПИНб-41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Власов Дмитрий Алексеевич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Руководитель: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Беляков Андрей Юрьевич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доцент, к. т. н.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Общая характеристика места практики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600" dirty="0" err="1"/>
              <a:t>Организация</a:t>
            </a:r>
            <a:r>
              <a:rPr sz="2600" dirty="0"/>
              <a:t>: </a:t>
            </a:r>
            <a:r>
              <a:rPr sz="2600" dirty="0" err="1"/>
              <a:t>Горный</a:t>
            </a:r>
            <a:r>
              <a:rPr sz="2600" dirty="0"/>
              <a:t> </a:t>
            </a:r>
            <a:r>
              <a:rPr sz="2600" dirty="0" err="1"/>
              <a:t>институт</a:t>
            </a:r>
            <a:r>
              <a:rPr sz="2600" dirty="0"/>
              <a:t> </a:t>
            </a:r>
            <a:r>
              <a:rPr sz="2600" dirty="0" err="1"/>
              <a:t>УрО</a:t>
            </a:r>
            <a:r>
              <a:rPr sz="2600" dirty="0"/>
              <a:t> РАН (ГИ </a:t>
            </a:r>
            <a:r>
              <a:rPr sz="2600" dirty="0" err="1"/>
              <a:t>УрО</a:t>
            </a:r>
            <a:r>
              <a:rPr sz="2600" dirty="0"/>
              <a:t> РАН) — </a:t>
            </a:r>
            <a:r>
              <a:rPr sz="2600" dirty="0" err="1"/>
              <a:t>филиал</a:t>
            </a:r>
            <a:r>
              <a:rPr sz="2600" dirty="0"/>
              <a:t> ПФИЦ </a:t>
            </a:r>
            <a:r>
              <a:rPr sz="2600" dirty="0" err="1"/>
              <a:t>УрО</a:t>
            </a:r>
            <a:r>
              <a:rPr sz="2600" dirty="0"/>
              <a:t> РАН</a:t>
            </a:r>
          </a:p>
          <a:p>
            <a:pPr>
              <a:spcAft>
                <a:spcPts val="800"/>
              </a:spcAft>
            </a:pPr>
            <a:r>
              <a:rPr sz="2600" dirty="0" err="1"/>
              <a:t>Адрес</a:t>
            </a:r>
            <a:r>
              <a:rPr sz="2600" dirty="0"/>
              <a:t>: г. </a:t>
            </a:r>
            <a:r>
              <a:rPr sz="2600" dirty="0" err="1"/>
              <a:t>Пермь</a:t>
            </a:r>
            <a:r>
              <a:rPr sz="2600" dirty="0"/>
              <a:t>, </a:t>
            </a:r>
            <a:r>
              <a:rPr sz="2600" dirty="0" err="1"/>
              <a:t>ул</a:t>
            </a:r>
            <a:r>
              <a:rPr sz="2600" dirty="0"/>
              <a:t>. </a:t>
            </a:r>
            <a:r>
              <a:rPr sz="2600" dirty="0" err="1"/>
              <a:t>Сибирская</a:t>
            </a:r>
            <a:r>
              <a:rPr sz="2600" dirty="0"/>
              <a:t>, 78-А</a:t>
            </a:r>
            <a:endParaRPr lang="en-US" sz="2600" dirty="0"/>
          </a:p>
          <a:p>
            <a:pPr>
              <a:spcAft>
                <a:spcPts val="800"/>
              </a:spcAft>
            </a:pPr>
            <a:r>
              <a:rPr sz="2600" dirty="0" err="1"/>
              <a:t>Срок</a:t>
            </a:r>
            <a:r>
              <a:rPr sz="2600" dirty="0"/>
              <a:t> </a:t>
            </a:r>
            <a:r>
              <a:rPr sz="2600" dirty="0" err="1"/>
              <a:t>практики</a:t>
            </a:r>
            <a:r>
              <a:rPr sz="2600" dirty="0"/>
              <a:t>: 01.09.2026 – 28.09.2026</a:t>
            </a:r>
          </a:p>
          <a:p>
            <a:pPr>
              <a:spcAft>
                <a:spcPts val="800"/>
              </a:spcAft>
            </a:pPr>
            <a:r>
              <a:rPr sz="2600" dirty="0" err="1"/>
              <a:t>Руководитель</a:t>
            </a:r>
            <a:r>
              <a:rPr sz="2600" dirty="0"/>
              <a:t> </a:t>
            </a:r>
            <a:r>
              <a:rPr sz="2600" dirty="0" err="1"/>
              <a:t>от</a:t>
            </a:r>
            <a:r>
              <a:rPr sz="2600" dirty="0"/>
              <a:t> </a:t>
            </a:r>
            <a:r>
              <a:rPr sz="2600" dirty="0" err="1"/>
              <a:t>организации</a:t>
            </a:r>
            <a:r>
              <a:rPr sz="2600" dirty="0"/>
              <a:t>: </a:t>
            </a:r>
            <a:r>
              <a:rPr sz="2600" dirty="0" err="1"/>
              <a:t>Попов</a:t>
            </a:r>
            <a:r>
              <a:rPr sz="2600" dirty="0"/>
              <a:t> М.Д.</a:t>
            </a:r>
          </a:p>
          <a:p>
            <a:pPr>
              <a:spcAft>
                <a:spcPts val="800"/>
              </a:spcAft>
            </a:pPr>
            <a:r>
              <a:rPr sz="2600" dirty="0" err="1"/>
              <a:t>Руководитель</a:t>
            </a:r>
            <a:r>
              <a:rPr sz="2600" dirty="0"/>
              <a:t> </a:t>
            </a:r>
            <a:r>
              <a:rPr sz="2600" dirty="0" err="1"/>
              <a:t>от</a:t>
            </a:r>
            <a:r>
              <a:rPr sz="2600" dirty="0"/>
              <a:t> </a:t>
            </a:r>
            <a:r>
              <a:rPr sz="2600" dirty="0" err="1"/>
              <a:t>университета</a:t>
            </a:r>
            <a:r>
              <a:rPr sz="2600" dirty="0"/>
              <a:t>: </a:t>
            </a:r>
            <a:r>
              <a:rPr sz="2600" dirty="0" err="1"/>
              <a:t>Беляков</a:t>
            </a:r>
            <a:r>
              <a:rPr sz="2600" dirty="0"/>
              <a:t> А.Ю., </a:t>
            </a:r>
            <a:r>
              <a:rPr sz="2600" dirty="0" err="1"/>
              <a:t>доцент</a:t>
            </a:r>
            <a:r>
              <a:rPr sz="2600" dirty="0"/>
              <a:t>, </a:t>
            </a:r>
            <a:r>
              <a:rPr sz="2600" dirty="0" err="1"/>
              <a:t>к.т.н</a:t>
            </a:r>
            <a:r>
              <a:rPr sz="2600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z="2400" smtClean="0"/>
              <a:pPr/>
              <a:t>2</a:t>
            </a:fld>
            <a:endParaRPr lang="ru-RU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Цель и задачи практики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600"/>
              <a:t>Цель: сбор, анализ и подготовка материала для проектирования информационной системы в рамках ВКР</a:t>
            </a:r>
          </a:p>
          <a:p>
            <a:pPr>
              <a:spcAft>
                <a:spcPts val="800"/>
              </a:spcAft>
            </a:pPr>
            <a:r>
              <a:rPr sz="2600"/>
              <a:t>Анализ предметной области и существующих решений</a:t>
            </a:r>
          </a:p>
          <a:p>
            <a:pPr>
              <a:spcAft>
                <a:spcPts val="800"/>
              </a:spcAft>
            </a:pPr>
            <a:r>
              <a:rPr sz="2600"/>
              <a:t>Формулирование функциональных и нефункциональных требований</a:t>
            </a:r>
          </a:p>
          <a:p>
            <a:pPr>
              <a:spcAft>
                <a:spcPts val="800"/>
              </a:spcAft>
            </a:pPr>
            <a:r>
              <a:rPr sz="2600"/>
              <a:t>Моделирование: диаграмма прецедентов, концептуальная модель данных, CRUD-матрица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z="2400" smtClean="0"/>
              <a:pPr/>
              <a:t>3</a:t>
            </a:fld>
            <a:endParaRPr lang="ru-RU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Описание предметной области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600"/>
              <a:t>Промышленная безопасность горных предприятий: контроль параметров воздуха в выработках</a:t>
            </a:r>
          </a:p>
          <a:p>
            <a:pPr>
              <a:spcAft>
                <a:spcPts val="800"/>
              </a:spcAft>
            </a:pPr>
            <a:r>
              <a:rPr sz="2600"/>
              <a:t>Вентиляционная сеть шахты — граф: узлы (сопряжения, окончания) и рёбра (выработки)</a:t>
            </a:r>
          </a:p>
          <a:p>
            <a:pPr>
              <a:spcAft>
                <a:spcPts val="800"/>
              </a:spcAft>
            </a:pPr>
            <a:r>
              <a:rPr sz="2600"/>
              <a:t>Замеры: S, V, газы (O2, CO, CO2, CH4, NO, NO2, NOx), P, φ, t</a:t>
            </a:r>
          </a:p>
          <a:p>
            <a:pPr>
              <a:spcAft>
                <a:spcPts val="800"/>
              </a:spcAft>
            </a:pPr>
            <a:r>
              <a:rPr sz="2600"/>
              <a:t>Схема сети хранится в .erp-архиве (schema.xml), замеры ведутся вручную в журналах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z="2400" smtClean="0"/>
              <a:pPr/>
              <a:t>4</a:t>
            </a:fld>
            <a:endParaRPr lang="ru-RU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Существующие технологические решения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z="2400" smtClean="0"/>
              <a:pPr/>
              <a:t>5</a:t>
            </a:fld>
            <a:endParaRPr lang="ru-R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003432"/>
              </p:ext>
            </p:extLst>
          </p:nvPr>
        </p:nvGraphicFramePr>
        <p:xfrm>
          <a:off x="457200" y="2060848"/>
          <a:ext cx="822960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</a:rPr>
                        <a:t>Критерий</a:t>
                      </a: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000000"/>
                          </a:solidFill>
                        </a:rPr>
                        <a:t>Системы</a:t>
                      </a:r>
                      <a:r>
                        <a:rPr sz="1600" b="1" dirty="0">
                          <a:solidFill>
                            <a:srgbClr val="000000"/>
                          </a:solidFill>
                        </a:rPr>
                        <a:t> АГК</a:t>
                      </a: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</a:rPr>
                        <a:t>Desktop (типа Ventsim)</a:t>
                      </a: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</a:rPr>
                        <a:t>MineAir</a:t>
                      </a: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</a:rPr>
                        <a:t>Платформа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Стационарные АРМ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Desktop (Windows)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Android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</a:rPr>
                        <a:t>Назначение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Мониторинг датчиков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Расчёты и симуляция сети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Ручные замеры с привязкой к 3D-топологии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</a:rPr>
                        <a:t>Ручная фиксация замеров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Нет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Нет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000000"/>
                          </a:solidFill>
                        </a:rPr>
                        <a:t>Да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</a:rPr>
                        <a:t> (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</a:rPr>
                        <a:t>выработка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</a:rPr>
                        <a:t> / 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</a:rPr>
                        <a:t>поверхность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</a:rPr>
                        <a:t>Экспорт замеров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Закрытый формат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Не типично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</a:rPr>
                        <a:t>CSV («;» и «,»)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</a:rPr>
                        <a:t>Стоимость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Высокая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Высокая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000000"/>
                          </a:solidFill>
                        </a:rPr>
                        <a:t>Низкая</a:t>
                      </a:r>
                      <a:endParaRPr sz="1600" b="0" dirty="0">
                        <a:solidFill>
                          <a:srgbClr val="000000"/>
                        </a:solidFill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Обоснование актуальности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600"/>
              <a:t>Доступ к схеме сети и привязка замера к выработке прямо на объекте</a:t>
            </a:r>
          </a:p>
          <a:p>
            <a:pPr>
              <a:spcAft>
                <a:spcPts val="800"/>
              </a:spcAft>
            </a:pPr>
            <a:r>
              <a:rPr sz="2600"/>
              <a:t>Экспортные форматы схем (.erp) просматриваются только в узком ПО</a:t>
            </a:r>
          </a:p>
          <a:p>
            <a:pPr>
              <a:spcAft>
                <a:spcPts val="800"/>
              </a:spcAft>
            </a:pPr>
            <a:r>
              <a:rPr sz="2600"/>
              <a:t>Замеры фиксируются в бумажных журналах без связи с топологией</a:t>
            </a:r>
          </a:p>
          <a:p>
            <a:pPr>
              <a:spcAft>
                <a:spcPts val="800"/>
              </a:spcAft>
            </a:pPr>
            <a:r>
              <a:rPr sz="2600"/>
              <a:t>Нужен единый формат выгрузки (CSV) для обработки и отчётности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z="2400" smtClean="0"/>
              <a:pPr/>
              <a:t>6</a:t>
            </a:fld>
            <a:endParaRPr lang="ru-RU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Постановка задачи на проектирование ИС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600"/>
              <a:t>Разработать мобильное приложение MineAir (Android, Kotlin, Jetpack Compose, OpenGL ES 2.0)</a:t>
            </a:r>
          </a:p>
          <a:p>
            <a:pPr>
              <a:spcAft>
                <a:spcPts val="800"/>
              </a:spcAft>
            </a:pPr>
            <a:r>
              <a:rPr sz="2600"/>
              <a:t>Импорт и 3D-визуализация топологии выработок</a:t>
            </a:r>
          </a:p>
          <a:p>
            <a:pPr>
              <a:spcAft>
                <a:spcPts val="800"/>
              </a:spcAft>
            </a:pPr>
            <a:r>
              <a:rPr sz="2600"/>
              <a:t>Быстрый ввод замеров: автодата, автономер, автоединицы</a:t>
            </a:r>
          </a:p>
          <a:p>
            <a:pPr>
              <a:spcAft>
                <a:spcPts val="800"/>
              </a:spcAft>
            </a:pPr>
            <a:r>
              <a:rPr sz="2600"/>
              <a:t>Замеры по выработке и по точке поверхности, экспорт в CSV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z="2400" smtClean="0"/>
              <a:pPr/>
              <a:t>7</a:t>
            </a:fld>
            <a:endParaRPr lang="ru-RU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Функциональные требования: топология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z="2400" smtClean="0"/>
              <a:pPr/>
              <a:t>8</a:t>
            </a:fld>
            <a:endParaRPr lang="ru-R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161706"/>
              </p:ext>
            </p:extLst>
          </p:nvPr>
        </p:nvGraphicFramePr>
        <p:xfrm>
          <a:off x="502920" y="1613562"/>
          <a:ext cx="8138160" cy="4535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5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0000"/>
                          </a:solidFill>
                        </a:rPr>
                        <a:t>Функция</a:t>
                      </a: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0000"/>
                          </a:solidFill>
                        </a:rPr>
                        <a:t>Приоритет</a:t>
                      </a: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Импорт схемы шахты (.erp, schema.xml)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</a:rPr>
                        <a:t>Обязательно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3D-визуализация топологии (OpenGL ES 2.0)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</a:rPr>
                        <a:t>Обязательно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 dirty="0" err="1">
                          <a:solidFill>
                            <a:srgbClr val="000000"/>
                          </a:solidFill>
                        </a:rPr>
                        <a:t>Управление</a:t>
                      </a:r>
                      <a:r>
                        <a:rPr sz="20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2000" b="0" dirty="0" err="1">
                          <a:solidFill>
                            <a:srgbClr val="000000"/>
                          </a:solidFill>
                        </a:rPr>
                        <a:t>камерой</a:t>
                      </a:r>
                      <a:r>
                        <a:rPr sz="20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2000" b="0" dirty="0" err="1">
                          <a:solidFill>
                            <a:srgbClr val="000000"/>
                          </a:solidFill>
                        </a:rPr>
                        <a:t>жестами</a:t>
                      </a:r>
                      <a:endParaRPr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</a:rPr>
                        <a:t>Обязательно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Поиск выработки по названию (плоскость XY)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</a:rPr>
                        <a:t>Обязательно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Прозрачность выработок по глубине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</a:rPr>
                        <a:t>Желательно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Сохранение / загрузка модели (JSON)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</a:rPr>
                        <a:t>Желательно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Список и удаление моделей; цвет слоёв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000000"/>
                          </a:solidFill>
                        </a:rPr>
                        <a:t>Возможно</a:t>
                      </a:r>
                      <a:endParaRPr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Функциональные требования: замеры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z="2400" smtClean="0"/>
              <a:pPr/>
              <a:t>9</a:t>
            </a:fld>
            <a:endParaRPr lang="ru-R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132717"/>
              </p:ext>
            </p:extLst>
          </p:nvPr>
        </p:nvGraphicFramePr>
        <p:xfrm>
          <a:off x="502920" y="1501997"/>
          <a:ext cx="8138160" cy="4722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5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0000"/>
                          </a:solidFill>
                        </a:rPr>
                        <a:t>Функция</a:t>
                      </a: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0000"/>
                          </a:solidFill>
                        </a:rPr>
                        <a:t>Приоритет</a:t>
                      </a: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Добавление замера по выработке (тап по выработке)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</a:rPr>
                        <a:t>Обязательно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Добавление замера для поверхности (ручное место)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</a:rPr>
                        <a:t>Обязательно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Выбор типа параметра и ввод значения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000000"/>
                          </a:solidFill>
                        </a:rPr>
                        <a:t>Обязательно</a:t>
                      </a:r>
                      <a:endParaRPr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Автоединица измерения (можно изменить)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</a:rPr>
                        <a:t>Обязательно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Автодата и автонумерация замеров (с 1)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</a:rPr>
                        <a:t>Обязательно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Экспорт замеров в CSV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</a:rPr>
                        <a:t>Обязательно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Запоминание набора параметров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000000"/>
                          </a:solidFill>
                        </a:rPr>
                        <a:t>Желательно</a:t>
                      </a:r>
                      <a:endParaRPr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Нефункциональные требования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z="2400" smtClean="0"/>
              <a:pPr/>
              <a:t>10</a:t>
            </a:fld>
            <a:endParaRPr lang="ru-R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473980"/>
              </p:ext>
            </p:extLst>
          </p:nvPr>
        </p:nvGraphicFramePr>
        <p:xfrm>
          <a:off x="502920" y="1809274"/>
          <a:ext cx="8138160" cy="4155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0000"/>
                          </a:solidFill>
                        </a:rPr>
                        <a:t>Категория</a:t>
                      </a: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000000"/>
                          </a:solidFill>
                        </a:rPr>
                        <a:t>Требование</a:t>
                      </a:r>
                      <a:endParaRPr sz="2000" b="1" dirty="0">
                        <a:solidFill>
                          <a:srgbClr val="000000"/>
                        </a:solidFill>
                      </a:endParaRP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Производительность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</a:rPr>
                        <a:t>≥ 30 кадров/с в 3D-сцене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Совместимость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</a:rPr>
                        <a:t>Android 7.0+ (API 24)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Ресурсоёмкость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</a:rPr>
                        <a:t>Потоковый разбор XML крупных .erp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Удобство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</a:rPr>
                        <a:t>Минимум действий при вводе замера; однозначные жесты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Формат CSV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</a:rPr>
                        <a:t>Разделители «;» и «,» вне зависимости от локали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</a:rPr>
                        <a:t>Персистентность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000000"/>
                          </a:solidFill>
                        </a:rPr>
                        <a:t>Сохранение</a:t>
                      </a:r>
                      <a:r>
                        <a:rPr sz="20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2000" b="0" dirty="0" err="1">
                          <a:solidFill>
                            <a:srgbClr val="000000"/>
                          </a:solidFill>
                        </a:rPr>
                        <a:t>последнего</a:t>
                      </a:r>
                      <a:r>
                        <a:rPr sz="20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2000" b="0" dirty="0" err="1">
                          <a:solidFill>
                            <a:srgbClr val="000000"/>
                          </a:solidFill>
                        </a:rPr>
                        <a:t>набора</a:t>
                      </a:r>
                      <a:r>
                        <a:rPr sz="20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2000" b="0" dirty="0" err="1">
                          <a:solidFill>
                            <a:srgbClr val="000000"/>
                          </a:solidFill>
                        </a:rPr>
                        <a:t>параметров</a:t>
                      </a:r>
                      <a:endParaRPr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Диаграмма прецедентов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z="2400" smtClean="0"/>
              <a:pPr/>
              <a:t>11</a:t>
            </a:fld>
            <a:endParaRPr lang="ru-RU" sz="2400" dirty="0"/>
          </a:p>
        </p:txBody>
      </p:sp>
      <p:pic>
        <p:nvPicPr>
          <p:cNvPr id="5" name="Picture 4" descr="usecas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325880"/>
            <a:ext cx="4114800" cy="50383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Концептуальная модель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z="2400" smtClean="0"/>
              <a:pPr/>
              <a:t>12</a:t>
            </a:fld>
            <a:endParaRPr lang="ru-RU" sz="2400" dirty="0"/>
          </a:p>
        </p:txBody>
      </p:sp>
      <p:pic>
        <p:nvPicPr>
          <p:cNvPr id="5" name="Picture 4" descr="classdiagra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CRUD-матрица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z="2400" smtClean="0"/>
              <a:pPr/>
              <a:t>13</a:t>
            </a:fld>
            <a:endParaRPr lang="ru-R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790568"/>
              </p:ext>
            </p:extLst>
          </p:nvPr>
        </p:nvGraphicFramePr>
        <p:xfrm>
          <a:off x="548640" y="1545114"/>
          <a:ext cx="8046720" cy="4683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Прецедент</a:t>
                      </a: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</a:rPr>
                        <a:t>Схема</a:t>
                      </a: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</a:rPr>
                        <a:t>Слой</a:t>
                      </a: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</a:rPr>
                        <a:t>Узел</a:t>
                      </a: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</a:rPr>
                        <a:t>Выраб.</a:t>
                      </a: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</a:rPr>
                        <a:t>Модель</a:t>
                      </a: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</a:rPr>
                        <a:t>Замер</a:t>
                      </a: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</a:rPr>
                        <a:t>Точка пов.</a:t>
                      </a:r>
                    </a:p>
                  </a:txBody>
                  <a:tcPr marT="25400" marB="25400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Импорт схемы .erp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Просмотр 3D-модели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Поиск выработки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Замер по выработке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Замер для поверхности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Экспорт в CSV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Сохранить модель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Загрузить модель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Список моделей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Удалить модель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Результаты практики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600"/>
              <a:t>Проанализирована предметная область и существующие решения</a:t>
            </a:r>
          </a:p>
          <a:p>
            <a:pPr>
              <a:spcAft>
                <a:spcPts val="800"/>
              </a:spcAft>
            </a:pPr>
            <a:r>
              <a:rPr sz="2600"/>
              <a:t>Сформулированы функциональные и нефункциональные требования</a:t>
            </a:r>
          </a:p>
          <a:p>
            <a:pPr>
              <a:spcAft>
                <a:spcPts val="800"/>
              </a:spcAft>
            </a:pPr>
            <a:r>
              <a:rPr sz="2600"/>
              <a:t>Построены диаграмма прецедентов, концептуальная модель данных, CRUD-матрица</a:t>
            </a:r>
          </a:p>
          <a:p>
            <a:pPr>
              <a:spcAft>
                <a:spcPts val="800"/>
              </a:spcAft>
            </a:pPr>
            <a:r>
              <a:rPr sz="2600"/>
              <a:t>Результаты — основа для проектирования архитектуры (C4) и БД на следующем этапе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z="2400" smtClean="0"/>
              <a:pPr/>
              <a:t>14</a:t>
            </a:fld>
            <a:endParaRPr lang="ru-RU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Предполагаемая тема ВКР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3000"/>
              <a:t>Разработка мобильного приложения для выполнения замеров параметров воздуха в рудниках с 3D-визуализацией топологии выработок (MineAir)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z="2400" smtClean="0"/>
              <a:pPr/>
              <a:t>15</a:t>
            </a:fld>
            <a:endParaRPr lang="ru-RU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1472" y="2571744"/>
            <a:ext cx="8229600" cy="1143000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z="2400" smtClean="0"/>
              <a:pPr/>
              <a:t>16</a:t>
            </a:fld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0912169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530</TotalTime>
  <Words>664</Words>
  <Application>Microsoft Office PowerPoint</Application>
  <PresentationFormat>Экран (4:3)</PresentationFormat>
  <Paragraphs>179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Тема Office</vt:lpstr>
      <vt:lpstr>Презентация PowerPoint</vt:lpstr>
      <vt:lpstr>Общая характеристика места практики</vt:lpstr>
      <vt:lpstr>Цель и задачи практики</vt:lpstr>
      <vt:lpstr>Описание предметной области</vt:lpstr>
      <vt:lpstr>Существующие технологические решения</vt:lpstr>
      <vt:lpstr>Обоснование актуальности</vt:lpstr>
      <vt:lpstr>Постановка задачи на проектирование ИС</vt:lpstr>
      <vt:lpstr>Функциональные требования: топология</vt:lpstr>
      <vt:lpstr>Функциональные требования: замеры</vt:lpstr>
      <vt:lpstr>Нефункциональные требования</vt:lpstr>
      <vt:lpstr>Диаграмма прецедентов</vt:lpstr>
      <vt:lpstr>Концептуальная модель данных</vt:lpstr>
      <vt:lpstr>CRUD-матрица</vt:lpstr>
      <vt:lpstr>Результаты практики</vt:lpstr>
      <vt:lpstr>Предполагаемая тема ВКР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Сергей</dc:creator>
  <cp:lastModifiedBy>Дмитрий Власов</cp:lastModifiedBy>
  <cp:revision>125</cp:revision>
  <dcterms:created xsi:type="dcterms:W3CDTF">2019-10-21T17:35:17Z</dcterms:created>
  <dcterms:modified xsi:type="dcterms:W3CDTF">2026-09-28T05:34:00Z</dcterms:modified>
</cp:coreProperties>
</file>