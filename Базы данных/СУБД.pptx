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58"/>
  </p:notesMasterIdLst>
  <p:sldIdLst>
    <p:sldId id="278" r:id="rId2"/>
    <p:sldId id="279" r:id="rId3"/>
    <p:sldId id="280" r:id="rId4"/>
    <p:sldId id="281" r:id="rId5"/>
    <p:sldId id="282" r:id="rId6"/>
    <p:sldId id="283" r:id="rId7"/>
    <p:sldId id="262" r:id="rId8"/>
    <p:sldId id="284" r:id="rId9"/>
    <p:sldId id="285" r:id="rId10"/>
    <p:sldId id="286" r:id="rId11"/>
    <p:sldId id="307" r:id="rId12"/>
    <p:sldId id="306" r:id="rId13"/>
    <p:sldId id="305" r:id="rId14"/>
    <p:sldId id="256" r:id="rId15"/>
    <p:sldId id="309" r:id="rId16"/>
    <p:sldId id="310" r:id="rId17"/>
    <p:sldId id="311" r:id="rId18"/>
    <p:sldId id="312" r:id="rId19"/>
    <p:sldId id="261" r:id="rId20"/>
    <p:sldId id="263" r:id="rId21"/>
    <p:sldId id="264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308" r:id="rId34"/>
    <p:sldId id="265" r:id="rId35"/>
    <p:sldId id="266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04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3A912-7F2A-4B4D-AF48-725D8F9B61EA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C516E-650A-4C98-9669-6E7BE9BCAD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71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A4EB9-00E0-4067-80C4-FF5C111149FB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1786-12D2-4021-AC28-791538B2DD48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3C7F2414-6DEE-4DD6-A3E6-86B7B40DE74D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48F-BF15-4A83-B863-A287A2C44F17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285F-C99B-419F-8359-12F3EDC97EA6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A78D0-0BD9-471F-92DF-4593CEDF8208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A0F86-FCF9-4D1F-8FAF-8977B7545582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CE1E8-1C3B-4703-8391-D91E226DA5CA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27817BBE-EC07-4A84-84AD-96C8B61DA43C}" type="datetime1">
              <a:rPr lang="en-US" smtClean="0"/>
              <a:t>3/30/2025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D060-6B7F-4F3C-967A-7DAB53FA2B5A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8874B-6511-4D06-9194-181B0FFA5178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0C155012-0DC3-4590-BB54-E456F0458720}" type="datetime1">
              <a:rPr lang="en-US" smtClean="0"/>
              <a:t>3/30/2025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BA66E-C5E4-71E9-A2F7-50C513DB87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СУБД </a:t>
            </a:r>
            <a:r>
              <a:rPr lang="en-US" dirty="0"/>
              <a:t>“</a:t>
            </a:r>
            <a:r>
              <a:rPr lang="ru-RU" dirty="0"/>
              <a:t>ЛИНТЕР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C975001-4B61-F397-6FFB-2C5A01C03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 Власов Дмитрий</a:t>
            </a:r>
            <a:br>
              <a:rPr lang="ru-RU" dirty="0"/>
            </a:br>
            <a:r>
              <a:rPr lang="ru-RU" dirty="0"/>
              <a:t>	Группа: ПИНб-21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3CD99A-7DD9-0DB7-0C51-0254DC72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25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BF78F-8FEC-B9C5-5C6E-BAD1754A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 </a:t>
            </a:r>
            <a:r>
              <a:rPr lang="en-US" dirty="0"/>
              <a:t>“</a:t>
            </a:r>
            <a:r>
              <a:rPr lang="ru-RU" dirty="0"/>
              <a:t>ЛИНТЕР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615B6D-EA73-1F34-27C3-9228C6288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208" y="5321808"/>
            <a:ext cx="12051792" cy="1298448"/>
          </a:xfrm>
        </p:spPr>
        <p:txBody>
          <a:bodyPr>
            <a:normAutofit fontScale="92500"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C00000"/>
                </a:solidFill>
                <a:effectLst/>
              </a:rPr>
              <a:t>ЛИНТЕР</a:t>
            </a:r>
            <a:r>
              <a:rPr lang="ru-RU" sz="2400" b="0" i="0" dirty="0">
                <a:solidFill>
                  <a:srgbClr val="C00000"/>
                </a:solidFill>
                <a:effectLst/>
              </a:rPr>
              <a:t> — это российская система управления базами данных (СУБД).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C00000"/>
                </a:solidFill>
                <a:effectLst/>
              </a:rPr>
              <a:t>Разработана для обеспечения высокой производительности, надежности и безопасности.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C00000"/>
                </a:solidFill>
                <a:effectLst/>
              </a:rPr>
              <a:t>Поддерживает стандарты </a:t>
            </a:r>
            <a:r>
              <a:rPr lang="ru-RU" sz="2400" b="1" i="0" dirty="0">
                <a:solidFill>
                  <a:srgbClr val="C00000"/>
                </a:solidFill>
                <a:effectLst/>
              </a:rPr>
              <a:t>SQL</a:t>
            </a:r>
            <a:r>
              <a:rPr lang="ru-RU" sz="2400" b="0" i="0" dirty="0">
                <a:solidFill>
                  <a:srgbClr val="C00000"/>
                </a:solidFill>
                <a:effectLst/>
              </a:rPr>
              <a:t> и совместима с различными платформами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12661-7463-C82B-82C6-92A5C582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2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17ABB-56E6-0540-5860-2F71C55F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F28C11-9B34-9F72-422F-67C44269B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b="1" i="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История СУБД «ЛИНТЕР» начинается в 1980 году</a:t>
            </a:r>
            <a:r>
              <a:rPr lang="ru-RU" sz="2400" b="0" i="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 в период становления теории реляционных систем обработки данных.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A449A6-CEFD-F4DA-F076-E1904C06B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448039"/>
            <a:ext cx="7947124" cy="596190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3E80D2-1533-6B66-351E-9E9678FC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81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C3F1-A7AB-F13E-ADAD-3B0E9281C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DFC40-8736-8156-9BFF-AAF30C23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Предшественники СУБД ЛИНТЕР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83561E-FE9C-9C05-EC1C-1F4929282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000" b="1" i="0" dirty="0">
                <a:solidFill>
                  <a:srgbClr val="C00000"/>
                </a:solidFill>
                <a:effectLst/>
              </a:rPr>
              <a:t>К 1983 году</a:t>
            </a:r>
            <a:r>
              <a:rPr lang="ru-RU" sz="2000" b="0" i="0" dirty="0">
                <a:solidFill>
                  <a:srgbClr val="C00000"/>
                </a:solidFill>
                <a:effectLst/>
              </a:rPr>
              <a:t> в Воронежском СКТБ «</a:t>
            </a:r>
            <a:r>
              <a:rPr lang="ru-RU" sz="2000" b="0" i="0" dirty="0" err="1">
                <a:solidFill>
                  <a:srgbClr val="C00000"/>
                </a:solidFill>
                <a:effectLst/>
              </a:rPr>
              <a:t>Системпрограмм</a:t>
            </a:r>
            <a:r>
              <a:rPr lang="ru-RU" sz="2000" b="0" i="0" dirty="0">
                <a:solidFill>
                  <a:srgbClr val="C00000"/>
                </a:solidFill>
                <a:effectLst/>
              </a:rPr>
              <a:t>» в рамках государственного заказа был разработан и успешно реализован проект реляционной СУБД </a:t>
            </a:r>
            <a:r>
              <a:rPr lang="ru-RU" sz="2000" b="1" i="0" dirty="0">
                <a:solidFill>
                  <a:srgbClr val="C00000"/>
                </a:solidFill>
                <a:effectLst/>
              </a:rPr>
              <a:t>«БАРС» </a:t>
            </a:r>
            <a:r>
              <a:rPr lang="ru-RU" sz="2000" b="0" i="0" dirty="0">
                <a:solidFill>
                  <a:srgbClr val="C00000"/>
                </a:solidFill>
                <a:effectLst/>
              </a:rPr>
              <a:t>под управлением операционной системы реального времени </a:t>
            </a:r>
            <a:r>
              <a:rPr lang="ru-RU" sz="2000" b="1" i="0" dirty="0">
                <a:solidFill>
                  <a:srgbClr val="C00000"/>
                </a:solidFill>
                <a:effectLst/>
              </a:rPr>
              <a:t>РАФОС</a:t>
            </a:r>
            <a:r>
              <a:rPr lang="ru-RU" sz="2000" b="0" i="0" dirty="0">
                <a:solidFill>
                  <a:srgbClr val="C00000"/>
                </a:solidFill>
                <a:effectLst/>
              </a:rPr>
              <a:t> (прототип RT-11) для машин семейства </a:t>
            </a:r>
            <a:r>
              <a:rPr lang="ru-RU" sz="2000" b="1" i="0" dirty="0">
                <a:solidFill>
                  <a:srgbClr val="C00000"/>
                </a:solidFill>
                <a:effectLst/>
              </a:rPr>
              <a:t>СМ ЭВМ</a:t>
            </a:r>
            <a:r>
              <a:rPr lang="ru-RU" sz="2000" b="0" i="0" dirty="0">
                <a:solidFill>
                  <a:srgbClr val="C00000"/>
                </a:solidFill>
                <a:effectLst/>
              </a:rPr>
              <a:t>.</a:t>
            </a:r>
            <a:endParaRPr lang="ru-RU" sz="2000" dirty="0">
              <a:solidFill>
                <a:srgbClr val="C0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F6B488-3D23-F552-1128-99B26577C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568439"/>
            <a:ext cx="7362471" cy="5721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21A312-52BD-FF02-DAE3-937F701D35BE}"/>
              </a:ext>
            </a:extLst>
          </p:cNvPr>
          <p:cNvSpPr txBox="1"/>
          <p:nvPr/>
        </p:nvSpPr>
        <p:spPr>
          <a:xfrm>
            <a:off x="521208" y="6289561"/>
            <a:ext cx="6030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СМ ЭВМ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F712F5-7D6D-2A71-07D5-F218B0E1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40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CA73-E9F3-2CE8-8683-33466FD9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FDA88-46D2-ECE1-2FC3-5A91F27F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Предшественники СУБД ЛИНТЕР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EA91F7-5F67-E3BF-5DFF-E3FD629ED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000" b="1" i="0" dirty="0">
                <a:solidFill>
                  <a:srgbClr val="C00000"/>
                </a:solidFill>
                <a:effectLst/>
              </a:rPr>
              <a:t>С 1985 года</a:t>
            </a:r>
            <a:r>
              <a:rPr lang="ru-RU" sz="2000" b="0" i="0" dirty="0">
                <a:solidFill>
                  <a:srgbClr val="C00000"/>
                </a:solidFill>
                <a:effectLst/>
              </a:rPr>
              <a:t> разработчиками системы была принята концепция мобильности, совместимости и открытости, результатом которой стало создание СУБД «ИНТЕРЕАЛ»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75857B-5905-CB7E-7BAD-BC54ED38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8FD31A-C943-2247-7551-9651F303E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74" y="1293381"/>
            <a:ext cx="7595504" cy="427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10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1D97-4120-D7D7-E400-71ADD5388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3C8CC-58F7-8439-6508-AC4661BE6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1EDEB4-2070-905C-771E-C76EDB510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749040"/>
          </a:xfrm>
        </p:spPr>
        <p:txBody>
          <a:bodyPr>
            <a:normAutofit fontScale="85000" lnSpcReduction="20000"/>
          </a:bodyPr>
          <a:lstStyle/>
          <a:p>
            <a:r>
              <a:rPr lang="ru-RU" sz="2400" b="1" i="0" dirty="0">
                <a:solidFill>
                  <a:srgbClr val="C00000"/>
                </a:solidFill>
                <a:effectLst/>
              </a:rPr>
              <a:t>В 1990 году</a:t>
            </a:r>
            <a:r>
              <a:rPr lang="ru-RU" sz="2400" b="0" i="0" dirty="0">
                <a:solidFill>
                  <a:srgbClr val="C00000"/>
                </a:solidFill>
                <a:effectLst/>
              </a:rPr>
              <a:t> коллективом разработчиков СУБД было основано научно-производственное предприятие «РЕЛЭКС» (Реляционные экспертные системы), тогда же и появилась первая версия «ЛИНТЕР».</a:t>
            </a:r>
          </a:p>
          <a:p>
            <a:r>
              <a:rPr lang="ru-RU" sz="2400" b="0" i="0" dirty="0">
                <a:solidFill>
                  <a:srgbClr val="C00000"/>
                </a:solidFill>
                <a:effectLst/>
              </a:rPr>
              <a:t> Некоторые разработчики системы: С. П. Маркин, И. А. Бойченко, В. Е. Максимов, Л. А. Козленко.</a:t>
            </a:r>
            <a:endParaRPr lang="ru-RU" sz="1000" dirty="0">
              <a:solidFill>
                <a:srgbClr val="C0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5DD3CD-7974-2BC7-8EFD-00A221BF6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320040"/>
            <a:ext cx="7815072" cy="591616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BE39BD-10EB-552B-C3C2-B8778AC98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970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2C27-A6F4-C16F-62A1-5C0FF706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FE9144-2CDC-517D-8DC0-1F1D94B4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E447AB-FE00-74EF-B4D9-068FB84C7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000" b="1" i="0" dirty="0">
                <a:solidFill>
                  <a:srgbClr val="C00000"/>
                </a:solidFill>
                <a:effectLst/>
              </a:rPr>
              <a:t>С 1994 года</a:t>
            </a:r>
            <a:r>
              <a:rPr lang="ru-RU" sz="2000" b="0" i="0" dirty="0">
                <a:solidFill>
                  <a:srgbClr val="C00000"/>
                </a:solidFill>
                <a:effectLst/>
              </a:rPr>
              <a:t> СУБД развивалась сразу в нескольких направлениях, помимо коммерческого релиза системы были разработаны специализированные версии в рамках нескольких государственных проектов, в том числе для МВД и МО РФ.</a:t>
            </a:r>
            <a:endParaRPr lang="ru-RU" sz="900" dirty="0">
              <a:solidFill>
                <a:srgbClr val="C0000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A229485-266C-C71A-6629-ADDD9C9C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858F9C-5315-9D5C-B151-BA366305D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3985338"/>
            <a:ext cx="3975092" cy="263491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4E4C83-C25C-ED98-1CBB-E07FB66EB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6" y="291162"/>
            <a:ext cx="5541264" cy="369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96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7C47-7B7B-9FAD-AC0B-0B57070E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C0EAF-DE51-51D7-AD0C-E899F997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B65DFE-6A26-23D7-2FBA-0A8AAF168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1800" b="1" i="0" dirty="0">
                <a:solidFill>
                  <a:srgbClr val="C00000"/>
                </a:solidFill>
                <a:effectLst/>
              </a:rPr>
              <a:t>В 2002 году</a:t>
            </a:r>
            <a:r>
              <a:rPr lang="ru-RU" sz="1800" b="0" i="0" dirty="0">
                <a:solidFill>
                  <a:srgbClr val="C00000"/>
                </a:solidFill>
                <a:effectLst/>
              </a:rPr>
              <a:t> в сотрудничестве с японской компанией </a:t>
            </a:r>
            <a:r>
              <a:rPr lang="ru-RU" sz="1800" b="0" i="0" dirty="0" err="1">
                <a:solidFill>
                  <a:srgbClr val="C00000"/>
                </a:solidFill>
                <a:effectLst/>
              </a:rPr>
              <a:t>Brycen</a:t>
            </a:r>
            <a:r>
              <a:rPr lang="ru-RU" sz="1800" b="0" i="0" dirty="0">
                <a:solidFill>
                  <a:srgbClr val="C00000"/>
                </a:solidFill>
                <a:effectLst/>
              </a:rPr>
              <a:t> «РЕЛЭКС» выпустил специализированную версию «ЛИНТЕР» для мобильных телефонов и КПК, бытовой техники и </a:t>
            </a:r>
            <a:r>
              <a:rPr lang="ru-RU" sz="2000" b="0" i="0" dirty="0">
                <a:solidFill>
                  <a:srgbClr val="C00000"/>
                </a:solidFill>
                <a:effectLst/>
              </a:rPr>
              <a:t>электроники</a:t>
            </a:r>
            <a:r>
              <a:rPr lang="ru-RU" sz="1800" dirty="0">
                <a:solidFill>
                  <a:srgbClr val="C00000"/>
                </a:solidFill>
              </a:rPr>
              <a:t>, </a:t>
            </a:r>
            <a:r>
              <a:rPr lang="ru-RU" sz="1800" b="0" i="0" dirty="0">
                <a:solidFill>
                  <a:srgbClr val="C00000"/>
                </a:solidFill>
                <a:effectLst/>
              </a:rPr>
              <a:t>ставшую одной из лучших встраиваемых СУБД на восточноазиатском рынке.</a:t>
            </a:r>
            <a:endParaRPr lang="ru-RU" sz="800" dirty="0">
              <a:solidFill>
                <a:srgbClr val="C0000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0C8D00E-2666-E530-8ACB-096B7950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D5D0A0-BF5F-C8D9-2E77-37051EE62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74" y="1085850"/>
            <a:ext cx="7049031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7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F0CA-33ED-7DE0-935C-F7CCEE1BF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DE042-AE50-6CEF-02B7-ADF33AB9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519817-6042-C9C3-D5E6-EAC571BC6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400" b="1" i="0" dirty="0">
                <a:solidFill>
                  <a:srgbClr val="C00000"/>
                </a:solidFill>
                <a:effectLst/>
              </a:rPr>
              <a:t>В 1997 году</a:t>
            </a:r>
            <a:r>
              <a:rPr lang="ru-RU" sz="2400" b="0" i="0" dirty="0">
                <a:solidFill>
                  <a:srgbClr val="C00000"/>
                </a:solidFill>
                <a:effectLst/>
              </a:rPr>
              <a:t> Гостехкомиссией России была проведена сертификация СУБД «ЛИНТЕР» на 2-й класс по показателям защищённости от несанкционированного доступа к информации.</a:t>
            </a:r>
            <a:endParaRPr lang="ru-RU" sz="800" dirty="0">
              <a:solidFill>
                <a:srgbClr val="C0000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18FB2D-2DC7-FCEB-52E2-8F8150C0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9932FD-CA68-B5F9-0099-7758E5206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6" y="335531"/>
            <a:ext cx="5203444" cy="618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06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04056-D4F2-D262-5210-F1E1E45D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32714-24C0-F319-20C6-C62E6BE0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6CC1F9-B1B6-E7C3-B392-5A2FC1D51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400" b="1" i="0" dirty="0">
                <a:solidFill>
                  <a:srgbClr val="C00000"/>
                </a:solidFill>
                <a:effectLst/>
              </a:rPr>
              <a:t>18 марта 2016 года</a:t>
            </a:r>
            <a:r>
              <a:rPr lang="ru-RU" sz="2400" b="0" i="0" dirty="0">
                <a:solidFill>
                  <a:srgbClr val="C00000"/>
                </a:solidFill>
                <a:effectLst/>
              </a:rPr>
              <a:t> по решению Экспертного совета программному обеспечению при Минкомсвязи России СУБД «ЛИНТЕР» была включена в единый реестр российских программ для электронных вычислительных машин и баз данных. </a:t>
            </a:r>
            <a:endParaRPr lang="ru-RU" sz="600" dirty="0">
              <a:solidFill>
                <a:srgbClr val="C0000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F1AF334-A140-C9B8-6E00-92E6745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4FA126-70D1-31B6-28A2-60D1D2A69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549908"/>
            <a:ext cx="7509162" cy="375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20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40AF4-FE32-B490-09BF-BD84FE8E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5FF86-EA92-8098-0BFE-495C907C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Редакции СУБД ЛИНТЕР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DFDEA4-0C97-AD14-3F35-C337D3070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401568" cy="3749040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ЛИНТЕР БАСТИОН: Обеспечивает защиту информации до уровня государственной тайны.</a:t>
            </a:r>
          </a:p>
          <a:p>
            <a:r>
              <a:rPr lang="ru-RU" sz="2800" dirty="0">
                <a:solidFill>
                  <a:srgbClr val="C00000"/>
                </a:solidFill>
              </a:rPr>
              <a:t>ЛИНТЕР СТАНДАРТ: Решение основных задач современной СУБД.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C5C3DE-FB82-E0B2-582B-E31A0801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61795FC-9AB1-D74F-088A-00678028AF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008" y="559218"/>
            <a:ext cx="5992368" cy="3379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7104C5-7C78-2C63-C827-2A2B28C95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17" y="3939182"/>
            <a:ext cx="6711950" cy="247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18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9229-10DF-C485-B499-CE8DEF5F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8E5BF-5F6B-07ED-512A-D9DAA9C7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Линтер ВС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FA08FC-3195-2F42-9564-14DB4F9EC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401568" cy="3749040"/>
          </a:xfrm>
        </p:spPr>
        <p:txBody>
          <a:bodyPr>
            <a:normAutofit lnSpcReduction="10000"/>
          </a:bodyPr>
          <a:lstStyle/>
          <a:p>
            <a:r>
              <a:rPr lang="ru-RU" sz="3200" dirty="0">
                <a:solidFill>
                  <a:srgbClr val="C00000"/>
                </a:solidFill>
              </a:rPr>
              <a:t>ЛИНТЕР и ЛИНТЕР-ВС — разные СУБД.</a:t>
            </a:r>
          </a:p>
          <a:p>
            <a:r>
              <a:rPr lang="ru-RU" sz="3200" dirty="0">
                <a:solidFill>
                  <a:srgbClr val="C00000"/>
                </a:solidFill>
              </a:rPr>
              <a:t>ЛИНТЕР-ВС 6.0 разработана для ОС МСВС на основе </a:t>
            </a:r>
            <a:r>
              <a:rPr lang="ru-RU" sz="3200" dirty="0" err="1">
                <a:solidFill>
                  <a:srgbClr val="C00000"/>
                </a:solidFill>
              </a:rPr>
              <a:t>PostgreSQL</a:t>
            </a:r>
            <a:r>
              <a:rPr lang="ru-RU" sz="32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674960-A5F2-F0C4-6B88-CCF31241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9E8A76D-E58F-80C7-BA4A-301CDBD875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685800"/>
            <a:ext cx="6692900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122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05EA-4F9E-6093-506D-AF87C08C2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FB623-4B2D-DC7F-A682-44A1F575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Линтер </a:t>
            </a:r>
            <a:r>
              <a:rPr lang="en-US" dirty="0" err="1"/>
              <a:t>SoQoL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6FFFD1-15E3-5FD7-2DD7-6E7A63492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401568" cy="3749040"/>
          </a:xfrm>
        </p:spPr>
        <p:txBody>
          <a:bodyPr>
            <a:normAutofit lnSpcReduction="10000"/>
          </a:bodyPr>
          <a:lstStyle/>
          <a:p>
            <a:r>
              <a:rPr lang="ru-RU" sz="3200" dirty="0">
                <a:solidFill>
                  <a:srgbClr val="C00000"/>
                </a:solidFill>
              </a:rPr>
              <a:t>Разрабатывается СУБД нового поколения ЛИНТЕР </a:t>
            </a:r>
            <a:r>
              <a:rPr lang="ru-RU" sz="3200" dirty="0" err="1">
                <a:solidFill>
                  <a:srgbClr val="C00000"/>
                </a:solidFill>
              </a:rPr>
              <a:t>SoQoL</a:t>
            </a:r>
            <a:r>
              <a:rPr lang="ru-RU" sz="3200" dirty="0">
                <a:solidFill>
                  <a:srgbClr val="C00000"/>
                </a:solidFill>
              </a:rPr>
              <a:t>, превосходящая </a:t>
            </a:r>
            <a:r>
              <a:rPr lang="ru-RU" sz="3200" dirty="0" err="1">
                <a:solidFill>
                  <a:srgbClr val="C00000"/>
                </a:solidFill>
              </a:rPr>
              <a:t>PostgreSQL</a:t>
            </a:r>
            <a:r>
              <a:rPr lang="ru-RU" sz="3200" dirty="0">
                <a:solidFill>
                  <a:srgbClr val="C00000"/>
                </a:solidFill>
              </a:rPr>
              <a:t> в производительности.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7B2C3D-94CB-1A27-48F6-6A02F1D5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0F12C3D7-8FAC-FF48-A40D-65D3F8CCE3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02717"/>
            <a:ext cx="6711950" cy="378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362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98DCD-16AC-3D20-F316-3E69823547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История версий СУБД </a:t>
            </a:r>
            <a:r>
              <a:rPr lang="en-US" dirty="0"/>
              <a:t>“</a:t>
            </a:r>
            <a:r>
              <a:rPr lang="ru-RU" dirty="0"/>
              <a:t>ЛИНТЕР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2540F6-FDAF-12CD-4DC2-DABF713F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8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B3F8-D72C-324E-35F8-092306C0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33034-1621-2CF8-1194-C2460A95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1990-е годы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2C3F2C-D107-9CCE-0F9F-D730953FF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2416" y="5020056"/>
            <a:ext cx="10175918" cy="1600200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Появились первые версии с базовой функциональностью: поддержка SQL, транзакций и индексов</a:t>
            </a:r>
          </a:p>
          <a:p>
            <a:r>
              <a:rPr lang="ru-RU" dirty="0">
                <a:solidFill>
                  <a:srgbClr val="C00000"/>
                </a:solidFill>
              </a:rPr>
              <a:t>Обеспечение совместимости с отечественными стандартами и поддержка </a:t>
            </a:r>
            <a:r>
              <a:rPr lang="ru-RU" dirty="0" err="1">
                <a:solidFill>
                  <a:srgbClr val="C00000"/>
                </a:solidFill>
              </a:rPr>
              <a:t>legacy</a:t>
            </a:r>
            <a:r>
              <a:rPr lang="ru-RU" dirty="0">
                <a:solidFill>
                  <a:srgbClr val="C00000"/>
                </a:solidFill>
              </a:rPr>
              <a:t>-систем. </a:t>
            </a:r>
          </a:p>
          <a:p>
            <a:r>
              <a:rPr lang="ru-RU" dirty="0">
                <a:solidFill>
                  <a:srgbClr val="C00000"/>
                </a:solidFill>
              </a:rPr>
              <a:t>Реляционная модель данных с поддержкой SQL.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F134E4-E02B-651F-4DC7-27A35FBE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7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DC47-B424-0C55-55A6-740A23385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7421D6-0B55-343F-C361-DF28F853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2000-е годы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B64B90-EF0C-3B36-45B7-9833DFFB5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2416" y="5020056"/>
            <a:ext cx="10175918" cy="16002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Были добавлены механизмы репликации и кластеризации, а также поддержка распределенных баз данных. </a:t>
            </a:r>
          </a:p>
          <a:p>
            <a:r>
              <a:rPr lang="ru-RU" dirty="0">
                <a:solidFill>
                  <a:srgbClr val="C00000"/>
                </a:solidFill>
              </a:rPr>
              <a:t>Масштабируемость, отказоустойчивость и интеграция с ERP-системами. </a:t>
            </a:r>
          </a:p>
          <a:p>
            <a:r>
              <a:rPr lang="ru-RU" dirty="0">
                <a:solidFill>
                  <a:srgbClr val="C00000"/>
                </a:solidFill>
              </a:rPr>
              <a:t>Добавление поддержки объектно-реляционной модели.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42D29E-4DD3-4507-050B-2ED556A7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30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C881-CD03-E8FC-9D25-B015457D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BA2B9-3ADB-CC99-C76A-B8030B872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2010-е годы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1A7AAB-B3FC-AF0E-8454-24D3FB17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2416" y="5020056"/>
            <a:ext cx="10175918" cy="1600200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СУБД ЛИНТЕР интегрировала современные стандарты, такие как ODBC и JDBC, а также начала поддерживать </a:t>
            </a:r>
            <a:r>
              <a:rPr lang="ru-RU" dirty="0" err="1">
                <a:solidFill>
                  <a:srgbClr val="C00000"/>
                </a:solidFill>
              </a:rPr>
              <a:t>NoSQL</a:t>
            </a:r>
            <a:r>
              <a:rPr lang="ru-RU" dirty="0">
                <a:solidFill>
                  <a:srgbClr val="C00000"/>
                </a:solidFill>
              </a:rPr>
              <a:t>-функциональность. </a:t>
            </a:r>
          </a:p>
          <a:p>
            <a:r>
              <a:rPr lang="ru-RU" dirty="0">
                <a:solidFill>
                  <a:srgbClr val="C00000"/>
                </a:solidFill>
              </a:rPr>
              <a:t>Поддержка современных технологий, таких как </a:t>
            </a:r>
            <a:r>
              <a:rPr lang="ru-RU" dirty="0" err="1">
                <a:solidFill>
                  <a:srgbClr val="C00000"/>
                </a:solidFill>
              </a:rPr>
              <a:t>NoSQL</a:t>
            </a:r>
            <a:r>
              <a:rPr lang="ru-RU" dirty="0">
                <a:solidFill>
                  <a:srgbClr val="C00000"/>
                </a:solidFill>
              </a:rPr>
              <a:t>, и улучшение производительности. </a:t>
            </a:r>
          </a:p>
          <a:p>
            <a:r>
              <a:rPr lang="ru-RU" dirty="0">
                <a:solidFill>
                  <a:srgbClr val="C00000"/>
                </a:solidFill>
              </a:rPr>
              <a:t>Внедрение </a:t>
            </a:r>
            <a:r>
              <a:rPr lang="ru-RU" dirty="0" err="1">
                <a:solidFill>
                  <a:srgbClr val="C00000"/>
                </a:solidFill>
              </a:rPr>
              <a:t>NoSQL</a:t>
            </a:r>
            <a:r>
              <a:rPr lang="ru-RU" dirty="0">
                <a:solidFill>
                  <a:srgbClr val="C00000"/>
                </a:solidFill>
              </a:rPr>
              <a:t>-подходов для работы с неструктурированными данными.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3EBF67-3370-CCDF-95BE-78C3C0D8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814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2C4D-1D18-7321-51E2-1609C214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5B0D8-0C6A-9A71-EACE-86E4DDEE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2020-е годы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780793-FE11-E616-7ADC-56A9455D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2416" y="5020056"/>
            <a:ext cx="10175918" cy="1600200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Акцент сместился на улучшение производительности, безопасности и интеграцию с облачными технологиями.</a:t>
            </a:r>
          </a:p>
          <a:p>
            <a:r>
              <a:rPr lang="ru-RU" dirty="0">
                <a:solidFill>
                  <a:srgbClr val="C00000"/>
                </a:solidFill>
              </a:rPr>
              <a:t> Безопасность данных, облачная интеграция и работа с большими объемами информации. </a:t>
            </a:r>
          </a:p>
          <a:p>
            <a:r>
              <a:rPr lang="ru-RU" dirty="0">
                <a:solidFill>
                  <a:srgbClr val="C00000"/>
                </a:solidFill>
              </a:rPr>
              <a:t>Поддержка гибридных моделей данных (реляционные + </a:t>
            </a:r>
            <a:r>
              <a:rPr lang="ru-RU" dirty="0" err="1">
                <a:solidFill>
                  <a:srgbClr val="C00000"/>
                </a:solidFill>
              </a:rPr>
              <a:t>NoSQL</a:t>
            </a:r>
            <a:r>
              <a:rPr lang="ru-RU" dirty="0">
                <a:solidFill>
                  <a:srgbClr val="C00000"/>
                </a:solidFill>
              </a:rPr>
              <a:t>).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6DAD7B-A232-FE9C-A6CD-0CC83341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308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E19D0-2E48-2252-04DD-6F13F45F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Плюсы СУБД </a:t>
            </a:r>
            <a:r>
              <a:rPr lang="en-US" dirty="0"/>
              <a:t>“</a:t>
            </a:r>
            <a:r>
              <a:rPr lang="ru-RU" dirty="0"/>
              <a:t>ЛИНТЕР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B85C2-4531-CCCC-20F0-F1A1E9E2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2416" y="5020056"/>
            <a:ext cx="10175918" cy="16002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 - Полная локализация и поддержка российских стандартов.  </a:t>
            </a:r>
          </a:p>
          <a:p>
            <a:r>
              <a:rPr lang="ru-RU" dirty="0">
                <a:solidFill>
                  <a:srgbClr val="C00000"/>
                </a:solidFill>
              </a:rPr>
              <a:t>  - Высокая надежность и отказоустойчивость.  </a:t>
            </a:r>
          </a:p>
          <a:p>
            <a:r>
              <a:rPr lang="ru-RU" dirty="0">
                <a:solidFill>
                  <a:srgbClr val="C00000"/>
                </a:solidFill>
              </a:rPr>
              <a:t>  - Гибкость в настройке и интеграции с другими системами.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826D95-E9BF-7CCB-4833-B301C573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82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B475-9DBA-CDD7-B09A-402CA6BC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34708-3952-D6A9-0E77-4DF5C71F4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Минусы СУБД </a:t>
            </a:r>
            <a:r>
              <a:rPr lang="en-US" dirty="0"/>
              <a:t>“</a:t>
            </a:r>
            <a:r>
              <a:rPr lang="ru-RU" dirty="0"/>
              <a:t>ЛИНТЕР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C581AF-A817-AFAF-0919-7121CA383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2416" y="5020056"/>
            <a:ext cx="10175918" cy="16002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 - Ограниченная поддержка зарубежных стандартов.  </a:t>
            </a:r>
          </a:p>
          <a:p>
            <a:r>
              <a:rPr lang="ru-RU" dirty="0">
                <a:solidFill>
                  <a:srgbClr val="C00000"/>
                </a:solidFill>
              </a:rPr>
              <a:t>  - Меньше сообщество разработчиков по сравнению с мировыми аналогами.  </a:t>
            </a:r>
          </a:p>
          <a:p>
            <a:r>
              <a:rPr lang="ru-RU" dirty="0">
                <a:solidFill>
                  <a:srgbClr val="C00000"/>
                </a:solidFill>
              </a:rPr>
              <a:t>  - Ограниченная документация на английском языке.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ECCA2E-CD57-09B1-0901-FBE07209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010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84AF5-87D4-D437-FB09-1F708DEA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 и состав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DF55CF-5265-EB33-85F7-FE34D52D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310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F2C61-4FB5-F3CE-25EF-CC73AC2C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Ядро СУБД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95B49F-D281-E7FE-6070-77513C751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Обработка запросов, управление транзакциями и хранение данных.</a:t>
            </a:r>
            <a:endParaRPr lang="ru-RU" sz="24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5880FE-7595-91DE-B433-F2475BF5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22</a:t>
            </a:fld>
            <a:endParaRPr lang="en-US" dirty="0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64641137-126F-C694-C17B-D91200E21B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87"/>
          <a:stretch/>
        </p:blipFill>
        <p:spPr bwMode="auto">
          <a:xfrm>
            <a:off x="847725" y="685801"/>
            <a:ext cx="6692900" cy="445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830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7AC1-C34D-478F-2022-2B63474F6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7BA5A-91D9-7732-33D4-B034FC9B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администрирования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BC50-927E-9A06-70EA-8CA6AA642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Утилиты для настройки, мониторинга и оптимизации работы базы данных. </a:t>
            </a:r>
            <a:endParaRPr lang="ru-RU" sz="24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107364-B6CD-EC06-A2C7-D12E28B8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23</a:t>
            </a:fld>
            <a:endParaRPr lang="en-US" dirty="0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73EB97D0-07F4-C9FC-05EF-4A92A33BBE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85449"/>
            <a:ext cx="6711950" cy="302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246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BFF9-71A2-3C1E-4159-B9FBBEB7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0FD5A-128A-3AE0-96B7-07E8DF7C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Механизмы репликации и кластеризации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D822D2-3AD4-E6D3-255D-8DB002B8B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Обеспечение отказоустойчивости и высокой доступности. </a:t>
            </a:r>
            <a:endParaRPr lang="ru-RU" sz="28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BBB1CA-004B-E35E-062A-BB662D81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24</a:t>
            </a:fld>
            <a:endParaRPr lang="en-US" dirty="0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2206268F-BD28-6A63-1B02-639EA1EC37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03242"/>
            <a:ext cx="6711950" cy="358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604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99D4-F241-C883-85D1-0167FE684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18824-BFCA-EA8B-822C-1BE04132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API </a:t>
            </a:r>
            <a:r>
              <a:rPr lang="ru-RU" dirty="0"/>
              <a:t>и драйверы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B12B3A-5EFD-778F-A8EC-4A08CA07F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Поддержка ODBC, JDBC и REST API для интеграции с другими системами. </a:t>
            </a:r>
            <a:endParaRPr lang="ru-RU" sz="28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24A5ED-2515-0D09-72B8-B20FF433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25</a:t>
            </a:fld>
            <a:endParaRPr lang="en-US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5A42C9E9-3952-0754-4EF1-2E998D9E86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5633"/>
            <a:ext cx="6711950" cy="312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32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39ED-34F7-04C8-15B7-47FF9040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EDF2E-9411-672E-1448-508CFB7E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Облачная интеграция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E7DFB2-AD18-0162-C1A2-EF02BAD60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Возможность работы в облачных средах, таких как </a:t>
            </a:r>
            <a:r>
              <a:rPr lang="ru-RU" sz="2800" dirty="0" err="1">
                <a:solidFill>
                  <a:srgbClr val="C00000"/>
                </a:solidFill>
              </a:rPr>
              <a:t>Яндекс.Облако</a:t>
            </a:r>
            <a:r>
              <a:rPr lang="ru-RU" sz="2800" dirty="0">
                <a:solidFill>
                  <a:srgbClr val="C00000"/>
                </a:solidFill>
              </a:rPr>
              <a:t> и другие. </a:t>
            </a:r>
            <a:endParaRPr lang="ru-RU" sz="28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BC7C6F-D508-E697-7A86-37A5754D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26</a:t>
            </a:fld>
            <a:endParaRPr lang="en-US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536E6058-CF70-8045-4043-7BFFBD3142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17650"/>
            <a:ext cx="6711950" cy="33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239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B356D-4D89-12F8-CFBC-CDAFF64F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Применяемость по отраслям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A224AC-DE20-1577-A7DD-6DA58438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054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D0178-FAA7-D870-DC6C-050BB714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Госсектор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623433-EB9A-7C72-EE0F-44AB90CA1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401568" cy="3291840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C00000"/>
                </a:solidFill>
              </a:rPr>
              <a:t>Управление базами данных в государственных учреждениях.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480F3B-6640-6A41-D94C-A5E6FE50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28</a:t>
            </a:fld>
            <a:endParaRPr lang="en-US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6BA13060-B9B5-1F1B-A5A0-3C23C54136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685800"/>
            <a:ext cx="6692900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586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D1D50-1EF1-6660-4B1B-462424EC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Финансы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0F93C2-7A94-B128-9951-2D243180C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Использование в банках и страховых компаниях для обработки транзакций и хранения клиентских данных.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52A1D7-3BCE-154F-8196-ADBA8F73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29</a:t>
            </a:fld>
            <a:endParaRPr lang="en-US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77FA4DF9-E64F-76D0-D40F-FEFD5F7E5D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39038"/>
            <a:ext cx="6711950" cy="491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437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608C1-5F72-C2E3-9427-F99A7A7A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128" y="722376"/>
            <a:ext cx="3959352" cy="1737360"/>
          </a:xfrm>
        </p:spPr>
        <p:txBody>
          <a:bodyPr/>
          <a:lstStyle/>
          <a:p>
            <a:r>
              <a:rPr lang="ru-RU" dirty="0"/>
              <a:t>Промышленность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1DBE56-1FCA-6B40-08B7-65BF33EEF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21624" y="2423160"/>
            <a:ext cx="3642360" cy="3291840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Управление производственными процессами и логистикой.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248250-CAA3-EAD5-B9FD-BF78976B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30</a:t>
            </a:fld>
            <a:endParaRPr lang="en-US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A174D1E7-1098-1CD0-047D-346E48819F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59195"/>
            <a:ext cx="6711950" cy="447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099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8AD45-3E10-0EE0-3D94-D0D504A9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Медицина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8A73A1-D155-21BC-F16F-7AD4B1FDF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Хранение и обработка медицинских данных, включая электронные медицинские карты.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D7523C7-BBDD-3E32-F0E5-3DCEB202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31</a:t>
            </a:fld>
            <a:endParaRPr lang="en-US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F9CA38C-3090-D999-3E7A-F1D9B300E0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58880"/>
            <a:ext cx="6711950" cy="447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253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8D17D-BED2-9D99-C24A-9FC2EAF6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Образование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603A1E5-04CF-3122-65E0-80220FF51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07902"/>
            <a:ext cx="6711950" cy="3775471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41771FB-34FF-145B-7008-2137E3A37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Управление базами данных вузов и научных учреждений.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B7B0D9-21FB-0FE2-5268-C6E90DB9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419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C71B-4340-F79B-3DB3-2CCD2898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A2D76-843F-C76F-DEE8-8FC397D4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8" y="1225296"/>
            <a:ext cx="9802368" cy="3520440"/>
          </a:xfrm>
        </p:spPr>
        <p:txBody>
          <a:bodyPr/>
          <a:lstStyle/>
          <a:p>
            <a:r>
              <a:rPr lang="ru-RU" dirty="0"/>
              <a:t>Применение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8FBD4B-C8C9-9F7E-E453-9E585C365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5020056"/>
            <a:ext cx="11384280" cy="1737360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Основные направления применения СУБД ЛИНТЕР: государственные проекты, системы реального времени (</a:t>
            </a:r>
            <a:r>
              <a:rPr lang="ru-RU" sz="2400" dirty="0" err="1">
                <a:solidFill>
                  <a:srgbClr val="C00000"/>
                </a:solidFill>
              </a:rPr>
              <a:t>real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>
                <a:solidFill>
                  <a:srgbClr val="C00000"/>
                </a:solidFill>
              </a:rPr>
              <a:t>time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>
                <a:solidFill>
                  <a:srgbClr val="C00000"/>
                </a:solidFill>
              </a:rPr>
              <a:t>systems</a:t>
            </a:r>
            <a:r>
              <a:rPr lang="ru-RU" sz="2400" dirty="0">
                <a:solidFill>
                  <a:srgbClr val="C00000"/>
                </a:solidFill>
              </a:rPr>
              <a:t>), встроенные системы (</a:t>
            </a:r>
            <a:r>
              <a:rPr lang="ru-RU" sz="2400" dirty="0" err="1">
                <a:solidFill>
                  <a:srgbClr val="C00000"/>
                </a:solidFill>
              </a:rPr>
              <a:t>embedded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>
                <a:solidFill>
                  <a:srgbClr val="C00000"/>
                </a:solidFill>
              </a:rPr>
              <a:t>systems</a:t>
            </a:r>
            <a:r>
              <a:rPr lang="ru-RU" sz="2400" dirty="0">
                <a:solidFill>
                  <a:srgbClr val="C00000"/>
                </a:solidFill>
              </a:rPr>
              <a:t>) и т. д. </a:t>
            </a:r>
          </a:p>
          <a:p>
            <a:r>
              <a:rPr lang="ru-RU" sz="2400" dirty="0">
                <a:solidFill>
                  <a:srgbClr val="C00000"/>
                </a:solidFill>
              </a:rPr>
              <a:t>Для СУБД ЛИНТЕР существуют программные интерфейсы для большинства популярных средств разработки.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2DB20B-8C77-FC27-1FCD-B0B4803A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930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6B90E-B77A-85B0-EFD1-5363AA9F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8" y="1225296"/>
            <a:ext cx="9802368" cy="3520440"/>
          </a:xfrm>
        </p:spPr>
        <p:txBody>
          <a:bodyPr/>
          <a:lstStyle/>
          <a:p>
            <a:r>
              <a:rPr lang="ru-RU" dirty="0"/>
              <a:t>Текущее состояние продукта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9B55E9-1EF3-7877-4FA1-480CB7161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5020056"/>
            <a:ext cx="11384280" cy="1737360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 На сегодняшний день СУБД ЛИНТЕР представляет собой современную систему управления базами данных, которая:  </a:t>
            </a:r>
          </a:p>
          <a:p>
            <a:r>
              <a:rPr lang="ru-RU" dirty="0">
                <a:solidFill>
                  <a:srgbClr val="C00000"/>
                </a:solidFill>
              </a:rPr>
              <a:t>  - Поддерживает как реляционные, так и </a:t>
            </a:r>
            <a:r>
              <a:rPr lang="ru-RU" dirty="0" err="1">
                <a:solidFill>
                  <a:srgbClr val="C00000"/>
                </a:solidFill>
              </a:rPr>
              <a:t>NoSQL</a:t>
            </a:r>
            <a:r>
              <a:rPr lang="ru-RU" dirty="0">
                <a:solidFill>
                  <a:srgbClr val="C00000"/>
                </a:solidFill>
              </a:rPr>
              <a:t> данные.  </a:t>
            </a:r>
          </a:p>
          <a:p>
            <a:r>
              <a:rPr lang="ru-RU" dirty="0">
                <a:solidFill>
                  <a:srgbClr val="C00000"/>
                </a:solidFill>
              </a:rPr>
              <a:t>  - Интегрирована с облачными платформами.  </a:t>
            </a:r>
          </a:p>
          <a:p>
            <a:r>
              <a:rPr lang="ru-RU" dirty="0">
                <a:solidFill>
                  <a:srgbClr val="C00000"/>
                </a:solidFill>
              </a:rPr>
              <a:t>  - Соответствует российским стандартам и требованиям безопасности.  </a:t>
            </a:r>
          </a:p>
          <a:p>
            <a:r>
              <a:rPr lang="ru-RU" dirty="0">
                <a:solidFill>
                  <a:srgbClr val="C00000"/>
                </a:solidFill>
              </a:rPr>
              <a:t>  - Широко применяется в госсекторе, промышленности, финансах и других отраслях.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650DFC-5B22-0B23-BACD-C7609762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746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B143A-357F-9642-8F8A-B6D63D93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F5B2AD-598C-6FF2-4AF6-13782501E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92" y="5020056"/>
            <a:ext cx="11548872" cy="1627632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 В будущем СУБД ЛИНТЕР планирует:  </a:t>
            </a:r>
          </a:p>
          <a:p>
            <a:r>
              <a:rPr lang="ru-RU" dirty="0">
                <a:solidFill>
                  <a:srgbClr val="C00000"/>
                </a:solidFill>
              </a:rPr>
              <a:t>  - Углубить интеграцию с облачными технологиями.  </a:t>
            </a:r>
          </a:p>
          <a:p>
            <a:r>
              <a:rPr lang="ru-RU" dirty="0">
                <a:solidFill>
                  <a:srgbClr val="C00000"/>
                </a:solidFill>
              </a:rPr>
              <a:t>  - Улучшить инструменты для работы с большими данными (Big Data).  </a:t>
            </a:r>
          </a:p>
          <a:p>
            <a:r>
              <a:rPr lang="ru-RU" dirty="0">
                <a:solidFill>
                  <a:srgbClr val="C00000"/>
                </a:solidFill>
              </a:rPr>
              <a:t>  - Внедрить модули искусственного интеллекта и машинного обучения для анализа данных.  </a:t>
            </a:r>
          </a:p>
          <a:p>
            <a:r>
              <a:rPr lang="ru-RU" dirty="0">
                <a:solidFill>
                  <a:srgbClr val="C00000"/>
                </a:solidFill>
              </a:rPr>
              <a:t>  - Расширить поддержку зарубежных стандартов и локализаций для выхода на международный рынок.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469AF5-4372-C2A5-C3C3-14CD721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090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A8F72-B5C9-EF9D-D9B6-ADEAA84194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Характеристики СУБД </a:t>
            </a:r>
            <a:r>
              <a:rPr lang="en-US" dirty="0"/>
              <a:t>“</a:t>
            </a:r>
            <a:r>
              <a:rPr lang="ru-RU" dirty="0"/>
              <a:t>ЛИНТЕР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6AC41A-B757-45CA-1938-118038C6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002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72A60-E6EE-03CD-8254-98FA756F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640" y="685800"/>
            <a:ext cx="3566160" cy="1737360"/>
          </a:xfrm>
        </p:spPr>
        <p:txBody>
          <a:bodyPr>
            <a:normAutofit/>
          </a:bodyPr>
          <a:lstStyle/>
          <a:p>
            <a:r>
              <a:rPr lang="ru-RU" dirty="0"/>
              <a:t>Основные характеристики СУБД ЛИНТЕР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8C0507D1-9BF7-4701-950C-25FBFCF8C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183115"/>
              </p:ext>
            </p:extLst>
          </p:nvPr>
        </p:nvGraphicFramePr>
        <p:xfrm>
          <a:off x="441960" y="444770"/>
          <a:ext cx="7443216" cy="6010576"/>
        </p:xfrm>
        <a:graphic>
          <a:graphicData uri="http://schemas.openxmlformats.org/drawingml/2006/table">
            <a:tbl>
              <a:tblPr/>
              <a:tblGrid>
                <a:gridCol w="3721608">
                  <a:extLst>
                    <a:ext uri="{9D8B030D-6E8A-4147-A177-3AD203B41FA5}">
                      <a16:colId xmlns:a16="http://schemas.microsoft.com/office/drawing/2014/main" val="3859396985"/>
                    </a:ext>
                  </a:extLst>
                </a:gridCol>
                <a:gridCol w="3721608">
                  <a:extLst>
                    <a:ext uri="{9D8B030D-6E8A-4147-A177-3AD203B41FA5}">
                      <a16:colId xmlns:a16="http://schemas.microsoft.com/office/drawing/2014/main" val="4177330342"/>
                    </a:ext>
                  </a:extLst>
                </a:gridCol>
              </a:tblGrid>
              <a:tr h="512100"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Значение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679950"/>
                  </a:ext>
                </a:extLst>
              </a:tr>
              <a:tr h="938782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Объём базы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65535 таблиц, каждая объёмом до 12 ТБ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289496"/>
                  </a:ext>
                </a:extLst>
              </a:tr>
              <a:tr h="512100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Количество строк в одной таблице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2^30 (~1 млрд строк)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03658"/>
                  </a:ext>
                </a:extLst>
              </a:tr>
              <a:tr h="512100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Количество строк в одном запросе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2^30 (~1 млрд строк)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55025"/>
                  </a:ext>
                </a:extLst>
              </a:tr>
              <a:tr h="1365466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Размер строки (без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BLOB)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64 КБ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715141"/>
                  </a:ext>
                </a:extLst>
              </a:tr>
              <a:tr h="1792148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Размер строкового значения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До 4000 символов (4000 байт)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221528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972CC634-CD15-0EF5-F275-BFA8F6654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E2A70C8-4B3B-9988-29F1-5B497F764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64A88BB-1A1B-BBEA-0EC3-3B22FE87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8866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57A03-3FD8-067B-EA21-BD27438C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952" y="685800"/>
            <a:ext cx="3813048" cy="1737360"/>
          </a:xfrm>
        </p:spPr>
        <p:txBody>
          <a:bodyPr>
            <a:normAutofit/>
          </a:bodyPr>
          <a:lstStyle/>
          <a:p>
            <a:r>
              <a:rPr lang="ru-RU" dirty="0"/>
              <a:t>Дополнительные характеристики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24FE4FCE-89A5-A23C-3CF8-886FD820F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163680"/>
              </p:ext>
            </p:extLst>
          </p:nvPr>
        </p:nvGraphicFramePr>
        <p:xfrm>
          <a:off x="947928" y="348522"/>
          <a:ext cx="6711950" cy="6160955"/>
        </p:xfrm>
        <a:graphic>
          <a:graphicData uri="http://schemas.openxmlformats.org/drawingml/2006/table">
            <a:tbl>
              <a:tblPr/>
              <a:tblGrid>
                <a:gridCol w="3355975">
                  <a:extLst>
                    <a:ext uri="{9D8B030D-6E8A-4147-A177-3AD203B41FA5}">
                      <a16:colId xmlns:a16="http://schemas.microsoft.com/office/drawing/2014/main" val="759653230"/>
                    </a:ext>
                  </a:extLst>
                </a:gridCol>
                <a:gridCol w="3355975">
                  <a:extLst>
                    <a:ext uri="{9D8B030D-6E8A-4147-A177-3AD203B41FA5}">
                      <a16:colId xmlns:a16="http://schemas.microsoft.com/office/drawing/2014/main" val="1878118745"/>
                    </a:ext>
                  </a:extLst>
                </a:gridCol>
              </a:tblGrid>
              <a:tr h="356753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Значение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82639"/>
                  </a:ext>
                </a:extLst>
              </a:tr>
              <a:tr h="124849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Размер значения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UNICODE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2000 символов (4000 байт)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334950"/>
                  </a:ext>
                </a:extLst>
              </a:tr>
              <a:tr h="124849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Размер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BLOB-</a:t>
                      </a: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значения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До 2^31 (~2 млрд байт)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0889"/>
                  </a:ext>
                </a:extLst>
              </a:tr>
              <a:tr h="951247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Количество полей в строке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897998"/>
                  </a:ext>
                </a:extLst>
              </a:tr>
              <a:tr h="951247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Минимальный объём памяти ядра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3 МБ (для специализированных версий — от 800 КБ)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135193"/>
                  </a:ext>
                </a:extLst>
              </a:tr>
              <a:tr h="124849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Защита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2 класс защиты от НСД, 2 уровень контроля недекларированных возможностей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617213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432BEAAE-AB49-05D9-DF8B-7FABA47BA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4BAB939-7CA7-E745-C5C8-1B0393DE6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C95C05-76D0-0520-0C21-70E26E60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39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ADEAD-7E8E-F9BF-6D0F-2CF9139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Форматы и интерфейсы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0A36277-FE69-3091-551C-BCD2B0F69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535328"/>
              </p:ext>
            </p:extLst>
          </p:nvPr>
        </p:nvGraphicFramePr>
        <p:xfrm>
          <a:off x="441960" y="353568"/>
          <a:ext cx="7571232" cy="6150864"/>
        </p:xfrm>
        <a:graphic>
          <a:graphicData uri="http://schemas.openxmlformats.org/drawingml/2006/table">
            <a:tbl>
              <a:tblPr/>
              <a:tblGrid>
                <a:gridCol w="3785616">
                  <a:extLst>
                    <a:ext uri="{9D8B030D-6E8A-4147-A177-3AD203B41FA5}">
                      <a16:colId xmlns:a16="http://schemas.microsoft.com/office/drawing/2014/main" val="3712297007"/>
                    </a:ext>
                  </a:extLst>
                </a:gridCol>
                <a:gridCol w="3785616">
                  <a:extLst>
                    <a:ext uri="{9D8B030D-6E8A-4147-A177-3AD203B41FA5}">
                      <a16:colId xmlns:a16="http://schemas.microsoft.com/office/drawing/2014/main" val="3656178790"/>
                    </a:ext>
                  </a:extLst>
                </a:gridCol>
              </a:tblGrid>
              <a:tr h="643128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Значение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44993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Форматы для индексации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TXT, XML, HTML, PDF, DOC, DOCX, XLS, XLSX, PPT, PPTX, Open Office, 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110298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Программные интерфейсы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ODBC 3.x, JDBC, Hibernate, ADO.NET, Perl, PHP, Python, Ruby on Rails, Qt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171933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Конвертация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Утилиты через ODBC, ADO.NET, конвертер из DBF, ERwin в ЛИНТЕР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119497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Горячее резервирование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Поддержка Unix/Windows, TCP/IP, повышенная надёжность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401152"/>
                  </a:ext>
                </a:extLst>
              </a:tr>
              <a:tr h="643128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Администрирование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Графические и псевдографические утилиты для Windows и UNIX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610658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E4F9B806-38A3-D42A-8E0D-85E34C2E7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874849-0884-D577-FB27-1826744C503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592415" y="-124043"/>
            <a:ext cx="137528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890DFC-97E9-0A3E-E95F-0F7F6EBA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7148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43596-DAF2-CBA9-3754-54556800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640" y="685800"/>
            <a:ext cx="3566160" cy="1737360"/>
          </a:xfrm>
        </p:spPr>
        <p:txBody>
          <a:bodyPr>
            <a:normAutofit/>
          </a:bodyPr>
          <a:lstStyle/>
          <a:p>
            <a:r>
              <a:rPr lang="ru-RU" dirty="0"/>
              <a:t>Репликация, синхронизация и платформы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3CB9C3A-B0B9-7937-6B95-6CE28CFE83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721681"/>
              </p:ext>
            </p:extLst>
          </p:nvPr>
        </p:nvGraphicFramePr>
        <p:xfrm>
          <a:off x="441960" y="365760"/>
          <a:ext cx="7626096" cy="6126480"/>
        </p:xfrm>
        <a:graphic>
          <a:graphicData uri="http://schemas.openxmlformats.org/drawingml/2006/table">
            <a:tbl>
              <a:tblPr/>
              <a:tblGrid>
                <a:gridCol w="3813048">
                  <a:extLst>
                    <a:ext uri="{9D8B030D-6E8A-4147-A177-3AD203B41FA5}">
                      <a16:colId xmlns:a16="http://schemas.microsoft.com/office/drawing/2014/main" val="4023050873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16736048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Значение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278806"/>
                  </a:ext>
                </a:extLst>
              </a:tr>
              <a:tr h="115214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Репликация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Асинхронная (включая двунаправленную), через ODBC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69672"/>
                  </a:ext>
                </a:extLst>
              </a:tr>
              <a:tr h="115214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Синхронизация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Через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ODBC, TCP/IP (SSL), HTTP, HTTPS, ActiveSync, FTP, 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78650"/>
                  </a:ext>
                </a:extLst>
              </a:tr>
              <a:tr h="115214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Поддерживаемые платформы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Linux, Windows, Solaris, Mac OS, BSD, QNX, VxWorks, Android, Windows 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64171"/>
                  </a:ext>
                </a:extLst>
              </a:tr>
              <a:tr h="115214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Интернационализация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Поддержка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UNICODE, </a:t>
                      </a: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кириллицы (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CP866, CP1251, KOI8-R), UTF-8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66804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Типы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Char, Varchar, Integer, Date, Blob,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</a:rPr>
                        <a:t>Extfile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и др.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73789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E6F1AC9F-B992-3E5A-E3EF-00C6E2684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D9936C-FB56-9D26-35B9-D5BBBECE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2767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699D7-4CE3-D159-EF96-3FC7D5E2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AD6B0-5EA8-8565-5592-41B9E480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640" y="685800"/>
            <a:ext cx="3566160" cy="1737360"/>
          </a:xfrm>
        </p:spPr>
        <p:txBody>
          <a:bodyPr>
            <a:normAutofit/>
          </a:bodyPr>
          <a:lstStyle/>
          <a:p>
            <a:r>
              <a:rPr lang="ru-RU" sz="2800" dirty="0"/>
              <a:t>Геометрические данные и </a:t>
            </a:r>
            <a:r>
              <a:rPr lang="en-US" sz="2800" dirty="0"/>
              <a:t>SQL</a:t>
            </a:r>
            <a:endParaRPr lang="ru-RU" sz="2800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7B32068-A368-30FB-4A6D-C1B45DD39F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101164"/>
              </p:ext>
            </p:extLst>
          </p:nvPr>
        </p:nvGraphicFramePr>
        <p:xfrm>
          <a:off x="438912" y="419733"/>
          <a:ext cx="7662672" cy="6018533"/>
        </p:xfrm>
        <a:graphic>
          <a:graphicData uri="http://schemas.openxmlformats.org/drawingml/2006/table">
            <a:tbl>
              <a:tblPr/>
              <a:tblGrid>
                <a:gridCol w="3831336">
                  <a:extLst>
                    <a:ext uri="{9D8B030D-6E8A-4147-A177-3AD203B41FA5}">
                      <a16:colId xmlns:a16="http://schemas.microsoft.com/office/drawing/2014/main" val="4023050873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1673604803"/>
                    </a:ext>
                  </a:extLst>
                </a:gridCol>
              </a:tblGrid>
              <a:tr h="486968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Значение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278806"/>
                  </a:ext>
                </a:extLst>
              </a:tr>
              <a:tr h="1582645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Геометрические типы данных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POINT, LINESTRING, POLYGON, MULTIPOINT, MULTILINESTRING, MULTIPOLYGON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69672"/>
                  </a:ext>
                </a:extLst>
              </a:tr>
              <a:tr h="1217419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Геометрические функции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GeomFromText, GeomFromWKB, Distance, Intersects, Union, Intersection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78650"/>
                  </a:ext>
                </a:extLst>
              </a:tr>
              <a:tr h="568667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Сетевые протоколы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TCP/IP (</a:t>
                      </a: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включая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SSL)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64171"/>
                  </a:ext>
                </a:extLst>
              </a:tr>
              <a:tr h="852194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Поддержка стандарта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SQL:2003 (кроме нескалярных типов и ООП)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668041"/>
                  </a:ext>
                </a:extLst>
              </a:tr>
              <a:tr h="1217419"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Процедурные расширения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Собственный синтаксис хранимых процедур, отладка, конвертация из PL/SQL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73789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67DD660B-D237-2019-E969-37337A3B2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C45B45-C09D-4B77-EAE2-7B5C3982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336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E908E-BE2F-DD73-38CB-78CB25387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Сравнение СУБД с СУБД </a:t>
            </a:r>
            <a:r>
              <a:rPr lang="en-US" dirty="0"/>
              <a:t>“</a:t>
            </a:r>
            <a:r>
              <a:rPr lang="ru-RU" dirty="0"/>
              <a:t>ЛИНТЕР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96E4E9-60D8-A404-1EA8-88474F99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03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0BD2C-925E-F249-7EB6-699B020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информация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056D56-C891-BD52-434D-BBCE35292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EE0EC6-4249-9099-B67A-37FA13F5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43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7577EBB-8E89-0E5B-F434-4894FAEC2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BA895D5C-F635-7264-880E-AFD19615D6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959946"/>
          <a:ext cx="6711948" cy="4938108"/>
        </p:xfrm>
        <a:graphic>
          <a:graphicData uri="http://schemas.openxmlformats.org/drawingml/2006/table">
            <a:tbl>
              <a:tblPr/>
              <a:tblGrid>
                <a:gridCol w="1677987">
                  <a:extLst>
                    <a:ext uri="{9D8B030D-6E8A-4147-A177-3AD203B41FA5}">
                      <a16:colId xmlns:a16="http://schemas.microsoft.com/office/drawing/2014/main" val="1958421069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3838449555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2150323694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2634784394"/>
                    </a:ext>
                  </a:extLst>
                </a:gridCol>
              </a:tblGrid>
              <a:tr h="244071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Параметр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Линтер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MySQL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PostgreSQL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029195"/>
                  </a:ext>
                </a:extLst>
              </a:tr>
              <a:tr h="244071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Тип СУБД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Реляционная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Реляционная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Реляционная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5514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Лицензия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Проприетарная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Открытая (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GPL) / </a:t>
                      </a: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Проприетарная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Открытая (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PostgreSQL License)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081592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Первоначальный релиз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1990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1995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1996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4726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Разработчик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НПП «РЕЛЭКС»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Oracle Corporation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PostgreSQL Global Development Group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987159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Текущая версия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6.0.20.3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8.0 (на момент 2023)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15.x (на момент 2023)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020263"/>
                  </a:ext>
                </a:extLst>
              </a:tr>
            </a:tbl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B078B9B1-CB11-E476-5E6D-80D14D0EB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7204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02E0C9-C9A4-E707-1C00-12114E82C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7344" y="685800"/>
            <a:ext cx="3886200" cy="1737360"/>
          </a:xfrm>
        </p:spPr>
        <p:txBody>
          <a:bodyPr/>
          <a:lstStyle/>
          <a:p>
            <a:r>
              <a:rPr lang="ru-RU" dirty="0"/>
              <a:t>Основные характеристики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4322151-6DFB-9BD3-4679-8E17493FF5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1112346"/>
          <a:ext cx="6711948" cy="4633308"/>
        </p:xfrm>
        <a:graphic>
          <a:graphicData uri="http://schemas.openxmlformats.org/drawingml/2006/table">
            <a:tbl>
              <a:tblPr/>
              <a:tblGrid>
                <a:gridCol w="1677987">
                  <a:extLst>
                    <a:ext uri="{9D8B030D-6E8A-4147-A177-3AD203B41FA5}">
                      <a16:colId xmlns:a16="http://schemas.microsoft.com/office/drawing/2014/main" val="4273855906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2612842565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3197467511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683437281"/>
                    </a:ext>
                  </a:extLst>
                </a:gridCol>
              </a:tblGrid>
              <a:tr h="244071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Параметр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Линтер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MySQL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PostgreSQL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244376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</a:rPr>
                        <a:t>Макс. размер таблицы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12 ТБ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256 ТБ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Без ограничений (до 32 ТБ на практике)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832827"/>
                  </a:ext>
                </a:extLst>
              </a:tr>
              <a:tr h="244071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Макс. размер строки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До 64 КБ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До 8 КБ (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</a:rPr>
                        <a:t>InnoDB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До 1.6 ТБ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69267"/>
                  </a:ext>
                </a:extLst>
              </a:tr>
              <a:tr h="244071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Поддержка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JSON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 (с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MySQL 5.7)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058354"/>
                  </a:ext>
                </a:extLst>
              </a:tr>
              <a:tr h="244071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Поддержка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XML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524105"/>
                  </a:ext>
                </a:extLst>
              </a:tr>
              <a:tr h="244071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Транзакции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ACID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ACID (InnoDB)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ACID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01624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284C2901-964E-276B-9471-38D19B105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5B9D60-43B5-7087-9B33-66C23506F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44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4F7AEDE-96F9-F0AB-F105-AE91112C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70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62F49-D9FD-E972-7A40-22923B88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512064"/>
            <a:ext cx="3870960" cy="1911096"/>
          </a:xfrm>
        </p:spPr>
        <p:txBody>
          <a:bodyPr>
            <a:normAutofit/>
          </a:bodyPr>
          <a:lstStyle/>
          <a:p>
            <a:r>
              <a:rPr lang="ru-RU" sz="2400" dirty="0"/>
              <a:t>Производительность и масштабируемость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95FFFE22-41BF-4852-51F7-BBD8AF7951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959946"/>
          <a:ext cx="6711948" cy="5242908"/>
        </p:xfrm>
        <a:graphic>
          <a:graphicData uri="http://schemas.openxmlformats.org/drawingml/2006/table">
            <a:tbl>
              <a:tblPr/>
              <a:tblGrid>
                <a:gridCol w="1677987">
                  <a:extLst>
                    <a:ext uri="{9D8B030D-6E8A-4147-A177-3AD203B41FA5}">
                      <a16:colId xmlns:a16="http://schemas.microsoft.com/office/drawing/2014/main" val="1649519367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1161238878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908145597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2270168612"/>
                    </a:ext>
                  </a:extLst>
                </a:gridCol>
              </a:tblGrid>
              <a:tr h="244071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Параметр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Линтер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MySQL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PostgreSQL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43520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Репликация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Асинхронная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Асинхронная / Синхронная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Синхронная / Асинхронная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543456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Шардирование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Нет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Через сторонние инструменты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Через сторонние инструменты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07218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Параллельные запросы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02552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Кластеризация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Нет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Через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NDB Cluster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 (через сторонние решения)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931488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Горячее резервирование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69013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8A370749-2AB7-E9EB-81CF-B5D86DDE7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E73C9F-407B-0E21-EDEC-186D3C44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45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85D443A-C032-4AD8-3CEF-06051E61F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109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CFB4A-A037-9B4E-72F0-1C9ABDF2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7DD27D9-1C56-9AC7-E950-6B2403D2C8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1264746"/>
          <a:ext cx="6711948" cy="4938108"/>
        </p:xfrm>
        <a:graphic>
          <a:graphicData uri="http://schemas.openxmlformats.org/drawingml/2006/table">
            <a:tbl>
              <a:tblPr/>
              <a:tblGrid>
                <a:gridCol w="1677987">
                  <a:extLst>
                    <a:ext uri="{9D8B030D-6E8A-4147-A177-3AD203B41FA5}">
                      <a16:colId xmlns:a16="http://schemas.microsoft.com/office/drawing/2014/main" val="234509547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17356315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1182450387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3802543663"/>
                    </a:ext>
                  </a:extLst>
                </a:gridCol>
              </a:tblGrid>
              <a:tr h="244071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Параметр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Линтер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MySQL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PostgreSQL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416874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Аутентификация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LDAP, Kerberos, </a:t>
                      </a: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ОС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Встроенная,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LDAP, PAM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Встроенная,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LDAP, PAM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613114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Шифрование данных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Да (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TLS/SSL)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 (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TLS/SSL)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462030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Мандатный контроль доступа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Нет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Нет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158655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Аудит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Через сторонние инструменты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713076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Хеширование паролей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FIPS 180-2 SHA-224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SHA-256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SCRAM-SHA-256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698264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F8556945-EFFD-63FB-B907-3E713DD5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281066-CD45-50B4-6FD4-4C8EFFD0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46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FD49A68-7066-0A2C-C466-165005023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791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BC4ED-BE16-8A78-8846-909C81B5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Поддержка платформ и языков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68560ACE-F3AD-DDAE-4DBD-9977BBB07F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139050"/>
              </p:ext>
            </p:extLst>
          </p:nvPr>
        </p:nvGraphicFramePr>
        <p:xfrm>
          <a:off x="829057" y="350346"/>
          <a:ext cx="6711948" cy="6157308"/>
        </p:xfrm>
        <a:graphic>
          <a:graphicData uri="http://schemas.openxmlformats.org/drawingml/2006/table">
            <a:tbl>
              <a:tblPr/>
              <a:tblGrid>
                <a:gridCol w="1677987">
                  <a:extLst>
                    <a:ext uri="{9D8B030D-6E8A-4147-A177-3AD203B41FA5}">
                      <a16:colId xmlns:a16="http://schemas.microsoft.com/office/drawing/2014/main" val="1851646370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1726943546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2255249817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2496620397"/>
                    </a:ext>
                  </a:extLst>
                </a:gridCol>
              </a:tblGrid>
              <a:tr h="244071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Параметр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</a:rPr>
                        <a:t>Линтер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MySQL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PostgreSQL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285530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Поддерживаемые ОС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Linux, Windows, QNX, </a:t>
                      </a: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ОС Эльбрус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Linux, Windows, macOS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Linux, Windows, macOS, BSD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6576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Языки программирования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C, C++, Java, Python, PHP, .NET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C, C++, Java, Python, PHP, .NET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C, C++, Java, Python, PHP, .NET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492815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API </a:t>
                      </a:r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и интерфейсы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ODBC, JDBC, ADO.NET, OLE DB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ODBC, JDBC, ADO.NET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ODBC, JDBC, ADO.NET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903867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Поддержка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GIS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 (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OpenGIS)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Через сторонние расширения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 (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PostGIS)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546171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</a:rPr>
                        <a:t>Поддержка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Full-Text Search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Да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599730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70B70203-CDC3-2ABE-890D-10B7C212B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352F8B-07A4-7071-163A-3E7267F8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47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9662FFB-9D0B-6AAC-CC97-F088F2FA1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" y="-274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424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7F231-93CA-4BC5-BD82-12BCE0A4E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640" y="685800"/>
            <a:ext cx="3465576" cy="1737360"/>
          </a:xfrm>
        </p:spPr>
        <p:txBody>
          <a:bodyPr/>
          <a:lstStyle/>
          <a:p>
            <a:r>
              <a:rPr lang="ru-RU" dirty="0"/>
              <a:t>Популярность и сообщество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A7A95764-E8D3-0DDF-B3C8-A52391DB6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572874"/>
              </p:ext>
            </p:extLst>
          </p:nvPr>
        </p:nvGraphicFramePr>
        <p:xfrm>
          <a:off x="838201" y="990455"/>
          <a:ext cx="6711948" cy="4572290"/>
        </p:xfrm>
        <a:graphic>
          <a:graphicData uri="http://schemas.openxmlformats.org/drawingml/2006/table">
            <a:tbl>
              <a:tblPr/>
              <a:tblGrid>
                <a:gridCol w="1677987">
                  <a:extLst>
                    <a:ext uri="{9D8B030D-6E8A-4147-A177-3AD203B41FA5}">
                      <a16:colId xmlns:a16="http://schemas.microsoft.com/office/drawing/2014/main" val="2091177467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3909541550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2251714946"/>
                    </a:ext>
                  </a:extLst>
                </a:gridCol>
                <a:gridCol w="1677987">
                  <a:extLst>
                    <a:ext uri="{9D8B030D-6E8A-4147-A177-3AD203B41FA5}">
                      <a16:colId xmlns:a16="http://schemas.microsoft.com/office/drawing/2014/main" val="3730847383"/>
                    </a:ext>
                  </a:extLst>
                </a:gridCol>
              </a:tblGrid>
              <a:tr h="244071"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Параметр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Линтер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MySQL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396407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Рейтинг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DB-Engines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Низкий (нишевой продукт)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Высокий (2-е место в рейтинге)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Высокий (4-е место в рейтинге)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12838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Сообщество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Ограниченное (российский рынок)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Огромное (мировое)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Огромное (мировое)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412683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Документация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На русском и английском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На английском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На английском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862031"/>
                  </a:ext>
                </a:extLst>
              </a:tr>
              <a:tr h="427124">
                <a:tc>
                  <a:txBody>
                    <a:bodyPr/>
                    <a:lstStyle/>
                    <a:p>
                      <a:r>
                        <a:rPr lang="ru-RU" sz="2000" b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Поддержка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Коммерческая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Коммерческая и сообщество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Сообщество и коммерческая</a:t>
                      </a:r>
                    </a:p>
                  </a:txBody>
                  <a:tcPr marL="61018" marR="61018" marT="30509" marB="305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73795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28D5F814-2B2F-FADE-F1FB-3F8EECD49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FCEDD9-ECE3-E03B-100C-408C358F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48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107E148-1190-F3E9-E314-BCE8E3745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114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2AD0-279C-12E9-DE23-EF249E83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CE9CE-6D90-197B-4BB5-F8309C27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развития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33795E-DE2E-F077-22A5-72117FA28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5020056"/>
            <a:ext cx="11137392" cy="1655064"/>
          </a:xfrm>
        </p:spPr>
        <p:txBody>
          <a:bodyPr>
            <a:normAutofit/>
          </a:bodyPr>
          <a:lstStyle/>
          <a:p>
            <a:pPr algn="l">
              <a:buNone/>
            </a:pPr>
            <a:endParaRPr lang="ru-RU" b="0" i="0" dirty="0">
              <a:solidFill>
                <a:srgbClr val="FF0000"/>
              </a:solidFill>
              <a:effectLst/>
              <a:latin typeface="DeepSeek-CJK-patch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D77B74-D3DB-F00E-94BB-3A03E7BF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9332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4AC98-78AA-70DF-96E6-10EACF5C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A79-47E8-BF72-9644-5C150221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Рост спроса в условиях импортозамещения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9D0D74-E703-6778-3481-02407E475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5020056"/>
            <a:ext cx="11137392" cy="1655064"/>
          </a:xfrm>
        </p:spPr>
        <p:txBody>
          <a:bodyPr>
            <a:normAutofit fontScale="92500" lnSpcReduction="10000"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В связи с санкциями и уходом западных СУБД (Oracle, Microsoft SQL Server, </a:t>
            </a:r>
            <a:r>
              <a:rPr lang="ru-RU" b="0" i="0" dirty="0" err="1">
                <a:solidFill>
                  <a:srgbClr val="FF0000"/>
                </a:solidFill>
                <a:effectLst/>
                <a:latin typeface="DeepSeek-CJK-patch"/>
              </a:rPr>
              <a:t>PostgreSQL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) российские организации активно ищут альтернативы.</a:t>
            </a:r>
          </a:p>
          <a:p>
            <a:pPr algn="l">
              <a:buNone/>
            </a:pP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ЛИНТЕР входит в Единый реестр российского ПО, что делает его привлекательным для госструктур и госкомпаний.</a:t>
            </a:r>
          </a:p>
          <a:p>
            <a:pPr algn="l">
              <a:buNone/>
            </a:pP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Поддержка ФСТЭК и </a:t>
            </a:r>
            <a:r>
              <a:rPr lang="ru-RU" b="0" i="0" dirty="0" err="1">
                <a:solidFill>
                  <a:srgbClr val="FF0000"/>
                </a:solidFill>
                <a:effectLst/>
                <a:latin typeface="DeepSeek-CJK-patch"/>
              </a:rPr>
              <a:t>Минцифры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 усиливает позиции СУБД в госсекторе.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A3345B-CC92-BA2D-C88F-E3F0D9F0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0292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749D4-17DD-C7A2-E828-531DE67D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01018-A0C6-D6CC-D610-7E913423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Развитие функционала и совместимости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F4658B-F333-3362-EAE6-B077E3A77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5020056"/>
            <a:ext cx="11137392" cy="1655064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Поддержка SQL-стандартов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: ЛИНТЕР стремится к совместимости с Oracle и </a:t>
            </a:r>
            <a:r>
              <a:rPr lang="ru-RU" b="0" i="0" dirty="0" err="1">
                <a:solidFill>
                  <a:srgbClr val="FF0000"/>
                </a:solidFill>
                <a:effectLst/>
                <a:latin typeface="DeepSeek-CJK-patch"/>
              </a:rPr>
              <a:t>PostgreSQL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, чтобы облегчить миграцию.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Масштабируемость и производительность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: Улучшение работы с большими данными, поддержка кластерных решений.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Облачные и гибридные решения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: Развитие </a:t>
            </a:r>
            <a:r>
              <a:rPr lang="ru-RU" b="0" i="0" dirty="0" err="1">
                <a:solidFill>
                  <a:srgbClr val="FF0000"/>
                </a:solidFill>
                <a:effectLst/>
                <a:latin typeface="DeepSeek-CJK-patch"/>
              </a:rPr>
              <a:t>SaaS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-версий для интеграции с российскими облачными платформами (VK </a:t>
            </a:r>
            <a:r>
              <a:rPr lang="ru-RU" b="0" i="0" dirty="0" err="1">
                <a:solidFill>
                  <a:srgbClr val="FF0000"/>
                </a:solidFill>
                <a:effectLst/>
                <a:latin typeface="DeepSeek-CJK-patch"/>
              </a:rPr>
              <a:t>Cloud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, </a:t>
            </a:r>
            <a:r>
              <a:rPr lang="ru-RU" b="0" i="0" dirty="0" err="1">
                <a:solidFill>
                  <a:srgbClr val="FF0000"/>
                </a:solidFill>
                <a:effectLst/>
                <a:latin typeface="DeepSeek-CJK-patch"/>
              </a:rPr>
              <a:t>СберОблако</a:t>
            </a: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01C41-8D65-770C-E0D9-95719F06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267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719C-4831-4135-53B2-CE98037BC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ADAC2-3F74-00E5-9CD9-59AD5426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Безопасность и сертификация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B25AA0-44D7-74D2-2461-AC991525D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5020056"/>
            <a:ext cx="11137392" cy="165506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Акцент на защиту данных (встроенное шифрование, ролевая модель доступа, аудит).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Сертификация по требованиям ФСТЭК, ФСБ, Минобороны для использования в критической инфраструктуре.</a:t>
            </a:r>
            <a:endParaRPr lang="ru-RU" b="0" i="0" dirty="0">
              <a:solidFill>
                <a:srgbClr val="FF0000"/>
              </a:solidFill>
              <a:effectLst/>
              <a:latin typeface="DeepSeek-CJK-patch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57F933-8B6F-4737-BF94-29B53518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997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54F3-0C19-FC95-14BC-E0E621F1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D2609-CAD2-B823-6E8A-28FCDB0C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Развитие экосистемы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DCF705-50D8-FD7D-B671-E83CB10FF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5020056"/>
            <a:ext cx="11137392" cy="165506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Партнерские программы с интеграторами (КРОК, РДТЕХ, Базис).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Поддержка в популярных средствах разработки (1С, Java, Python).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Развитие сообщества и документации для привлечения разработчиков.</a:t>
            </a:r>
            <a:endParaRPr lang="ru-RU" b="0" i="0" dirty="0">
              <a:solidFill>
                <a:srgbClr val="FF0000"/>
              </a:solidFill>
              <a:effectLst/>
              <a:latin typeface="DeepSeek-CJK-patch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A739AB-C81E-BD12-4C3D-90C91F1A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1002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77E6-C0C8-9171-A7F2-0CAF83F8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32821-064C-5419-6568-A0638941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Конкуренция и вызовы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63EDC2-712C-CA03-CB87-5C932145B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5020056"/>
            <a:ext cx="11137392" cy="165506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F0000"/>
                </a:solidFill>
                <a:effectLst/>
                <a:latin typeface="DeepSeek-CJK-patch"/>
              </a:rPr>
              <a:t>PostgreSQL</a:t>
            </a: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 остается главным конкурентом (открытый код, большое сообщество).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Российские аналоги (</a:t>
            </a:r>
            <a:r>
              <a:rPr lang="ru-RU" b="1" i="0" dirty="0" err="1">
                <a:solidFill>
                  <a:srgbClr val="FF0000"/>
                </a:solidFill>
                <a:effectLst/>
                <a:latin typeface="DeepSeek-CJK-patch"/>
              </a:rPr>
              <a:t>Postgres</a:t>
            </a: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 Pro, РУБИН, ИРИТО-СУБД) также борются за рынок.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F0000"/>
                </a:solidFill>
                <a:effectLst/>
                <a:latin typeface="DeepSeek-CJK-patch"/>
              </a:rPr>
              <a:t>Необходимость улучшения производительности и удобства администрирования.</a:t>
            </a:r>
            <a:endParaRPr lang="ru-RU" b="0" i="0" dirty="0">
              <a:solidFill>
                <a:srgbClr val="FF0000"/>
              </a:solidFill>
              <a:effectLst/>
              <a:latin typeface="DeepSeek-CJK-patch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D39179-C72D-D810-5682-DC2FE507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7010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689D3-4669-9995-3E71-51FB37F9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DA912-D028-6B97-5F97-FB0A49AA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Вывод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564C56-0968-C818-AAEA-89104F5E7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5020056"/>
            <a:ext cx="11137392" cy="139903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Улучшать совместимость с зарубежными аналогами.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Развивать сообщество и документацию.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F0000"/>
                </a:solidFill>
                <a:effectLst/>
                <a:latin typeface="DeepSeek-CJK-patch"/>
              </a:rPr>
              <a:t>Обеспечивать стабильную работу под высокой нагрузкой.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F0000"/>
              </a:solidFill>
              <a:effectLst/>
              <a:latin typeface="DeepSeek-CJK-patch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C78733-2C18-1A67-DCCF-90A4FE34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8630B-A083-EFE3-EA35-01BB89E6220E}"/>
              </a:ext>
            </a:extLst>
          </p:cNvPr>
          <p:cNvSpPr txBox="1"/>
          <p:nvPr/>
        </p:nvSpPr>
        <p:spPr>
          <a:xfrm>
            <a:off x="5945886" y="2506133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ЛИНТЕР имеет хорошие перспективы в </a:t>
            </a:r>
            <a:r>
              <a:rPr lang="ru-RU" b="1" dirty="0">
                <a:solidFill>
                  <a:srgbClr val="FF0000"/>
                </a:solidFill>
              </a:rPr>
              <a:t>госсекторе</a:t>
            </a:r>
            <a:r>
              <a:rPr lang="ru-RU" dirty="0">
                <a:solidFill>
                  <a:srgbClr val="FF0000"/>
                </a:solidFill>
              </a:rPr>
              <a:t> и </a:t>
            </a:r>
            <a:r>
              <a:rPr lang="ru-RU" b="1" dirty="0">
                <a:solidFill>
                  <a:srgbClr val="FF0000"/>
                </a:solidFill>
              </a:rPr>
              <a:t>корпоративном сегменте</a:t>
            </a:r>
            <a:r>
              <a:rPr lang="ru-RU" dirty="0">
                <a:solidFill>
                  <a:srgbClr val="FF0000"/>
                </a:solidFill>
              </a:rPr>
              <a:t>, особенно там, где критична безопасность и требование локализации. Однако для массового распространения необходимо: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4D218-1B7B-13E1-9D7B-BFC931C1AF8F}"/>
              </a:ext>
            </a:extLst>
          </p:cNvPr>
          <p:cNvSpPr txBox="1"/>
          <p:nvPr/>
        </p:nvSpPr>
        <p:spPr>
          <a:xfrm>
            <a:off x="7123176" y="5770078"/>
            <a:ext cx="5182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Если разработчики смогут решить эти задачи, ЛИНТЕР может занять устойчивую нишу на российском рынке СУБД.</a:t>
            </a:r>
          </a:p>
        </p:txBody>
      </p:sp>
    </p:spTree>
    <p:extLst>
      <p:ext uri="{BB962C8B-B14F-4D97-AF65-F5344CB8AC3E}">
        <p14:creationId xmlns:p14="http://schemas.microsoft.com/office/powerpoint/2010/main" val="227925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FAD03-9A79-2AC1-0E87-985836C2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Итоговые выводы</a:t>
            </a:r>
            <a:br>
              <a:rPr lang="en-US" dirty="0"/>
            </a:br>
            <a:r>
              <a:rPr lang="ru-RU" dirty="0"/>
              <a:t>по сравнению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662FD9-3998-D837-B774-F04C6611C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5020056"/>
            <a:ext cx="11137392" cy="1655064"/>
          </a:xfrm>
        </p:spPr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F0000"/>
                </a:solidFill>
                <a:effectLst/>
              </a:rPr>
              <a:t>Линтер</a:t>
            </a:r>
            <a:r>
              <a:rPr lang="ru-RU" b="0" i="0" dirty="0">
                <a:solidFill>
                  <a:srgbClr val="FF0000"/>
                </a:solidFill>
                <a:effectLst/>
              </a:rPr>
              <a:t> — это нишевая СУБД, ориентированная на российский рынок с акцентом на безопасность и поддержку отечественных ОС.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ru-RU" b="1" i="0" dirty="0">
                <a:solidFill>
                  <a:srgbClr val="FF0000"/>
                </a:solidFill>
                <a:effectLst/>
              </a:rPr>
              <a:t>MySQL</a:t>
            </a:r>
            <a:r>
              <a:rPr lang="ru-RU" b="0" i="0" dirty="0">
                <a:solidFill>
                  <a:srgbClr val="FF0000"/>
                </a:solidFill>
                <a:effectLst/>
              </a:rPr>
              <a:t> — популярная СУБД с широкой поддержкой и высокой производительностью, но с ограничениями в функциональности.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ru-RU" b="1" i="0" dirty="0" err="1">
                <a:solidFill>
                  <a:srgbClr val="FF0000"/>
                </a:solidFill>
                <a:effectLst/>
              </a:rPr>
              <a:t>PostgreSQL</a:t>
            </a:r>
            <a:r>
              <a:rPr lang="ru-RU" b="0" i="0" dirty="0">
                <a:solidFill>
                  <a:srgbClr val="FF0000"/>
                </a:solidFill>
                <a:effectLst/>
              </a:rPr>
              <a:t> — мощная СУБД с открытым исходным кодом, поддерживающая расширенные функции (GIS, JSON, транзакции).</a:t>
            </a:r>
          </a:p>
          <a:p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284034-8113-92D7-ADFC-5F6A3D4F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351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Wood 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362</TotalTime>
  <Words>2039</Words>
  <Application>Microsoft Office PowerPoint</Application>
  <PresentationFormat>Широкоэкранный</PresentationFormat>
  <Paragraphs>403</Paragraphs>
  <Slides>56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5" baseType="lpstr">
      <vt:lpstr>Arial</vt:lpstr>
      <vt:lpstr>Bookman Old Style</vt:lpstr>
      <vt:lpstr>Calibri</vt:lpstr>
      <vt:lpstr>Cambria</vt:lpstr>
      <vt:lpstr>Century Gothic</vt:lpstr>
      <vt:lpstr>DeepSeek-CJK-patch</vt:lpstr>
      <vt:lpstr>Times New Roman</vt:lpstr>
      <vt:lpstr>Wingdings</vt:lpstr>
      <vt:lpstr>Дерево</vt:lpstr>
      <vt:lpstr>СУБД “ЛИНТЕР”</vt:lpstr>
      <vt:lpstr>СУБД “ЛИНТЕР”</vt:lpstr>
      <vt:lpstr>История</vt:lpstr>
      <vt:lpstr>Предшественники СУБД ЛИНТЕР</vt:lpstr>
      <vt:lpstr>Предшественники СУБД ЛИНТЕР</vt:lpstr>
      <vt:lpstr>История</vt:lpstr>
      <vt:lpstr>История</vt:lpstr>
      <vt:lpstr>История</vt:lpstr>
      <vt:lpstr>История</vt:lpstr>
      <vt:lpstr>История</vt:lpstr>
      <vt:lpstr>Редакции СУБД ЛИНТЕР</vt:lpstr>
      <vt:lpstr>Линтер ВС</vt:lpstr>
      <vt:lpstr>Линтер SoQoL</vt:lpstr>
      <vt:lpstr>История версий СУБД “ЛИНТЕР”</vt:lpstr>
      <vt:lpstr>1990-е годы</vt:lpstr>
      <vt:lpstr>2000-е годы</vt:lpstr>
      <vt:lpstr>2010-е годы</vt:lpstr>
      <vt:lpstr>2020-е годы</vt:lpstr>
      <vt:lpstr>Плюсы СУБД “ЛИНТЕР”</vt:lpstr>
      <vt:lpstr>Минусы СУБД “ЛИНТЕР”</vt:lpstr>
      <vt:lpstr>Компоненты и состав</vt:lpstr>
      <vt:lpstr>Ядро СУБД</vt:lpstr>
      <vt:lpstr>Инструменты администрирования</vt:lpstr>
      <vt:lpstr>Механизмы репликации и кластеризации</vt:lpstr>
      <vt:lpstr>API и драйверы</vt:lpstr>
      <vt:lpstr>Облачная интеграция</vt:lpstr>
      <vt:lpstr>Применяемость по отраслям</vt:lpstr>
      <vt:lpstr>Госсектор</vt:lpstr>
      <vt:lpstr>Финансы</vt:lpstr>
      <vt:lpstr>Промышленность</vt:lpstr>
      <vt:lpstr>Медицина</vt:lpstr>
      <vt:lpstr>Образование</vt:lpstr>
      <vt:lpstr>Применение</vt:lpstr>
      <vt:lpstr>Текущее состояние продукта</vt:lpstr>
      <vt:lpstr>Перспективы</vt:lpstr>
      <vt:lpstr>Характеристики СУБД “ЛИНТЕР”</vt:lpstr>
      <vt:lpstr>Основные характеристики СУБД ЛИНТЕР</vt:lpstr>
      <vt:lpstr>Дополнительные характеристики</vt:lpstr>
      <vt:lpstr>Форматы и интерфейсы</vt:lpstr>
      <vt:lpstr>Репликация, синхронизация и платформы</vt:lpstr>
      <vt:lpstr>Геометрические данные и SQL</vt:lpstr>
      <vt:lpstr>Сравнение СУБД с СУБД “ЛИНТЕР”</vt:lpstr>
      <vt:lpstr>Общая информация</vt:lpstr>
      <vt:lpstr>Основные характеристики</vt:lpstr>
      <vt:lpstr>Производительность и масштабируемость</vt:lpstr>
      <vt:lpstr>Безопасность</vt:lpstr>
      <vt:lpstr>Поддержка платформ и языков</vt:lpstr>
      <vt:lpstr>Популярность и сообщество</vt:lpstr>
      <vt:lpstr>Перспективы развития</vt:lpstr>
      <vt:lpstr>Рост спроса в условиях импортозамещения</vt:lpstr>
      <vt:lpstr>Развитие функционала и совместимости</vt:lpstr>
      <vt:lpstr>Безопасность и сертификация</vt:lpstr>
      <vt:lpstr>Развитие экосистемы</vt:lpstr>
      <vt:lpstr>Конкуренция и вызовы</vt:lpstr>
      <vt:lpstr>Вывод</vt:lpstr>
      <vt:lpstr>Итоговые выводы по сравнению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Власов</dc:creator>
  <cp:lastModifiedBy>Дмитрий Власов</cp:lastModifiedBy>
  <cp:revision>11</cp:revision>
  <dcterms:created xsi:type="dcterms:W3CDTF">2025-03-19T03:35:47Z</dcterms:created>
  <dcterms:modified xsi:type="dcterms:W3CDTF">2025-03-30T05:40:18Z</dcterms:modified>
</cp:coreProperties>
</file>