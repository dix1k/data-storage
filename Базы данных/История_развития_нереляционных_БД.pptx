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57" r:id="rId4"/>
    <p:sldId id="261" r:id="rId5"/>
    <p:sldId id="259" r:id="rId6"/>
    <p:sldId id="262" r:id="rId7"/>
    <p:sldId id="264" r:id="rId8"/>
    <p:sldId id="263" r:id="rId9"/>
    <p:sldId id="272" r:id="rId10"/>
    <p:sldId id="273" r:id="rId11"/>
    <p:sldId id="270" r:id="rId12"/>
    <p:sldId id="271" r:id="rId13"/>
    <p:sldId id="267" r:id="rId14"/>
    <p:sldId id="28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169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92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50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84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978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839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33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050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689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923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9300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203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734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452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263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515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55749-68F4-422D-8F5F-4BC1E4B0E64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2A9159C-F221-4FF6-B459-64AAAB36A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335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История развития </a:t>
            </a:r>
            <a:r>
              <a:rPr lang="ru-RU" dirty="0" err="1"/>
              <a:t>нереляционных</a:t>
            </a:r>
            <a:r>
              <a:rPr lang="ru-RU" dirty="0"/>
              <a:t> БД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09932" y="5995358"/>
            <a:ext cx="9144000" cy="56816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ru-RU" sz="1600" dirty="0"/>
              <a:t>Подготовил: Власов Дмитрий </a:t>
            </a:r>
          </a:p>
          <a:p>
            <a:pPr algn="l"/>
            <a:r>
              <a:rPr lang="ru-RU" sz="1600" dirty="0"/>
              <a:t>	Группа: ПИНб-3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7992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05415" y="2589292"/>
            <a:ext cx="10515600" cy="1325563"/>
          </a:xfrm>
        </p:spPr>
        <p:txBody>
          <a:bodyPr/>
          <a:lstStyle/>
          <a:p>
            <a:r>
              <a:rPr lang="ru-RU" dirty="0"/>
              <a:t>Что такое </a:t>
            </a:r>
            <a:r>
              <a:rPr lang="ru-RU" dirty="0" err="1"/>
              <a:t>нереляционные</a:t>
            </a:r>
            <a:r>
              <a:rPr lang="ru-RU" dirty="0"/>
              <a:t> БД</a:t>
            </a:r>
          </a:p>
        </p:txBody>
      </p:sp>
    </p:spTree>
    <p:extLst>
      <p:ext uri="{BB962C8B-B14F-4D97-AF65-F5344CB8AC3E}">
        <p14:creationId xmlns:p14="http://schemas.microsoft.com/office/powerpoint/2010/main" val="2600993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Нереляционные</a:t>
            </a:r>
            <a:r>
              <a:rPr lang="ru-RU" b="1" dirty="0"/>
              <a:t> базы данных (</a:t>
            </a:r>
            <a:r>
              <a:rPr lang="en-US" b="1" dirty="0"/>
              <a:t>NoSQL)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 err="1"/>
              <a:t>Нереляционные</a:t>
            </a:r>
            <a:r>
              <a:rPr lang="ru-RU" sz="2400" b="1" dirty="0"/>
              <a:t> базы данных (</a:t>
            </a:r>
            <a:r>
              <a:rPr lang="ru-RU" sz="2400" b="1" dirty="0" err="1"/>
              <a:t>NoSQL</a:t>
            </a:r>
            <a:r>
              <a:rPr lang="ru-RU" sz="2400" b="1" dirty="0"/>
              <a:t>)</a:t>
            </a:r>
            <a:r>
              <a:rPr lang="ru-RU" sz="2400" dirty="0"/>
              <a:t> (от англ. </a:t>
            </a:r>
            <a:r>
              <a:rPr lang="ru-RU" sz="2400" i="1" dirty="0" err="1"/>
              <a:t>not</a:t>
            </a:r>
            <a:r>
              <a:rPr lang="ru-RU" sz="2400" i="1" dirty="0"/>
              <a:t> </a:t>
            </a:r>
            <a:r>
              <a:rPr lang="ru-RU" sz="2400" i="1" dirty="0" err="1"/>
              <a:t>only</a:t>
            </a:r>
            <a:r>
              <a:rPr lang="ru-RU" sz="2400" i="1" dirty="0"/>
              <a:t> SQL</a:t>
            </a:r>
            <a:r>
              <a:rPr lang="ru-RU" sz="2400" dirty="0"/>
              <a:t> — «не только SQL») — это системы управления базами данных, которые отличаются от традиционных реляционных БД, для работы с которыми используется язык SQL.</a:t>
            </a:r>
          </a:p>
          <a:p>
            <a:pPr marL="0" indent="0">
              <a:buNone/>
            </a:pPr>
            <a:r>
              <a:rPr lang="ru-RU" sz="2400" dirty="0"/>
              <a:t>У таких БД нет жёсткой табличной структуры, как у реляционных, — они поддерживают другие модели хранения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3091481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>
            <a:spLocks noGrp="1"/>
          </p:cNvSpPr>
          <p:nvPr>
            <p:ph type="title"/>
          </p:nvPr>
        </p:nvSpPr>
        <p:spPr>
          <a:xfrm>
            <a:off x="215661" y="3429000"/>
            <a:ext cx="10179169" cy="2253584"/>
          </a:xfrm>
        </p:spPr>
        <p:txBody>
          <a:bodyPr>
            <a:normAutofit/>
          </a:bodyPr>
          <a:lstStyle/>
          <a:p>
            <a:r>
              <a:rPr lang="ru-RU" sz="4400" dirty="0"/>
              <a:t>История развития </a:t>
            </a:r>
            <a:r>
              <a:rPr lang="ru-RU" sz="4400" dirty="0" err="1"/>
              <a:t>нереляционных</a:t>
            </a:r>
            <a:r>
              <a:rPr lang="ru-RU" sz="4400" dirty="0"/>
              <a:t> БД</a:t>
            </a:r>
          </a:p>
        </p:txBody>
      </p:sp>
    </p:spTree>
    <p:extLst>
      <p:ext uri="{BB962C8B-B14F-4D97-AF65-F5344CB8AC3E}">
        <p14:creationId xmlns:p14="http://schemas.microsoft.com/office/powerpoint/2010/main" val="145730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Этапы – появление термина </a:t>
            </a:r>
            <a:r>
              <a:rPr lang="en-US" b="1" dirty="0"/>
              <a:t>NoSQL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6468374" cy="4351338"/>
          </a:xfrm>
        </p:spPr>
        <p:txBody>
          <a:bodyPr>
            <a:normAutofit/>
          </a:bodyPr>
          <a:lstStyle/>
          <a:p>
            <a:r>
              <a:rPr lang="ru-RU" sz="2800" b="1" dirty="0"/>
              <a:t>Термин </a:t>
            </a:r>
            <a:r>
              <a:rPr lang="ru-RU" sz="2800" b="1" dirty="0" err="1"/>
              <a:t>NoSQL</a:t>
            </a:r>
            <a:r>
              <a:rPr lang="ru-RU" sz="2800" dirty="0"/>
              <a:t> впервые прозвучал в 1998 году — его применил итальянский учёный Карло </a:t>
            </a:r>
            <a:r>
              <a:rPr lang="ru-RU" sz="2800" dirty="0" err="1"/>
              <a:t>Строцци</a:t>
            </a:r>
            <a:r>
              <a:rPr lang="ru-RU" sz="2800" dirty="0"/>
              <a:t> для описания своей </a:t>
            </a:r>
            <a:r>
              <a:rPr lang="ru-RU" sz="2800" dirty="0" err="1"/>
              <a:t>open-source</a:t>
            </a:r>
            <a:r>
              <a:rPr lang="ru-RU" sz="2800" dirty="0"/>
              <a:t> СУБД. При разработке он отказался от SQL и основного принципа реляционных СУБД — ACID (</a:t>
            </a:r>
            <a:r>
              <a:rPr lang="ru-RU" sz="2800" dirty="0" err="1"/>
              <a:t>atomicity</a:t>
            </a:r>
            <a:r>
              <a:rPr lang="ru-RU" sz="2800" dirty="0"/>
              <a:t>, </a:t>
            </a:r>
            <a:r>
              <a:rPr lang="ru-RU" sz="2800" dirty="0" err="1"/>
              <a:t>consistency</a:t>
            </a:r>
            <a:r>
              <a:rPr lang="ru-RU" sz="2800" dirty="0"/>
              <a:t>, </a:t>
            </a:r>
            <a:r>
              <a:rPr lang="ru-RU" sz="2800" dirty="0" err="1"/>
              <a:t>isolation</a:t>
            </a:r>
            <a:r>
              <a:rPr lang="ru-RU" sz="2800" dirty="0"/>
              <a:t>, </a:t>
            </a:r>
            <a:r>
              <a:rPr lang="ru-RU" sz="2800" dirty="0" err="1"/>
              <a:t>durability</a:t>
            </a:r>
            <a:r>
              <a:rPr lang="ru-RU" sz="2800" dirty="0"/>
              <a:t>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F17BD0-AEA0-C253-AA51-2FB430FBA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830" y="2492392"/>
            <a:ext cx="2229161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77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Распространение </a:t>
            </a:r>
            <a:r>
              <a:rPr lang="ru-RU" b="1" dirty="0" err="1"/>
              <a:t>нереляционных</a:t>
            </a:r>
            <a:r>
              <a:rPr lang="ru-RU" b="1" dirty="0"/>
              <a:t> СУБД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400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Распространение </a:t>
            </a:r>
            <a:r>
              <a:rPr lang="ru-RU" sz="2400" b="1" dirty="0" err="1"/>
              <a:t>нереляционных</a:t>
            </a:r>
            <a:r>
              <a:rPr lang="ru-RU" sz="2400" b="1" dirty="0"/>
              <a:t> СУБД</a:t>
            </a:r>
            <a:r>
              <a:rPr lang="ru-RU" sz="2400" dirty="0"/>
              <a:t> в 2000-е годы произошло из-за необходимости создания параллельных распределённых систем для </a:t>
            </a:r>
            <a:r>
              <a:rPr lang="ru-RU" sz="2400" dirty="0" err="1"/>
              <a:t>высокомасштабируемых</a:t>
            </a:r>
            <a:r>
              <a:rPr lang="ru-RU" sz="2400" dirty="0"/>
              <a:t> интернет-приложений, таких как поисковые системы. Например:</a:t>
            </a:r>
            <a:endParaRPr lang="en-US" sz="2400" dirty="0"/>
          </a:p>
          <a:p>
            <a:r>
              <a:rPr lang="ru-RU" sz="2400" b="1" dirty="0"/>
              <a:t>В начале 2000-х годов</a:t>
            </a:r>
            <a:r>
              <a:rPr lang="ru-RU" sz="2400" dirty="0"/>
              <a:t> Google построил </a:t>
            </a:r>
            <a:r>
              <a:rPr lang="ru-RU" sz="2400" dirty="0" err="1"/>
              <a:t>высокомасштабируемую</a:t>
            </a:r>
            <a:r>
              <a:rPr lang="ru-RU" sz="2400" dirty="0"/>
              <a:t> поисковую систему и приложения (</a:t>
            </a:r>
            <a:r>
              <a:rPr lang="ru-RU" sz="2400" dirty="0" err="1"/>
              <a:t>GMail</a:t>
            </a:r>
            <a:r>
              <a:rPr lang="ru-RU" sz="2400" dirty="0"/>
              <a:t>, Maps, Earth и прочие сервисы), решив проблемы масштабируемости и параллельной обработки больших объёмов данных.</a:t>
            </a:r>
            <a:endParaRPr lang="en-US" sz="2400" dirty="0"/>
          </a:p>
          <a:p>
            <a:r>
              <a:rPr lang="ru-RU" sz="2400" b="1" dirty="0"/>
              <a:t>В 2007 году</a:t>
            </a:r>
            <a:r>
              <a:rPr lang="ru-RU" sz="2400" dirty="0"/>
              <a:t> примеру Google последовал Amazon.com, опубликовав статьи о </a:t>
            </a:r>
            <a:r>
              <a:rPr lang="ru-RU" sz="2400" dirty="0" err="1"/>
              <a:t>высокодоступной</a:t>
            </a:r>
            <a:r>
              <a:rPr lang="ru-RU" sz="2400" dirty="0"/>
              <a:t> базе данных Amazon </a:t>
            </a:r>
            <a:r>
              <a:rPr lang="ru-RU" sz="2400" dirty="0" err="1"/>
              <a:t>DynamoDB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1473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Применение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4976445" cy="46220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err="1"/>
              <a:t>NoSQL</a:t>
            </a:r>
            <a:r>
              <a:rPr lang="ru-RU" sz="2000" dirty="0"/>
              <a:t> подходит для различных областей, например:</a:t>
            </a:r>
          </a:p>
          <a:p>
            <a:r>
              <a:rPr lang="ru-RU" sz="2000" b="1" dirty="0"/>
              <a:t>Обработка Big </a:t>
            </a:r>
            <a:r>
              <a:rPr lang="ru-RU" sz="2000" b="1" dirty="0" err="1"/>
              <a:t>data</a:t>
            </a:r>
            <a:r>
              <a:rPr lang="ru-RU" sz="2000" dirty="0"/>
              <a:t> — социальные сети, интернет вещей (</a:t>
            </a:r>
            <a:r>
              <a:rPr lang="ru-RU" sz="2000" dirty="0" err="1"/>
              <a:t>IoT</a:t>
            </a:r>
            <a:r>
              <a:rPr lang="ru-RU" sz="2000" dirty="0"/>
              <a:t>), анализ журналов и логов.</a:t>
            </a:r>
          </a:p>
          <a:p>
            <a:r>
              <a:rPr lang="ru-RU" sz="2000" b="1" dirty="0"/>
              <a:t>Приложения с высокими требованиями к скорости и производительности</a:t>
            </a:r>
            <a:r>
              <a:rPr lang="ru-RU" sz="2000" dirty="0"/>
              <a:t> — стриминговые сервисы, системы рекомендаций в интернет-магазинах, чаты, мессенджеры и игровые платформы.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CD2BF2-A216-4E73-504A-E13B0AE25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426" y="2178168"/>
            <a:ext cx="5856895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50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Виды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1" y="1825626"/>
            <a:ext cx="10591799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err="1"/>
              <a:t>NoSQL</a:t>
            </a:r>
            <a:r>
              <a:rPr lang="ru-RU" sz="2000" dirty="0"/>
              <a:t> поддерживает другие модели хранения информации, например:</a:t>
            </a:r>
          </a:p>
          <a:p>
            <a:r>
              <a:rPr lang="ru-RU" sz="2000" b="1" dirty="0" err="1"/>
              <a:t>Столбцовая</a:t>
            </a:r>
            <a:r>
              <a:rPr lang="ru-RU" sz="2000" b="1" dirty="0"/>
              <a:t> (колоночная)</a:t>
            </a:r>
            <a:r>
              <a:rPr lang="ru-RU" sz="2000" dirty="0"/>
              <a:t> — организована по столбцам, что помогает быстро работать с большими объёмами данных и выбирать только необходимые из них при запросах.</a:t>
            </a:r>
          </a:p>
          <a:p>
            <a:r>
              <a:rPr lang="ru-RU" sz="2000" b="1" dirty="0" err="1"/>
              <a:t>Графовая</a:t>
            </a:r>
            <a:r>
              <a:rPr lang="ru-RU" sz="2000" dirty="0"/>
              <a:t> — информация хранится в виде узлов, рёбер и свойств графов, что даёт возможность моделировать и анализировать связи между данными.</a:t>
            </a:r>
          </a:p>
          <a:p>
            <a:r>
              <a:rPr lang="ru-RU" sz="2000" b="1" dirty="0" err="1"/>
              <a:t>Документо</a:t>
            </a:r>
            <a:r>
              <a:rPr lang="ru-RU" sz="2000" b="1" dirty="0"/>
              <a:t>-ориентированная</a:t>
            </a:r>
            <a:r>
              <a:rPr lang="ru-RU" sz="2000" dirty="0"/>
              <a:t> — данные в виде документов, обычно в формате JSON, BSON или XML, что позволяет хранить взаимосвязанную информацию в одном документе.</a:t>
            </a:r>
          </a:p>
          <a:p>
            <a:r>
              <a:rPr lang="ru-RU" sz="2000" b="1" dirty="0"/>
              <a:t>Системы «ключ-значение»</a:t>
            </a:r>
            <a:r>
              <a:rPr lang="ru-RU" sz="2000" dirty="0"/>
              <a:t> — каждая запись имеет уникальный ключ и соответствующее значение, что обеспечивает быстрый доступ к данным. Примеры: </a:t>
            </a:r>
            <a:r>
              <a:rPr lang="ru-RU" sz="2000" dirty="0" err="1"/>
              <a:t>Redis</a:t>
            </a:r>
            <a:r>
              <a:rPr lang="ru-RU" sz="2000" dirty="0"/>
              <a:t>, Amazon </a:t>
            </a:r>
            <a:r>
              <a:rPr lang="ru-RU" sz="2000" dirty="0" err="1"/>
              <a:t>DynamoDB</a:t>
            </a:r>
            <a:r>
              <a:rPr lang="ru-R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126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Столбцовая</a:t>
            </a:r>
            <a:r>
              <a:rPr lang="ru-RU" b="1" dirty="0"/>
              <a:t> (колоночная) 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546675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Суть:</a:t>
            </a:r>
            <a:r>
              <a:rPr lang="ru-RU" dirty="0"/>
              <a:t> данные хранятся не по строкам, а по столбцам. Это облегчает обработку больших массивов данных, особенно при аналитических запросах.</a:t>
            </a:r>
            <a:br>
              <a:rPr lang="ru-RU" dirty="0"/>
            </a:br>
            <a:r>
              <a:rPr lang="ru-RU" b="1" dirty="0"/>
              <a:t>Примеры:</a:t>
            </a:r>
            <a:r>
              <a:rPr lang="ru-RU" dirty="0"/>
              <a:t> </a:t>
            </a:r>
            <a:r>
              <a:rPr lang="ru-RU" dirty="0" err="1"/>
              <a:t>Apache</a:t>
            </a:r>
            <a:r>
              <a:rPr lang="ru-RU" dirty="0"/>
              <a:t> </a:t>
            </a:r>
            <a:r>
              <a:rPr lang="ru-RU" dirty="0" err="1"/>
              <a:t>Cassandra</a:t>
            </a:r>
            <a:r>
              <a:rPr lang="ru-RU" dirty="0"/>
              <a:t>, </a:t>
            </a:r>
            <a:r>
              <a:rPr lang="ru-RU" dirty="0" err="1"/>
              <a:t>HBase</a:t>
            </a:r>
            <a:r>
              <a:rPr lang="ru-RU" dirty="0"/>
              <a:t>, </a:t>
            </a:r>
            <a:r>
              <a:rPr lang="ru-RU" dirty="0" err="1"/>
              <a:t>Google</a:t>
            </a:r>
            <a:r>
              <a:rPr lang="ru-RU" dirty="0"/>
              <a:t> </a:t>
            </a:r>
            <a:r>
              <a:rPr lang="ru-RU" dirty="0" err="1"/>
              <a:t>Bigtable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/>
              <a:t>Особенности:</a:t>
            </a:r>
            <a:endParaRPr lang="ru-RU" dirty="0"/>
          </a:p>
          <a:p>
            <a:r>
              <a:rPr lang="ru-RU" dirty="0"/>
              <a:t>данные группируются по колонкам, что позволяет эффективно обрабатывать запросы к большим наборам информации;</a:t>
            </a:r>
          </a:p>
          <a:p>
            <a:r>
              <a:rPr lang="ru-RU" dirty="0"/>
              <a:t>поддерживают распределённое хранение;</a:t>
            </a:r>
          </a:p>
          <a:p>
            <a:r>
              <a:rPr lang="ru-RU" dirty="0"/>
              <a:t>хорошо подходят для масштабирования в кластерах.</a:t>
            </a:r>
          </a:p>
          <a:p>
            <a:pPr marL="0" indent="0">
              <a:buNone/>
            </a:pPr>
            <a:r>
              <a:rPr lang="ru-RU" b="1" dirty="0"/>
              <a:t>Применение:</a:t>
            </a:r>
            <a:endParaRPr lang="ru-RU" dirty="0"/>
          </a:p>
          <a:p>
            <a:r>
              <a:rPr lang="ru-RU" dirty="0"/>
              <a:t>аналитика больших данных;</a:t>
            </a:r>
          </a:p>
          <a:p>
            <a:r>
              <a:rPr lang="ru-RU" dirty="0"/>
              <a:t>системы мониторинга;</a:t>
            </a:r>
          </a:p>
          <a:p>
            <a:r>
              <a:rPr lang="ru-RU" dirty="0"/>
              <a:t>проекты, где важна высокая скорость записи и чтения по определённым полям.</a:t>
            </a:r>
          </a:p>
          <a:p>
            <a:endParaRPr lang="ru-RU" dirty="0"/>
          </a:p>
        </p:txBody>
      </p:sp>
      <p:pic>
        <p:nvPicPr>
          <p:cNvPr id="5" name="Объект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875" y="1825625"/>
            <a:ext cx="3309264" cy="386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14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Графовые</a:t>
            </a:r>
            <a:r>
              <a:rPr lang="ru-RU" b="1" dirty="0"/>
              <a:t> 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2374" y="1592711"/>
            <a:ext cx="6830683" cy="49001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Суть:</a:t>
            </a:r>
            <a:r>
              <a:rPr lang="ru-RU" dirty="0"/>
              <a:t> данные представляются в виде узлов (вершин) и связей (рёбер). Это позволяет моделировать сложные взаимосвязи между объектами.</a:t>
            </a:r>
            <a:br>
              <a:rPr lang="ru-RU" dirty="0"/>
            </a:br>
            <a:r>
              <a:rPr lang="ru-RU" b="1" dirty="0"/>
              <a:t>Примеры:</a:t>
            </a:r>
            <a:r>
              <a:rPr lang="ru-RU" dirty="0"/>
              <a:t> Neo4j, </a:t>
            </a:r>
            <a:r>
              <a:rPr lang="ru-RU" dirty="0" err="1"/>
              <a:t>OrientDB</a:t>
            </a:r>
            <a:r>
              <a:rPr lang="ru-RU" dirty="0"/>
              <a:t>, </a:t>
            </a:r>
            <a:r>
              <a:rPr lang="ru-RU" dirty="0" err="1"/>
              <a:t>ArangoDB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/>
              <a:t>Особенности:</a:t>
            </a:r>
            <a:endParaRPr lang="ru-RU" dirty="0"/>
          </a:p>
          <a:p>
            <a:r>
              <a:rPr lang="ru-RU" dirty="0"/>
              <a:t>в отличие от реляционных БД, </a:t>
            </a:r>
            <a:r>
              <a:rPr lang="ru-RU" dirty="0" err="1"/>
              <a:t>графовые</a:t>
            </a:r>
            <a:r>
              <a:rPr lang="ru-RU" dirty="0"/>
              <a:t> ориентированы на хранение связей как объектов первого класса;</a:t>
            </a:r>
          </a:p>
          <a:p>
            <a:r>
              <a:rPr lang="ru-RU" dirty="0"/>
              <a:t>удобны для запросов вида «найти кратчайший путь» или «вывести всех связанных с этим узлом пользователей»;</a:t>
            </a:r>
          </a:p>
          <a:p>
            <a:r>
              <a:rPr lang="ru-RU" dirty="0"/>
              <a:t>используют языки запросов, например </a:t>
            </a:r>
            <a:r>
              <a:rPr lang="ru-RU" dirty="0" err="1"/>
              <a:t>Cypher</a:t>
            </a:r>
            <a:r>
              <a:rPr lang="ru-RU" dirty="0"/>
              <a:t> (Neo4j).</a:t>
            </a:r>
          </a:p>
          <a:p>
            <a:pPr marL="0" indent="0">
              <a:buNone/>
            </a:pPr>
            <a:r>
              <a:rPr lang="ru-RU" b="1" dirty="0"/>
              <a:t>Применение:</a:t>
            </a:r>
            <a:endParaRPr lang="ru-RU" dirty="0"/>
          </a:p>
          <a:p>
            <a:r>
              <a:rPr lang="ru-RU" dirty="0"/>
              <a:t>социальные сети (друзья, подписчики, лайки);</a:t>
            </a:r>
          </a:p>
          <a:p>
            <a:r>
              <a:rPr lang="ru-RU" dirty="0"/>
              <a:t>рекомендательные системы (товары, фильмы, музыка);</a:t>
            </a:r>
          </a:p>
          <a:p>
            <a:r>
              <a:rPr lang="ru-RU" dirty="0"/>
              <a:t>системы для анализа сетей (маршруты, связи в телекоммуникациях).</a:t>
            </a:r>
          </a:p>
          <a:p>
            <a:endParaRPr lang="ru-RU" dirty="0"/>
          </a:p>
        </p:txBody>
      </p:sp>
      <p:pic>
        <p:nvPicPr>
          <p:cNvPr id="11268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077" y="2082149"/>
            <a:ext cx="4706549" cy="342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306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Документо</a:t>
            </a:r>
            <a:r>
              <a:rPr lang="ru-RU" b="1" dirty="0"/>
              <a:t>-ориентированные 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173" y="1868757"/>
            <a:ext cx="7125419" cy="476495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Суть:</a:t>
            </a:r>
            <a:r>
              <a:rPr lang="ru-RU" dirty="0"/>
              <a:t> данные хранятся в виде документов, чаще всего в формате JSON, BSON или XML. Каждый документ может иметь уникальную структуру, и разные документы в одной коллекции могут содержать разные поля.</a:t>
            </a:r>
            <a:br>
              <a:rPr lang="ru-RU" dirty="0"/>
            </a:br>
            <a:r>
              <a:rPr lang="ru-RU" b="1" dirty="0"/>
              <a:t>Примеры:</a:t>
            </a:r>
            <a:r>
              <a:rPr lang="ru-RU" dirty="0"/>
              <a:t> </a:t>
            </a:r>
            <a:r>
              <a:rPr lang="ru-RU" dirty="0" err="1"/>
              <a:t>MongoDB</a:t>
            </a:r>
            <a:r>
              <a:rPr lang="ru-RU" dirty="0"/>
              <a:t>, </a:t>
            </a:r>
            <a:r>
              <a:rPr lang="ru-RU" dirty="0" err="1"/>
              <a:t>CouchDB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/>
              <a:t>Особенности:</a:t>
            </a:r>
            <a:endParaRPr lang="ru-RU" dirty="0"/>
          </a:p>
          <a:p>
            <a:r>
              <a:rPr lang="ru-RU" dirty="0"/>
              <a:t>данные объединяются в коллекции, аналог таблиц в реляционных БД, но без жёсткой схемы;</a:t>
            </a:r>
          </a:p>
          <a:p>
            <a:r>
              <a:rPr lang="ru-RU" dirty="0"/>
              <a:t>каждый документ самодостаточен и может содержать вложенные объекты и массивы;</a:t>
            </a:r>
          </a:p>
          <a:p>
            <a:r>
              <a:rPr lang="ru-RU" dirty="0"/>
              <a:t>удобны для работы с динамически меняющимися данными.</a:t>
            </a:r>
          </a:p>
          <a:p>
            <a:pPr marL="0" indent="0">
              <a:buNone/>
            </a:pPr>
            <a:r>
              <a:rPr lang="ru-RU" b="1" dirty="0"/>
              <a:t>Применение:</a:t>
            </a:r>
            <a:endParaRPr lang="ru-RU" dirty="0"/>
          </a:p>
          <a:p>
            <a:r>
              <a:rPr lang="ru-RU" dirty="0"/>
              <a:t>хранение профилей пользователей;</a:t>
            </a:r>
          </a:p>
          <a:p>
            <a:r>
              <a:rPr lang="ru-RU" dirty="0"/>
              <a:t>контент для веб-приложений;</a:t>
            </a:r>
          </a:p>
          <a:p>
            <a:r>
              <a:rPr lang="ru-RU" dirty="0"/>
              <a:t>данные в формате JSON (например, настройки, сообщения).</a:t>
            </a:r>
          </a:p>
          <a:p>
            <a:endParaRPr lang="ru-RU" dirty="0"/>
          </a:p>
        </p:txBody>
      </p:sp>
      <p:pic>
        <p:nvPicPr>
          <p:cNvPr id="8194" name="Picture 2" descr="https://avatars.mds.yandex.net/i?id=3a4866523e9875895387983431828b91_l-12319966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328" y="2691442"/>
            <a:ext cx="4675751" cy="237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587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БД «ключ–значение»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262004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Суть:</a:t>
            </a:r>
            <a:r>
              <a:rPr lang="ru-RU" dirty="0"/>
              <a:t> данные хранятся в виде пар «ключ–значение». Ключ является уникальным идентификатором, а значение может быть строкой, числом или даже сложным объектом.</a:t>
            </a:r>
            <a:br>
              <a:rPr lang="ru-RU" dirty="0"/>
            </a:br>
            <a:r>
              <a:rPr lang="ru-RU" b="1" dirty="0"/>
              <a:t>Примеры:</a:t>
            </a:r>
            <a:r>
              <a:rPr lang="ru-RU" dirty="0"/>
              <a:t> </a:t>
            </a:r>
            <a:r>
              <a:rPr lang="ru-RU" dirty="0" err="1"/>
              <a:t>Redis</a:t>
            </a:r>
            <a:r>
              <a:rPr lang="ru-RU" dirty="0"/>
              <a:t>, </a:t>
            </a:r>
            <a:r>
              <a:rPr lang="ru-RU" dirty="0" err="1"/>
              <a:t>Riak</a:t>
            </a:r>
            <a:r>
              <a:rPr lang="ru-RU" dirty="0"/>
              <a:t>, </a:t>
            </a:r>
            <a:r>
              <a:rPr lang="ru-RU" dirty="0" err="1"/>
              <a:t>Amazon</a:t>
            </a:r>
            <a:r>
              <a:rPr lang="ru-RU" dirty="0"/>
              <a:t> </a:t>
            </a:r>
            <a:r>
              <a:rPr lang="ru-RU" dirty="0" err="1"/>
              <a:t>DynamoDB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/>
              <a:t>Особенности:</a:t>
            </a:r>
            <a:endParaRPr lang="ru-RU" dirty="0"/>
          </a:p>
          <a:p>
            <a:r>
              <a:rPr lang="ru-RU" dirty="0"/>
              <a:t>простая модель хранения;</a:t>
            </a:r>
          </a:p>
          <a:p>
            <a:r>
              <a:rPr lang="ru-RU" dirty="0"/>
              <a:t>очень высокая скорость доступа;</a:t>
            </a:r>
          </a:p>
          <a:p>
            <a:r>
              <a:rPr lang="ru-RU" dirty="0"/>
              <a:t>не требуется сложная структура;</a:t>
            </a:r>
          </a:p>
          <a:p>
            <a:r>
              <a:rPr lang="ru-RU" dirty="0"/>
              <a:t>хорошо масштабируются.</a:t>
            </a:r>
          </a:p>
          <a:p>
            <a:pPr marL="0" indent="0">
              <a:buNone/>
            </a:pPr>
            <a:r>
              <a:rPr lang="ru-RU" b="1" dirty="0"/>
              <a:t>Применение:</a:t>
            </a:r>
            <a:endParaRPr lang="ru-RU" dirty="0"/>
          </a:p>
          <a:p>
            <a:r>
              <a:rPr lang="ru-RU" dirty="0"/>
              <a:t>кэширование данных;</a:t>
            </a:r>
          </a:p>
          <a:p>
            <a:r>
              <a:rPr lang="ru-RU" dirty="0"/>
              <a:t>хранение сессий пользователей;</a:t>
            </a:r>
          </a:p>
          <a:p>
            <a:r>
              <a:rPr lang="ru-RU" dirty="0"/>
              <a:t>быстрый доступ к часто используемой информации.</a:t>
            </a:r>
          </a:p>
          <a:p>
            <a:endParaRPr lang="ru-RU" dirty="0"/>
          </a:p>
        </p:txBody>
      </p:sp>
      <p:pic>
        <p:nvPicPr>
          <p:cNvPr id="9218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958" y="2424906"/>
            <a:ext cx="4290204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549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Сравнение БД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9364936"/>
              </p:ext>
            </p:extLst>
          </p:nvPr>
        </p:nvGraphicFramePr>
        <p:xfrm>
          <a:off x="677334" y="1270000"/>
          <a:ext cx="8596314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8">
                  <a:extLst>
                    <a:ext uri="{9D8B030D-6E8A-4147-A177-3AD203B41FA5}">
                      <a16:colId xmlns:a16="http://schemas.microsoft.com/office/drawing/2014/main" val="984323168"/>
                    </a:ext>
                  </a:extLst>
                </a:gridCol>
                <a:gridCol w="2865438">
                  <a:extLst>
                    <a:ext uri="{9D8B030D-6E8A-4147-A177-3AD203B41FA5}">
                      <a16:colId xmlns:a16="http://schemas.microsoft.com/office/drawing/2014/main" val="1910294301"/>
                    </a:ext>
                  </a:extLst>
                </a:gridCol>
                <a:gridCol w="2865438">
                  <a:extLst>
                    <a:ext uri="{9D8B030D-6E8A-4147-A177-3AD203B41FA5}">
                      <a16:colId xmlns:a16="http://schemas.microsoft.com/office/drawing/2014/main" val="4080774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Критерий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Реляционные БД (</a:t>
                      </a:r>
                      <a:r>
                        <a:rPr lang="en-US" sz="1600"/>
                        <a:t>SQL)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Нереляционные БД (</a:t>
                      </a:r>
                      <a:r>
                        <a:rPr lang="en-US" sz="1600"/>
                        <a:t>NoSQL)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2491019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 dirty="0"/>
                        <a:t>Структура данных</a:t>
                      </a:r>
                      <a:endParaRPr lang="ru-RU" sz="1600" dirty="0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Таблицы (строки и столбцы)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Документы, ключ-значение, графы, колонки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2892101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 dirty="0"/>
                        <a:t>Язык запросов</a:t>
                      </a:r>
                      <a:endParaRPr lang="ru-RU" sz="1600" dirty="0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SQL (</a:t>
                      </a:r>
                      <a:r>
                        <a:rPr lang="ru-RU" sz="1600" dirty="0"/>
                        <a:t>стандарт)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Специфичные API или собственные языки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153312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/>
                        <a:t>Масштабируемость</a:t>
                      </a:r>
                      <a:endParaRPr lang="ru-RU" sz="1600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Вертикальная (усиление одного сервера)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Горизонтальная (добавление серверов)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4119221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/>
                        <a:t>Схема данных</a:t>
                      </a:r>
                      <a:endParaRPr lang="ru-RU" sz="1600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Жёстко задана (нужно описывать таблицы)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Гибкая, можно изменять структуру «на лету»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883368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/>
                        <a:t>Тип данных</a:t>
                      </a:r>
                      <a:endParaRPr lang="ru-RU" sz="1600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Хорошо структурированные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Подходит для неструктурированных и больших данных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2455486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/>
                        <a:t>Согласованность данных</a:t>
                      </a:r>
                      <a:endParaRPr lang="ru-RU" sz="1600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ACID (атомарность, согласованность, изолированность, надёжность)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BASE (более гибкая модель, допускает временную несогласованность)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2211009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/>
                        <a:t>Примеры</a:t>
                      </a:r>
                      <a:endParaRPr lang="ru-RU" sz="1600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Oracle, MySQL, PostgreSQL, MS SQL Server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MongoDB, Cassandra, </a:t>
                      </a:r>
                      <a:r>
                        <a:rPr lang="en-US" sz="1600" dirty="0" err="1"/>
                        <a:t>Redis</a:t>
                      </a:r>
                      <a:r>
                        <a:rPr lang="en-US" sz="1600" dirty="0"/>
                        <a:t>, Neo4j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3828434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5622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70000" indent="457200">
              <a:lnSpc>
                <a:spcPct val="160000"/>
              </a:lnSpc>
              <a:buNone/>
            </a:pPr>
            <a:r>
              <a:rPr lang="ru-RU" dirty="0" err="1"/>
              <a:t>Нереляционные</a:t>
            </a:r>
            <a:r>
              <a:rPr lang="ru-RU" dirty="0"/>
              <a:t> базы данных не являются заменой реляционных, а скорее дополняют их. В современном мире часто применяется </a:t>
            </a:r>
            <a:r>
              <a:rPr lang="ru-RU" b="1" dirty="0"/>
              <a:t>гибридный подход</a:t>
            </a:r>
            <a:r>
              <a:rPr lang="ru-RU" dirty="0"/>
              <a:t>: реляционные СУБД используются для строгих транзакционных данных (банки, бухгалтерия), а </a:t>
            </a:r>
            <a:r>
              <a:rPr lang="ru-RU" dirty="0" err="1"/>
              <a:t>NoSQL</a:t>
            </a:r>
            <a:r>
              <a:rPr lang="ru-RU" dirty="0"/>
              <a:t> — для масштабируемых и гибких систем (</a:t>
            </a:r>
            <a:r>
              <a:rPr lang="ru-RU" dirty="0" err="1"/>
              <a:t>соцсети</a:t>
            </a:r>
            <a:r>
              <a:rPr lang="ru-RU" dirty="0"/>
              <a:t>, потоковые сервисы, аналитика больших данных).</a:t>
            </a:r>
          </a:p>
          <a:p>
            <a:pPr marL="270000" indent="457200">
              <a:lnSpc>
                <a:spcPct val="160000"/>
              </a:lnSpc>
              <a:buNone/>
            </a:pPr>
            <a:r>
              <a:rPr lang="ru-RU" dirty="0"/>
              <a:t>История развития </a:t>
            </a:r>
            <a:r>
              <a:rPr lang="ru-RU" dirty="0" err="1"/>
              <a:t>нереляционных</a:t>
            </a:r>
            <a:r>
              <a:rPr lang="ru-RU" dirty="0"/>
              <a:t> БД показывает, что они возникли как ответ на новые вызовы — рост интернета, разнообразие данных и необходимость обработки информации в реальном времени. Сегодня их роль продолжает расти, а вместе с ними развивается и сама информационная инфраструктура.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780642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112</TotalTime>
  <Words>971</Words>
  <Application>Microsoft Office PowerPoint</Application>
  <PresentationFormat>Широкоэкранный</PresentationFormat>
  <Paragraphs>93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Аспект</vt:lpstr>
      <vt:lpstr>История развития нереляционных БД</vt:lpstr>
      <vt:lpstr>Что такое нереляционные БД</vt:lpstr>
      <vt:lpstr>Нереляционные базы данных (NoSQL)</vt:lpstr>
      <vt:lpstr>История развития нереляционных БД</vt:lpstr>
      <vt:lpstr>Этапы – появление термина NoSQL</vt:lpstr>
      <vt:lpstr>Распространение нереляционных СУБД</vt:lpstr>
      <vt:lpstr>Применение</vt:lpstr>
      <vt:lpstr>Виды</vt:lpstr>
      <vt:lpstr>Столбцовая (колоночная) БД</vt:lpstr>
      <vt:lpstr>Графовые БД</vt:lpstr>
      <vt:lpstr>Документо-ориентированные БД</vt:lpstr>
      <vt:lpstr>БД «ключ–значение»</vt:lpstr>
      <vt:lpstr>Сравнение БД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развития нереляционных БД</dc:title>
  <dc:creator>Artyom Voronin</dc:creator>
  <cp:lastModifiedBy>Дмитрий Власов</cp:lastModifiedBy>
  <cp:revision>16</cp:revision>
  <dcterms:created xsi:type="dcterms:W3CDTF">2025-09-21T13:24:49Z</dcterms:created>
  <dcterms:modified xsi:type="dcterms:W3CDTF">2025-09-22T15:12:09Z</dcterms:modified>
</cp:coreProperties>
</file>