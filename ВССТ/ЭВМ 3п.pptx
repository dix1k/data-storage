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60" r:id="rId4"/>
    <p:sldId id="267" r:id="rId5"/>
    <p:sldId id="266" r:id="rId6"/>
    <p:sldId id="261" r:id="rId7"/>
    <p:sldId id="259" r:id="rId8"/>
    <p:sldId id="262" r:id="rId9"/>
    <p:sldId id="265" r:id="rId10"/>
    <p:sldId id="264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C10BD1-7ED8-4D0C-A7E1-61B53164AC40}" type="datetimeFigureOut">
              <a:rPr lang="ru-RU" smtClean="0"/>
              <a:t>24.09.2024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15122-CC70-4140-BBCA-9450DB2837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02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DC2D-06DB-4CD0-BF39-04682551324F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1AC74F1-7461-475C-B82F-D28674AEC5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194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1B98A-B059-40A8-9B63-D055C0ECC80D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4F1-7461-475C-B82F-D28674AEC5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54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5CAA-D503-422A-ABBF-5497905FE631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1AC74F1-7461-475C-B82F-D28674AEC5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8729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92775-F3E3-4030-80E0-D20663D97C0E}" type="datetime1">
              <a:rPr lang="ru-RU" smtClean="0"/>
              <a:t>24.09.2024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1AC74F1-7461-475C-B82F-D28674AEC5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9850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56E70-172E-41AB-934F-8A95A5CA48A1}" type="datetime1">
              <a:rPr lang="ru-RU" smtClean="0"/>
              <a:t>24.09.2024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1AC74F1-7461-475C-B82F-D28674AEC5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983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4702F-177C-4BA1-872E-A1604F21750C}" type="datetime1">
              <a:rPr lang="ru-RU" smtClean="0"/>
              <a:t>24.09.2024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4F1-7461-475C-B82F-D28674AEC5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4547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B1EEE-37F3-4419-85B3-00D43C2C4E9E}" type="datetime1">
              <a:rPr lang="ru-RU" smtClean="0"/>
              <a:t>24.09.2024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4F1-7461-475C-B82F-D28674AEC5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81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4BF8-2EA6-4BFD-B957-E49AE22A909A}" type="datetime1">
              <a:rPr lang="ru-RU" smtClean="0"/>
              <a:t>24.09.2024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4F1-7461-475C-B82F-D28674AEC5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223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4991-0D6D-4C85-8664-7157C2E6EF6A}" type="datetime1">
              <a:rPr lang="ru-RU" smtClean="0"/>
              <a:t>24.09.2024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1AC74F1-7461-475C-B82F-D28674AEC5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765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EA4AC-8C83-45F8-B7B7-B144557A6008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1AC74F1-7461-475C-B82F-D28674AEC5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6467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96A7B-C99F-4EF3-ABCF-C7DE4A9F9DFD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1AC74F1-7461-475C-B82F-D28674AEC5BF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7736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0EB34-FA6B-47D0-94D7-468B7EA858C6}" type="datetime1">
              <a:rPr lang="ru-RU" smtClean="0"/>
              <a:t>24.09.2024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1AC74F1-7461-475C-B82F-D28674AEC5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91040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A4F88-6436-4B14-895D-566DDA143137}" type="datetime1">
              <a:rPr lang="ru-RU" smtClean="0"/>
              <a:t>24.09.2024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1AC74F1-7461-475C-B82F-D28674AEC5BF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5225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151F4-49CC-4568-A562-16FFCBE567BB}" type="datetime1">
              <a:rPr lang="ru-RU" smtClean="0"/>
              <a:t>24.09.2024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1AC74F1-7461-475C-B82F-D28674AEC5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1812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1B0CD-CF8F-4770-BF73-FD5A62EAE170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4F1-7461-475C-B82F-D28674AEC5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22170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C8823-3C6C-4E00-BF72-9A38C67DE07B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4F1-7461-475C-B82F-D28674AEC5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9766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43716-A63E-4883-94F8-4CE9EA4DAD46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1AC74F1-7461-475C-B82F-D28674AEC5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920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D8CB09-ECC1-D688-6F4B-A6B3C9A4A5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Третье поколение ЭВМ (1960-е – 1970-е годы)</a:t>
            </a:r>
          </a:p>
        </p:txBody>
      </p:sp>
    </p:spTree>
    <p:extLst>
      <p:ext uri="{BB962C8B-B14F-4D97-AF65-F5344CB8AC3E}">
        <p14:creationId xmlns:p14="http://schemas.microsoft.com/office/powerpoint/2010/main" val="1502027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AED57-D854-342F-B909-F0077DB8E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696" y="299626"/>
            <a:ext cx="4258316" cy="976312"/>
          </a:xfrm>
        </p:spPr>
        <p:txBody>
          <a:bodyPr/>
          <a:lstStyle/>
          <a:p>
            <a:r>
              <a:rPr lang="ru-RU" dirty="0"/>
              <a:t>Что такое ЭВМ третьего поколения?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BC8A01-565C-EADD-004F-EB545CA14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41254" y="1275937"/>
            <a:ext cx="3881758" cy="4585113"/>
          </a:xfrm>
        </p:spPr>
        <p:txBody>
          <a:bodyPr>
            <a:normAutofit fontScale="92500"/>
          </a:bodyPr>
          <a:lstStyle/>
          <a:p>
            <a:r>
              <a:rPr lang="ru-RU" sz="2400" dirty="0"/>
              <a:t>ЭВМ третьего поколения использовали интегральные схемы (ИС).</a:t>
            </a:r>
          </a:p>
          <a:p>
            <a:r>
              <a:rPr lang="ru-RU" sz="2400" dirty="0"/>
              <a:t>Период с середины 1960-х до конца 1970-х годов.</a:t>
            </a:r>
          </a:p>
          <a:p>
            <a:r>
              <a:rPr lang="ru-RU" sz="2400" dirty="0"/>
              <a:t>Интегральные схемы позволили увеличить производительность и уменьшить размеры ЭВМ.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A44B9A-66A5-3794-A088-CD459D14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4F1-7461-475C-B82F-D28674AEC5BF}" type="slidenum">
              <a:rPr lang="ru-RU" smtClean="0"/>
              <a:t>2</a:t>
            </a:fld>
            <a:endParaRPr lang="ru-RU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DC6F2D3F-86E4-42E6-8C2D-5E4D032CDC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012" y="1424210"/>
            <a:ext cx="5661013" cy="3778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667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AED57-D854-342F-B909-F0077DB8E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696" y="299626"/>
            <a:ext cx="4258316" cy="976312"/>
          </a:xfrm>
        </p:spPr>
        <p:txBody>
          <a:bodyPr/>
          <a:lstStyle/>
          <a:p>
            <a:r>
              <a:rPr lang="ru-RU" dirty="0"/>
              <a:t>Интегральные схемы — основа третьего поколения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BC8A01-565C-EADD-004F-EB545CA14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41254" y="1275937"/>
            <a:ext cx="3881758" cy="4585113"/>
          </a:xfrm>
        </p:spPr>
        <p:txBody>
          <a:bodyPr>
            <a:normAutofit fontScale="92500" lnSpcReduction="10000"/>
          </a:bodyPr>
          <a:lstStyle/>
          <a:p>
            <a:r>
              <a:rPr lang="ru-RU" sz="2400" dirty="0"/>
              <a:t>Интегральные схемы объединяли несколько транзисторов и других компонентов в одном кристалле.</a:t>
            </a:r>
          </a:p>
          <a:p>
            <a:r>
              <a:rPr lang="ru-RU" sz="2400" dirty="0"/>
              <a:t>Более высокая скорость, уменьшение размеров, надежности и снижение затрат на производство.</a:t>
            </a:r>
          </a:p>
          <a:p>
            <a:r>
              <a:rPr lang="ru-RU" sz="2400" dirty="0"/>
              <a:t>Компьютеры стали меньше, мощнее и более </a:t>
            </a:r>
            <a:r>
              <a:rPr lang="ru-RU" sz="2400" dirty="0" err="1"/>
              <a:t>энергоэффективны</a:t>
            </a:r>
            <a:r>
              <a:rPr lang="ru-RU" sz="2400" dirty="0"/>
              <a:t>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A44B9A-66A5-3794-A088-CD459D14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4F1-7461-475C-B82F-D28674AEC5BF}" type="slidenum">
              <a:rPr lang="ru-RU" smtClean="0"/>
              <a:t>3</a:t>
            </a:fld>
            <a:endParaRPr lang="ru-RU"/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4D8E563F-6C1A-F160-78E5-75612B84328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013" y="1340406"/>
            <a:ext cx="5898014" cy="4127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5129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E55F8-2359-602E-E26F-631FC20D3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Аппаратная база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73BC1D9-5BDD-12D9-30BE-7CF06EAEA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4F1-7461-475C-B82F-D28674AEC5BF}" type="slidenum">
              <a:rPr lang="ru-RU" smtClean="0"/>
              <a:t>4</a:t>
            </a:fld>
            <a:endParaRPr lang="ru-RU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15138383-3959-C441-C17B-A59F78AA18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925" y="1264555"/>
            <a:ext cx="8105556" cy="533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1771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441AB7-B5BC-23D3-A55B-D3DDC0D1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Структурная схема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B330A0-50B5-D36B-6788-9266C4423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4F1-7461-475C-B82F-D28674AEC5BF}" type="slidenum">
              <a:rPr lang="ru-RU" smtClean="0"/>
              <a:t>5</a:t>
            </a:fld>
            <a:endParaRPr lang="ru-RU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05CB1857-E66C-3218-89C3-18059C9176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579" y="1686275"/>
            <a:ext cx="10487464" cy="4544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6602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AED57-D854-342F-B909-F0077DB8E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696" y="299626"/>
            <a:ext cx="4258316" cy="976312"/>
          </a:xfrm>
        </p:spPr>
        <p:txBody>
          <a:bodyPr/>
          <a:lstStyle/>
          <a:p>
            <a:r>
              <a:rPr lang="ru-RU" dirty="0"/>
              <a:t>Характеристики ЭВМ третьего поколения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A44B9A-66A5-3794-A088-CD459D14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4F1-7461-475C-B82F-D28674AEC5BF}" type="slidenum">
              <a:rPr lang="ru-RU" smtClean="0"/>
              <a:t>6</a:t>
            </a:fld>
            <a:endParaRPr lang="ru-RU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BD335EB9-C997-E197-6460-DF4A0F97CBB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02" t="22803" r="21380" b="4727"/>
          <a:stretch/>
        </p:blipFill>
        <p:spPr bwMode="auto">
          <a:xfrm>
            <a:off x="5858986" y="1783080"/>
            <a:ext cx="1564624" cy="4968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20B5712-43D3-C65C-A40D-AA33130640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13" t="14001" r="73267" b="4368"/>
          <a:stretch/>
        </p:blipFill>
        <p:spPr>
          <a:xfrm>
            <a:off x="3955186" y="1152907"/>
            <a:ext cx="1903800" cy="559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26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AED57-D854-342F-B909-F0077DB8E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696" y="299626"/>
            <a:ext cx="4258316" cy="976312"/>
          </a:xfrm>
        </p:spPr>
        <p:txBody>
          <a:bodyPr/>
          <a:lstStyle/>
          <a:p>
            <a:r>
              <a:rPr lang="ru-RU" dirty="0"/>
              <a:t>Характеристики ЭВМ третьего поколения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BC8A01-565C-EADD-004F-EB545CA14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41254" y="1275937"/>
            <a:ext cx="3881758" cy="4585113"/>
          </a:xfrm>
        </p:spPr>
        <p:txBody>
          <a:bodyPr>
            <a:normAutofit fontScale="92500" lnSpcReduction="10000"/>
          </a:bodyPr>
          <a:lstStyle/>
          <a:p>
            <a:r>
              <a:rPr lang="ru-RU" sz="2400" dirty="0"/>
              <a:t>Значительное уменьшение размеров по сравнению с предыдущими поколениями.</a:t>
            </a:r>
          </a:p>
          <a:p>
            <a:r>
              <a:rPr lang="ru-RU" sz="2400" dirty="0"/>
              <a:t>В несколько раз возросшая производительность.</a:t>
            </a:r>
          </a:p>
          <a:p>
            <a:r>
              <a:rPr lang="ru-RU" sz="2400" dirty="0"/>
              <a:t>Возможность работы в многозадачном режиме.</a:t>
            </a:r>
          </a:p>
          <a:p>
            <a:r>
              <a:rPr lang="ru-RU" sz="2400" dirty="0"/>
              <a:t>Появление оперативной памяти на основе ферритовых ячеек.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A44B9A-66A5-3794-A088-CD459D14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4F1-7461-475C-B82F-D28674AEC5BF}" type="slidenum">
              <a:rPr lang="ru-RU" smtClean="0"/>
              <a:t>7</a:t>
            </a:fld>
            <a:endParaRPr lang="ru-RU"/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A41E32E0-537F-4DE7-581B-726FA2E896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013" y="588677"/>
            <a:ext cx="5181600" cy="5129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7089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AED57-D854-342F-B909-F0077DB8E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696" y="299626"/>
            <a:ext cx="4258316" cy="976312"/>
          </a:xfrm>
        </p:spPr>
        <p:txBody>
          <a:bodyPr/>
          <a:lstStyle/>
          <a:p>
            <a:r>
              <a:rPr lang="ru-RU" dirty="0"/>
              <a:t>Развитие языков программирования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BC8A01-565C-EADD-004F-EB545CA14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41254" y="1275937"/>
            <a:ext cx="3881758" cy="4585113"/>
          </a:xfrm>
        </p:spPr>
        <p:txBody>
          <a:bodyPr>
            <a:normAutofit/>
          </a:bodyPr>
          <a:lstStyle/>
          <a:p>
            <a:r>
              <a:rPr lang="ru-RU" sz="2400" dirty="0"/>
              <a:t>Развитие высокоуровневых языков: C, </a:t>
            </a:r>
            <a:r>
              <a:rPr lang="ru-RU" sz="2400" dirty="0" err="1"/>
              <a:t>Pascal</a:t>
            </a:r>
            <a:r>
              <a:rPr lang="ru-RU" sz="2400" dirty="0"/>
              <a:t>, BASIC.</a:t>
            </a:r>
          </a:p>
          <a:p>
            <a:r>
              <a:rPr lang="ru-RU" sz="2400" dirty="0"/>
              <a:t>Упрощение взаимодействия с компьютером благодаря появлению операционных систем.</a:t>
            </a:r>
          </a:p>
          <a:p>
            <a:r>
              <a:rPr lang="ru-RU" sz="2400" dirty="0"/>
              <a:t>Многоуровневые программы и сложные приложения.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A44B9A-66A5-3794-A088-CD459D14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4F1-7461-475C-B82F-D28674AEC5BF}" type="slidenum">
              <a:rPr lang="ru-RU" smtClean="0"/>
              <a:t>8</a:t>
            </a:fld>
            <a:endParaRPr lang="ru-RU"/>
          </a:p>
        </p:txBody>
      </p:sp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AC80BB4B-4043-9F6C-EFD5-EEC1DB1B89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013" y="2330450"/>
            <a:ext cx="5747068" cy="1825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4577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AED57-D854-342F-B909-F0077DB8E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696" y="299626"/>
            <a:ext cx="4258316" cy="976312"/>
          </a:xfrm>
        </p:spPr>
        <p:txBody>
          <a:bodyPr/>
          <a:lstStyle/>
          <a:p>
            <a:r>
              <a:rPr lang="ru-RU" dirty="0"/>
              <a:t>Появление первых операционных систем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BC8A01-565C-EADD-004F-EB545CA14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41254" y="1275937"/>
            <a:ext cx="3881758" cy="4585113"/>
          </a:xfrm>
        </p:spPr>
        <p:txBody>
          <a:bodyPr>
            <a:normAutofit fontScale="92500" lnSpcReduction="10000"/>
          </a:bodyPr>
          <a:lstStyle/>
          <a:p>
            <a:r>
              <a:rPr lang="ru-RU" sz="2400" dirty="0"/>
              <a:t>Операционные системы управляли аппаратными ресурсами и многозадачностью.</a:t>
            </a:r>
          </a:p>
          <a:p>
            <a:r>
              <a:rPr lang="ru-RU" sz="2400" dirty="0"/>
              <a:t>OS/360 (IBM) — первая массовая операционная система для коммерческих ЭВМ.</a:t>
            </a:r>
          </a:p>
          <a:p>
            <a:r>
              <a:rPr lang="ru-RU" sz="2400" dirty="0"/>
              <a:t>Операционные системы обеспечили возможность работы нескольких программ одновременно.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A44B9A-66A5-3794-A088-CD459D14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4F1-7461-475C-B82F-D28674AEC5BF}" type="slidenum">
              <a:rPr lang="ru-RU" smtClean="0"/>
              <a:t>9</a:t>
            </a:fld>
            <a:endParaRPr lang="ru-RU"/>
          </a:p>
        </p:txBody>
      </p:sp>
      <p:pic>
        <p:nvPicPr>
          <p:cNvPr id="8194" name="Picture 2" descr="Picture background">
            <a:extLst>
              <a:ext uri="{FF2B5EF4-FFF2-40B4-BE49-F238E27FC236}">
                <a16:creationId xmlns:a16="http://schemas.microsoft.com/office/drawing/2014/main" id="{EAF5A1DA-2889-EED1-990B-E031D504D8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013" y="1877561"/>
            <a:ext cx="5842096" cy="287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7250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AED57-D854-342F-B909-F0077DB8E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696" y="299626"/>
            <a:ext cx="4258316" cy="976312"/>
          </a:xfrm>
        </p:spPr>
        <p:txBody>
          <a:bodyPr/>
          <a:lstStyle/>
          <a:p>
            <a:r>
              <a:rPr lang="ru-RU" dirty="0"/>
              <a:t>Важные модели ЭВМ третьего поколения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BC8A01-565C-EADD-004F-EB545CA14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41254" y="1275937"/>
            <a:ext cx="3881758" cy="4585113"/>
          </a:xfrm>
        </p:spPr>
        <p:txBody>
          <a:bodyPr>
            <a:normAutofit/>
          </a:bodyPr>
          <a:lstStyle/>
          <a:p>
            <a:r>
              <a:rPr lang="ru-RU" sz="3200" dirty="0"/>
              <a:t>IBM System/360 (1964) — унифицированная линейка компьютеров, охватывавшая множество сфер применения.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A44B9A-66A5-3794-A088-CD459D14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4F1-7461-475C-B82F-D28674AEC5BF}" type="slidenum">
              <a:rPr lang="ru-RU" smtClean="0"/>
              <a:t>10</a:t>
            </a:fld>
            <a:endParaRPr lang="ru-RU"/>
          </a:p>
        </p:txBody>
      </p:sp>
      <p:pic>
        <p:nvPicPr>
          <p:cNvPr id="11266" name="Picture 2" descr="Picture background">
            <a:extLst>
              <a:ext uri="{FF2B5EF4-FFF2-40B4-BE49-F238E27FC236}">
                <a16:creationId xmlns:a16="http://schemas.microsoft.com/office/drawing/2014/main" id="{6D05EC4A-44AB-7418-521A-A527156251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012" y="1430686"/>
            <a:ext cx="5686305" cy="3781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312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AED57-D854-342F-B909-F0077DB8E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696" y="299626"/>
            <a:ext cx="4258316" cy="976312"/>
          </a:xfrm>
        </p:spPr>
        <p:txBody>
          <a:bodyPr/>
          <a:lstStyle/>
          <a:p>
            <a:r>
              <a:rPr lang="ru-RU" dirty="0"/>
              <a:t>Важные модели ЭВМ третьего поколения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BC8A01-565C-EADD-004F-EB545CA14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41254" y="1275937"/>
            <a:ext cx="3881758" cy="4585113"/>
          </a:xfrm>
        </p:spPr>
        <p:txBody>
          <a:bodyPr>
            <a:normAutofit/>
          </a:bodyPr>
          <a:lstStyle/>
          <a:p>
            <a:r>
              <a:rPr lang="ru-RU" sz="3200" dirty="0"/>
              <a:t>PDP-8 (1965) от Digital Equipment Corporation — первая </a:t>
            </a:r>
            <a:r>
              <a:rPr lang="ru-RU" sz="3200" dirty="0" err="1"/>
              <a:t>мини-ЭВМ</a:t>
            </a:r>
            <a:r>
              <a:rPr lang="ru-RU" sz="3200" dirty="0"/>
              <a:t>, ставшая доступной для бизнеса и научных целей.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A44B9A-66A5-3794-A088-CD459D14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4F1-7461-475C-B82F-D28674AEC5BF}" type="slidenum">
              <a:rPr lang="ru-RU" smtClean="0"/>
              <a:t>11</a:t>
            </a:fld>
            <a:endParaRPr lang="ru-RU"/>
          </a:p>
        </p:txBody>
      </p:sp>
      <p:pic>
        <p:nvPicPr>
          <p:cNvPr id="10242" name="Picture 2" descr="Picture background">
            <a:extLst>
              <a:ext uri="{FF2B5EF4-FFF2-40B4-BE49-F238E27FC236}">
                <a16:creationId xmlns:a16="http://schemas.microsoft.com/office/drawing/2014/main" id="{1CE79C71-CE5E-7C62-A844-A0CFA34F56A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013" y="1210469"/>
            <a:ext cx="51816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5179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AED57-D854-342F-B909-F0077DB8E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696" y="299626"/>
            <a:ext cx="4258316" cy="976312"/>
          </a:xfrm>
        </p:spPr>
        <p:txBody>
          <a:bodyPr/>
          <a:lstStyle/>
          <a:p>
            <a:r>
              <a:rPr lang="ru-RU" dirty="0"/>
              <a:t>Важные модели ЭВМ третьего поколения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BC8A01-565C-EADD-004F-EB545CA14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41254" y="1275937"/>
            <a:ext cx="3881758" cy="4585113"/>
          </a:xfrm>
        </p:spPr>
        <p:txBody>
          <a:bodyPr>
            <a:normAutofit/>
          </a:bodyPr>
          <a:lstStyle/>
          <a:p>
            <a:r>
              <a:rPr lang="ru-RU" sz="3200" dirty="0"/>
              <a:t>БЭСМ-6 (1968) — советская машина для научных и технических расчетов.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A44B9A-66A5-3794-A088-CD459D14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4F1-7461-475C-B82F-D28674AEC5BF}" type="slidenum">
              <a:rPr lang="ru-RU" smtClean="0"/>
              <a:t>12</a:t>
            </a:fld>
            <a:endParaRPr lang="ru-RU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B2758FAA-0403-33B9-3F91-B558887DC1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23012" y="1419892"/>
            <a:ext cx="5680695" cy="380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986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AED57-D854-342F-B909-F0077DB8E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696" y="299626"/>
            <a:ext cx="4258316" cy="976312"/>
          </a:xfrm>
        </p:spPr>
        <p:txBody>
          <a:bodyPr/>
          <a:lstStyle/>
          <a:p>
            <a:r>
              <a:rPr lang="ru-RU" dirty="0"/>
              <a:t>Применение ЭВМ третьего поколения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BC8A01-565C-EADD-004F-EB545CA14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41254" y="1275937"/>
            <a:ext cx="3881758" cy="4585113"/>
          </a:xfrm>
        </p:spPr>
        <p:txBody>
          <a:bodyPr>
            <a:normAutofit fontScale="70000" lnSpcReduction="20000"/>
          </a:bodyPr>
          <a:lstStyle/>
          <a:p>
            <a:r>
              <a:rPr lang="ru-RU" sz="3200" dirty="0"/>
              <a:t>Промышленность и наука: автоматизация процессов, моделирование.</a:t>
            </a:r>
          </a:p>
          <a:p>
            <a:r>
              <a:rPr lang="ru-RU" sz="3200" dirty="0"/>
              <a:t>Бизнес и коммерция: бухгалтерия, обработка данных, планирование.</a:t>
            </a:r>
          </a:p>
          <a:p>
            <a:r>
              <a:rPr lang="ru-RU" sz="3200" dirty="0"/>
              <a:t>Государственные задачи: управление крупными инфраструктурными проектами, оборонные системы.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A44B9A-66A5-3794-A088-CD459D14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4F1-7461-475C-B82F-D28674AEC5BF}" type="slidenum">
              <a:rPr lang="ru-RU" smtClean="0"/>
              <a:t>13</a:t>
            </a:fld>
            <a:endParaRPr lang="ru-RU"/>
          </a:p>
        </p:txBody>
      </p:sp>
      <p:pic>
        <p:nvPicPr>
          <p:cNvPr id="12290" name="Picture 2" descr="Picture background">
            <a:extLst>
              <a:ext uri="{FF2B5EF4-FFF2-40B4-BE49-F238E27FC236}">
                <a16:creationId xmlns:a16="http://schemas.microsoft.com/office/drawing/2014/main" id="{18E796D5-DAF5-C851-BB9D-46EC8BC1B68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013" y="1247018"/>
            <a:ext cx="5181600" cy="381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2616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AED57-D854-342F-B909-F0077DB8E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696" y="299626"/>
            <a:ext cx="4258316" cy="976312"/>
          </a:xfrm>
        </p:spPr>
        <p:txBody>
          <a:bodyPr/>
          <a:lstStyle/>
          <a:p>
            <a:r>
              <a:rPr lang="ru-RU" dirty="0"/>
              <a:t>Преимущества третьего поколения ЭВМ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BC8A01-565C-EADD-004F-EB545CA14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41254" y="1275937"/>
            <a:ext cx="3881758" cy="4585113"/>
          </a:xfrm>
        </p:spPr>
        <p:txBody>
          <a:bodyPr>
            <a:normAutofit fontScale="85000" lnSpcReduction="20000"/>
          </a:bodyPr>
          <a:lstStyle/>
          <a:p>
            <a:r>
              <a:rPr lang="ru-RU" sz="2400" dirty="0"/>
              <a:t>Универсальность благодаря операционным системам.</a:t>
            </a:r>
          </a:p>
          <a:p>
            <a:r>
              <a:rPr lang="ru-RU" sz="2400" dirty="0"/>
              <a:t>Повышенная надежность и сокращение времени простоя.</a:t>
            </a:r>
          </a:p>
          <a:p>
            <a:r>
              <a:rPr lang="ru-RU" sz="2400" dirty="0"/>
              <a:t>Компактность и более низкие затраты на производство и эксплуатацию.</a:t>
            </a:r>
          </a:p>
          <a:p>
            <a:r>
              <a:rPr lang="ru-RU" sz="2400" dirty="0"/>
              <a:t>Многозадачность и улучшение пользовательского опыта благодаря языкам программирования и операционным системам.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A44B9A-66A5-3794-A088-CD459D14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4F1-7461-475C-B82F-D28674AEC5BF}" type="slidenum">
              <a:rPr lang="ru-RU" smtClean="0"/>
              <a:t>14</a:t>
            </a:fld>
            <a:endParaRPr lang="ru-RU"/>
          </a:p>
        </p:txBody>
      </p:sp>
      <p:pic>
        <p:nvPicPr>
          <p:cNvPr id="13314" name="Picture 2" descr="Picture background">
            <a:extLst>
              <a:ext uri="{FF2B5EF4-FFF2-40B4-BE49-F238E27FC236}">
                <a16:creationId xmlns:a16="http://schemas.microsoft.com/office/drawing/2014/main" id="{D727E48B-9C5F-2873-EF11-1786D331EA4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013" y="1210469"/>
            <a:ext cx="51816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2022208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48</TotalTime>
  <Words>340</Words>
  <Application>Microsoft Office PowerPoint</Application>
  <PresentationFormat>Широкоэкранный</PresentationFormat>
  <Paragraphs>53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Century Gothic</vt:lpstr>
      <vt:lpstr>Wingdings 3</vt:lpstr>
      <vt:lpstr>Легкий дым</vt:lpstr>
      <vt:lpstr>Третье поколение ЭВМ (1960-е – 1970-е годы)</vt:lpstr>
      <vt:lpstr>Что такое ЭВМ третьего поколения?</vt:lpstr>
      <vt:lpstr>Интегральные схемы — основа третьего поколения</vt:lpstr>
      <vt:lpstr>Аппаратная база</vt:lpstr>
      <vt:lpstr>Структурная схема</vt:lpstr>
      <vt:lpstr>Характеристики ЭВМ третьего поколения</vt:lpstr>
      <vt:lpstr>Характеристики ЭВМ третьего поколения</vt:lpstr>
      <vt:lpstr>Развитие языков программирования</vt:lpstr>
      <vt:lpstr>Появление первых операционных систем</vt:lpstr>
      <vt:lpstr>Важные модели ЭВМ третьего поколения</vt:lpstr>
      <vt:lpstr>Важные модели ЭВМ третьего поколения</vt:lpstr>
      <vt:lpstr>Важные модели ЭВМ третьего поколения</vt:lpstr>
      <vt:lpstr>Применение ЭВМ третьего поколения</vt:lpstr>
      <vt:lpstr>Преимущества третьего поколения ЭВМ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Dix1k</dc:creator>
  <cp:lastModifiedBy>Dix1k</cp:lastModifiedBy>
  <cp:revision>1</cp:revision>
  <dcterms:created xsi:type="dcterms:W3CDTF">2024-09-24T13:35:23Z</dcterms:created>
  <dcterms:modified xsi:type="dcterms:W3CDTF">2024-09-24T14:23:41Z</dcterms:modified>
</cp:coreProperties>
</file>