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7" r:id="rId8"/>
    <p:sldId id="268" r:id="rId9"/>
    <p:sldId id="263" r:id="rId10"/>
    <p:sldId id="264" r:id="rId11"/>
    <p:sldId id="265" r:id="rId12"/>
    <p:sldId id="266" r:id="rId13"/>
    <p:sldId id="269" r:id="rId14"/>
    <p:sldId id="277" r:id="rId15"/>
    <p:sldId id="278" r:id="rId16"/>
    <p:sldId id="270" r:id="rId17"/>
    <p:sldId id="271" r:id="rId18"/>
    <p:sldId id="272" r:id="rId19"/>
    <p:sldId id="273" r:id="rId20"/>
    <p:sldId id="275" r:id="rId21"/>
    <p:sldId id="276" r:id="rId22"/>
    <p:sldId id="279" r:id="rId23"/>
    <p:sldId id="280" r:id="rId24"/>
    <p:sldId id="281" r:id="rId25"/>
    <p:sldId id="282" r:id="rId26"/>
    <p:sldId id="283" r:id="rId27"/>
    <p:sldId id="285" r:id="rId28"/>
    <p:sldId id="286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66A6B2-9343-46DB-8681-472144222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135187-A282-2BAE-61F6-0C440C675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4D5442-ADFB-CF5A-65A4-603CAF7B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571D2-9B21-9F38-E88E-F86A451E9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6ACF9-DA5B-7D4D-D7DD-C140B036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73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1089E-946C-2D24-14DD-131DB7EEB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ED2DF4-0FF4-5986-C576-340C55F2E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670E08-D1BB-3DEB-02FD-521BC7CEE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C41211-2D67-3069-8CF9-836B2B99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878230-12D7-4DB0-5AA1-70482477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48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0C1D59-7B2E-FAE3-3ACD-F188C70C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E4DF9C-5965-3FE6-5553-399526AD4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4E5EC1-1ED0-CDD7-99FC-13B68D21C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4D5707-DA12-78E2-8658-26C3C601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CE58F4-73C6-002C-EB93-0A27ABC7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034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474-3A20-0138-9F92-01F3201D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491F19-FAD9-393E-7B8A-A750C3B50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97C8195-8704-AF7F-41FA-40815F260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334F0EC-6FC2-323A-7B05-4B0ACE2A6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43C381-6651-2477-FDC8-4110F3AA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4070E4-FD79-EF0E-FB9A-DBA8DF6D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434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91161-3EEF-9E32-15E1-38DBBE055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3AE230-5FA7-513B-C945-DFFA88CAD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B6EAF3-3133-8970-C478-76743BAFA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43C4FF-89D9-19D5-1E50-7017AEC04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B9E28F-B9FD-B5B6-84FC-7AF36DE5F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658EAD-D491-F3E4-30FF-0334A299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C7C5A5F-C653-926F-57B9-72C642C4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4C7BB9-C310-55B0-E83D-3545C874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04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9DE521-496D-C3C2-CC81-E504ADF6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6939B7A-6CD7-4987-83FA-C8448526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548D57-B55C-BA55-2048-69F15C78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2D1610-125E-CCEC-2379-A6E512391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779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986F9C2-32BE-E125-D550-EB78C11A5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455E1F-C04C-9E19-4BF5-DA8B712C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2562ED-40A9-9B3D-F412-36BEEDDA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752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E2DE8-926D-12F3-C9E3-CB6006392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C18E83-B65A-482A-08E9-6259166DE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5F96C0-28AB-4E77-BD30-F38C57290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3C8F59-E6B6-FD76-F23B-02A45492B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BFDF68-925B-EE4B-9463-A61B7DBE0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322CF3-78F3-73AD-B1F2-4607C516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92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1386A7-1946-E481-4794-4752D42D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695B73-7323-2CA5-B6D5-EAB7D5520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7A9977-6133-C810-7CFD-7D69E428B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C48943-EB3B-7DF4-1FD9-A5D3903A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2CAD0C-52EB-2672-C6CC-F9E4A2483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42F59C-9B37-902F-3281-8E4998A3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88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EE9A6-9677-07B0-E3F1-4E0FA34D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0525E6-C69B-FAC4-B57D-9BF623311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89D81D-DCA8-259D-BF62-8C145F21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4ECB04-7E31-CA61-05A5-808BC613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E12970-B0C5-BB27-57E5-851C7C436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016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B04A67D-73C2-1A9E-1E9B-2AC7E2BF0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68BDA8-7FA3-9B01-E264-1A8963B5B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0F0674-AD0B-E0D7-BA8D-16030C32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2ADED5-A439-2717-7B16-B1834907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95DAA4-8E0F-5016-CA24-F805A2D6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449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B32EF-5908-0608-C5F3-390D448D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80F71C-592D-CB93-9CA4-884A545C5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E2184-7D31-66A7-78CB-6743C64107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B4AEA-7E17-4E46-ADD1-59F4E69270D7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5E8874-AF62-AA38-74C2-28F80F1F9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993823-E4DE-475A-DC03-FE4681FE4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128CC-FA21-450E-8C6E-4C5E195B6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3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545A9-9A75-53F9-706B-ABD6742AC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Мониторы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C95B97-4D0D-6751-49EE-7221ED2E2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97" y="5444155"/>
            <a:ext cx="6184776" cy="1120882"/>
          </a:xfrm>
        </p:spPr>
        <p:txBody>
          <a:bodyPr/>
          <a:lstStyle/>
          <a:p>
            <a:r>
              <a:rPr lang="ru-RU" dirty="0"/>
              <a:t>Авторы: Власов Дмитрий и Воронин Артём</a:t>
            </a:r>
          </a:p>
          <a:p>
            <a:r>
              <a:rPr lang="ru-RU" dirty="0"/>
              <a:t>Группа: ПИНб-21</a:t>
            </a:r>
          </a:p>
        </p:txBody>
      </p:sp>
    </p:spTree>
    <p:extLst>
      <p:ext uri="{BB962C8B-B14F-4D97-AF65-F5344CB8AC3E}">
        <p14:creationId xmlns:p14="http://schemas.microsoft.com/office/powerpoint/2010/main" val="976203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30B8968-D1BE-8B4F-8CFC-7C8EAACE4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ADA986-099F-8A3C-D256-78F5D5749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95363"/>
            <a:ext cx="3932237" cy="4873625"/>
          </a:xfrm>
        </p:spPr>
        <p:txBody>
          <a:bodyPr>
            <a:normAutofit lnSpcReduction="10000"/>
          </a:bodyPr>
          <a:lstStyle/>
          <a:p>
            <a:r>
              <a:rPr lang="ru-RU" sz="2800" b="1" dirty="0"/>
              <a:t>Монитор</a:t>
            </a:r>
            <a:r>
              <a:rPr lang="ru-RU" sz="2800" dirty="0"/>
              <a:t> — это устройство для отображения визуальной информации, которое используется в компьютерах и других устройствах. Он принимает видеосигналы и преобразует их в графические изображения, текст и видео.</a:t>
            </a:r>
          </a:p>
        </p:txBody>
      </p:sp>
    </p:spTree>
    <p:extLst>
      <p:ext uri="{BB962C8B-B14F-4D97-AF65-F5344CB8AC3E}">
        <p14:creationId xmlns:p14="http://schemas.microsoft.com/office/powerpoint/2010/main" val="3072229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379DC-5332-EBBA-2C5A-E2B56561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функции монитора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39F341-B23F-40C6-AD31-9A3EC7258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6128" y="1825625"/>
            <a:ext cx="3879541" cy="4351338"/>
          </a:xfrm>
        </p:spPr>
        <p:txBody>
          <a:bodyPr>
            <a:normAutofit/>
          </a:bodyPr>
          <a:lstStyle/>
          <a:p>
            <a:r>
              <a:rPr lang="ru-RU" b="1" dirty="0"/>
              <a:t>Отображение данных</a:t>
            </a:r>
            <a:r>
              <a:rPr lang="ru-RU" dirty="0"/>
              <a:t>: Показывает информацию, которую обрабатывает компьютер, например, текстовые документы, изображения и видео.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FEF9C5-FE9B-EA6F-0C45-EB946BCB2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73987" y="1825625"/>
            <a:ext cx="3648723" cy="4351338"/>
          </a:xfrm>
        </p:spPr>
        <p:txBody>
          <a:bodyPr>
            <a:normAutofit/>
          </a:bodyPr>
          <a:lstStyle/>
          <a:p>
            <a:r>
              <a:rPr lang="ru-RU" b="1" dirty="0"/>
              <a:t>Разнообразие форматов</a:t>
            </a:r>
            <a:r>
              <a:rPr lang="ru-RU" dirty="0"/>
              <a:t>: Мониторы могут быть разных форматов и размеров, от маленьких экранов для ноутбуков до больших дисплеев для работы и игр.</a:t>
            </a:r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453BF278-016F-5BFC-25E9-3F6A988ADE9E}"/>
              </a:ext>
            </a:extLst>
          </p:cNvPr>
          <p:cNvSpPr txBox="1">
            <a:spLocks/>
          </p:cNvSpPr>
          <p:nvPr/>
        </p:nvSpPr>
        <p:spPr>
          <a:xfrm>
            <a:off x="4385569" y="1825625"/>
            <a:ext cx="363984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Взаимодействие с пользователем</a:t>
            </a:r>
            <a:r>
              <a:rPr lang="ru-RU" dirty="0"/>
              <a:t>: Позволяет пользователям взаимодействовать с программами и системами через графический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637167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35569-DCF8-6B88-4D42-36A85AF1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5347008" cy="1133475"/>
          </a:xfrm>
        </p:spPr>
        <p:txBody>
          <a:bodyPr/>
          <a:lstStyle/>
          <a:p>
            <a:r>
              <a:rPr lang="ru-RU" dirty="0"/>
              <a:t>Классификация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8741B6-D8DC-AC4F-52FE-7AA25A45D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562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9E0A2-80DB-16E8-760D-C5CEBE13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технологии отображения: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EC0DCB-B773-3B90-50B0-A241A63B3A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LCD (жидкокристаллические)</a:t>
            </a:r>
            <a:r>
              <a:rPr lang="ru-RU" dirty="0"/>
              <a:t>: Наиболее распространенный тип. Использует жидкие кристаллы для формирования изображения. Энергосберегающие и тонкие.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322F14-F3A1-6FC9-6D1C-9F85EBEFA2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LED (светодиодные)</a:t>
            </a:r>
            <a:r>
              <a:rPr lang="ru-RU" dirty="0"/>
              <a:t>: На самом деле это разновидность LCD, где подсветка осуществляется светодиодами. Обеспечивают более яркие цвета и лучший контраст.</a:t>
            </a:r>
          </a:p>
        </p:txBody>
      </p:sp>
    </p:spTree>
    <p:extLst>
      <p:ext uri="{BB962C8B-B14F-4D97-AF65-F5344CB8AC3E}">
        <p14:creationId xmlns:p14="http://schemas.microsoft.com/office/powerpoint/2010/main" val="166321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ECF56-C6F7-D3BD-D3FD-7E3ACB489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технологии отображения: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BAFD1F-133A-6B96-944C-A3EBFD144D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OLED (органические светодиоды)</a:t>
            </a:r>
            <a:r>
              <a:rPr lang="ru-RU" dirty="0"/>
              <a:t>: Каждый пиксель излучает свет самостоятельно, что обеспечивает глубокие черные оттенки и широкие углы обзора.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F37D24-1993-3DB6-ED84-FEF2408AB2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CRT (кинескопные)</a:t>
            </a:r>
            <a:r>
              <a:rPr lang="ru-RU" dirty="0"/>
              <a:t>: Старый тип, использующий электронную пушку для создания изображения на фосфорном экране. Более тяжелые и громоздкие.</a:t>
            </a:r>
          </a:p>
        </p:txBody>
      </p:sp>
    </p:spTree>
    <p:extLst>
      <p:ext uri="{BB962C8B-B14F-4D97-AF65-F5344CB8AC3E}">
        <p14:creationId xmlns:p14="http://schemas.microsoft.com/office/powerpoint/2010/main" val="181724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ECF56-C6F7-D3BD-D3FD-7E3ACB489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</a:t>
            </a:r>
            <a:r>
              <a:rPr lang="ru-RU" dirty="0" smtClean="0"/>
              <a:t>типу матрицы: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BAFD1F-133A-6B96-944C-A3EBFD144D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TN (</a:t>
            </a:r>
            <a:r>
              <a:rPr lang="ru-RU" b="1" dirty="0" err="1"/>
              <a:t>Twisted</a:t>
            </a:r>
            <a:r>
              <a:rPr lang="ru-RU" b="1" dirty="0"/>
              <a:t> </a:t>
            </a:r>
            <a:r>
              <a:rPr lang="ru-RU" b="1" dirty="0" err="1"/>
              <a:t>Nematic</a:t>
            </a:r>
            <a:r>
              <a:rPr lang="ru-RU" b="1" dirty="0"/>
              <a:t>)</a:t>
            </a:r>
            <a:r>
              <a:rPr lang="ru-RU" dirty="0"/>
              <a:t> — характеризуется быстрым временем отклика, но скромной цветопередачей и узкими углами обзора.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F37D24-1993-3DB6-ED84-FEF2408AB2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IPS (</a:t>
            </a:r>
            <a:r>
              <a:rPr lang="ru-RU" b="1" dirty="0" err="1"/>
              <a:t>In-Plane</a:t>
            </a:r>
            <a:r>
              <a:rPr lang="ru-RU" b="1" dirty="0"/>
              <a:t> </a:t>
            </a:r>
            <a:r>
              <a:rPr lang="ru-RU" b="1" dirty="0" err="1"/>
              <a:t>Switching</a:t>
            </a:r>
            <a:r>
              <a:rPr lang="ru-RU" b="1" dirty="0"/>
              <a:t>)</a:t>
            </a:r>
            <a:r>
              <a:rPr lang="ru-RU" dirty="0"/>
              <a:t> — обеспечивает хорошую цветопередачу и угол обзора, но более медленный по сравнению с TN.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287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8ECF56-C6F7-D3BD-D3FD-7E3ACB489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</a:t>
            </a:r>
            <a:r>
              <a:rPr lang="ru-RU" dirty="0" smtClean="0"/>
              <a:t>вид</a:t>
            </a:r>
            <a:r>
              <a:rPr lang="ru-RU" dirty="0" smtClean="0"/>
              <a:t>у матрицы: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BAFD1F-133A-6B96-944C-A3EBFD144D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VA (</a:t>
            </a:r>
            <a:r>
              <a:rPr lang="ru-RU" b="1" dirty="0" err="1"/>
              <a:t>Vertical</a:t>
            </a:r>
            <a:r>
              <a:rPr lang="ru-RU" b="1" dirty="0"/>
              <a:t> </a:t>
            </a:r>
            <a:r>
              <a:rPr lang="ru-RU" b="1" dirty="0" err="1"/>
              <a:t>Alignment</a:t>
            </a:r>
            <a:r>
              <a:rPr lang="ru-RU" b="1" dirty="0"/>
              <a:t>)</a:t>
            </a:r>
            <a:r>
              <a:rPr lang="ru-RU" dirty="0"/>
              <a:t> — баланс между TN и IPS, с лучшей контрастностью, но с расширенными углами обзора, чем у IPS.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F37D24-1993-3DB6-ED84-FEF2408AB2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OLED, QLED</a:t>
            </a:r>
            <a:r>
              <a:rPr lang="ru-RU" dirty="0"/>
              <a:t> — это, скорее, альтернативный тип матрицы и технологии отображения, так как в этих дисплеях каждый пиксель светится сам (OLED) или пропускает свет через квантовые точки (QLED).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911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379DC-5332-EBBA-2C5A-E2B565616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размеру экрана: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39F341-B23F-40C6-AD31-9A3EC7258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3334305" cy="4351338"/>
          </a:xfrm>
        </p:spPr>
        <p:txBody>
          <a:bodyPr>
            <a:normAutofit/>
          </a:bodyPr>
          <a:lstStyle/>
          <a:p>
            <a:r>
              <a:rPr lang="ru-RU" b="1" dirty="0"/>
              <a:t>16:9</a:t>
            </a:r>
            <a:r>
              <a:rPr lang="ru-RU" dirty="0"/>
              <a:t> — стандартное соотношение для большинства мониторов.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FEF9C5-FE9B-EA6F-0C45-EB946BCB2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9398" y="1825625"/>
            <a:ext cx="3488924" cy="4351338"/>
          </a:xfrm>
        </p:spPr>
        <p:txBody>
          <a:bodyPr>
            <a:normAutofit/>
          </a:bodyPr>
          <a:lstStyle/>
          <a:p>
            <a:r>
              <a:rPr lang="ru-RU" b="1" dirty="0"/>
              <a:t>32:9</a:t>
            </a:r>
            <a:r>
              <a:rPr lang="ru-RU" dirty="0"/>
              <a:t> и другие </a:t>
            </a:r>
            <a:r>
              <a:rPr lang="ru-RU" dirty="0" err="1"/>
              <a:t>ультраширокие</a:t>
            </a:r>
            <a:r>
              <a:rPr lang="ru-RU" dirty="0"/>
              <a:t> форматы — часто используются для замены нескольких мониторов.</a:t>
            </a:r>
            <a:endParaRPr lang="ru-RU" dirty="0"/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453BF278-016F-5BFC-25E9-3F6A988ADE9E}"/>
              </a:ext>
            </a:extLst>
          </p:cNvPr>
          <p:cNvSpPr txBox="1">
            <a:spLocks/>
          </p:cNvSpPr>
          <p:nvPr/>
        </p:nvSpPr>
        <p:spPr>
          <a:xfrm>
            <a:off x="4492101" y="1825625"/>
            <a:ext cx="37108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21:9</a:t>
            </a:r>
            <a:r>
              <a:rPr lang="ru-RU" dirty="0"/>
              <a:t> (широкоформатные) — удобны для работы с мультимедиа и играми, часто применяются в профессиональных мониторах.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935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9E0A2-80DB-16E8-760D-C5CEBE13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</a:t>
            </a:r>
            <a:r>
              <a:rPr lang="ru-RU" dirty="0" smtClean="0"/>
              <a:t>разрешению: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EC0DCB-B773-3B90-50B0-A241A63B3A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HD (1366×768)</a:t>
            </a:r>
            <a:r>
              <a:rPr lang="ru-RU" dirty="0"/>
              <a:t> — бюджетное решение для офисной работы.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322F14-F3A1-6FC9-6D1C-9F85EBEFA2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 err="1"/>
              <a:t>Full</a:t>
            </a:r>
            <a:r>
              <a:rPr lang="ru-RU" b="1" dirty="0"/>
              <a:t> HD (1920×1080)</a:t>
            </a:r>
            <a:r>
              <a:rPr lang="ru-RU" dirty="0"/>
              <a:t> — стандарт для большинства задач, доступный в широком диапазоне диагоналей.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5608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9E0A2-80DB-16E8-760D-C5CEBE13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</a:t>
            </a:r>
            <a:r>
              <a:rPr lang="ru-RU" dirty="0" smtClean="0"/>
              <a:t>разрешению: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EC0DCB-B773-3B90-50B0-A241A63B3A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QHD (2560×1440)</a:t>
            </a:r>
            <a:r>
              <a:rPr lang="ru-RU" dirty="0"/>
              <a:t> и </a:t>
            </a:r>
            <a:r>
              <a:rPr lang="ru-RU" b="1" dirty="0"/>
              <a:t>4K UHD (3840×2160)</a:t>
            </a:r>
            <a:r>
              <a:rPr lang="ru-RU" dirty="0"/>
              <a:t> — популярны для игр и работы с графикой.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322F14-F3A1-6FC9-6D1C-9F85EBEFA2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5К, 8К и выше</a:t>
            </a:r>
            <a:r>
              <a:rPr lang="ru-RU" dirty="0"/>
              <a:t> — редкие варианты для профессиональных задач и кинопроизводства.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6242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9E0A2-80DB-16E8-760D-C5CEBE13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</a:t>
            </a:r>
            <a:r>
              <a:rPr lang="ru-RU" dirty="0" smtClean="0"/>
              <a:t>частоте обновления: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EC0DCB-B773-3B90-50B0-A241A63B3A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60 Гц</a:t>
            </a:r>
            <a:r>
              <a:rPr lang="ru-RU" dirty="0"/>
              <a:t> — стандартная частота для офисных мониторов.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322F14-F3A1-6FC9-6D1C-9F85EBEFA2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b="1" dirty="0"/>
              <a:t>120 Гц, 144 Гц и выше (до 360 Гц)</a:t>
            </a:r>
            <a:r>
              <a:rPr lang="ru-RU" dirty="0"/>
              <a:t> — используются в игровых мониторах для обеспечения плавного изображения.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1760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35569-DCF8-6B88-4D42-36A85AF1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3429000"/>
            <a:ext cx="10515601" cy="1133475"/>
          </a:xfrm>
        </p:spPr>
        <p:txBody>
          <a:bodyPr>
            <a:normAutofit/>
          </a:bodyPr>
          <a:lstStyle/>
          <a:p>
            <a:r>
              <a:rPr lang="ru-RU" dirty="0" smtClean="0"/>
              <a:t>Принцип работы ЖК мониторов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8741B6-D8DC-AC4F-52FE-7AA25A45D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933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ЖК (LCD) монитор работает на основе технологии жидкокристаллического дисплея, где жидкие кристаллы управляют прохождением света для создания 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1071949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компоненты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90619"/>
            <a:ext cx="10515600" cy="4351338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ru-RU" sz="1600" b="1" dirty="0" smtClean="0"/>
              <a:t>Подсветка</a:t>
            </a:r>
            <a:r>
              <a:rPr lang="ru-RU" sz="1600" dirty="0" smtClean="0"/>
              <a:t> — чаще всего </a:t>
            </a:r>
            <a:r>
              <a:rPr lang="en-US" sz="1600" dirty="0" smtClean="0"/>
              <a:t>LED</a:t>
            </a:r>
            <a:r>
              <a:rPr lang="ru-RU" sz="1600" dirty="0" smtClean="0"/>
              <a:t>-подсветка, расположенная за жидкокристаллической панелью. Именно она является доказательством света, поскольку жидкие кристаллы сами по себе не светятся.</a:t>
            </a:r>
          </a:p>
          <a:p>
            <a:pPr>
              <a:buFont typeface="+mj-lt"/>
              <a:buAutoNum type="arabicPeriod"/>
            </a:pPr>
            <a:r>
              <a:rPr lang="ru-RU" sz="1600" b="1" dirty="0" smtClean="0"/>
              <a:t>Поляризационные фильтры</a:t>
            </a:r>
            <a:r>
              <a:rPr lang="ru-RU" sz="1600" dirty="0" smtClean="0"/>
              <a:t> — два фильтра, между которыми действуют жидкие кристаллы, способствуют прохождению и блокировке света, управляя яркостью света.</a:t>
            </a:r>
          </a:p>
          <a:p>
            <a:pPr>
              <a:buFont typeface="+mj-lt"/>
              <a:buAutoNum type="arabicPeriod"/>
            </a:pPr>
            <a:r>
              <a:rPr lang="ru-RU" sz="1600" b="1" dirty="0" smtClean="0"/>
              <a:t>Жидкие кристаллы</a:t>
            </a:r>
            <a:r>
              <a:rPr lang="ru-RU" sz="1600" dirty="0" smtClean="0"/>
              <a:t> — органическое вещество, способное изменить положение при воздействии электрического тока. Изменение ориентации кристаллов позволяет управлять направлением света.</a:t>
            </a:r>
          </a:p>
          <a:p>
            <a:pPr>
              <a:buFont typeface="+mj-lt"/>
              <a:buAutoNum type="arabicPeriod"/>
            </a:pPr>
            <a:r>
              <a:rPr lang="ru-RU" sz="1600" b="1" dirty="0" smtClean="0"/>
              <a:t>Цветные фильтры</a:t>
            </a:r>
            <a:r>
              <a:rPr lang="ru-RU" sz="1600" dirty="0" smtClean="0"/>
              <a:t> — каждый пиксель делится на три </a:t>
            </a:r>
            <a:r>
              <a:rPr lang="ru-RU" sz="1600" dirty="0" err="1" smtClean="0"/>
              <a:t>субпикселя</a:t>
            </a:r>
            <a:r>
              <a:rPr lang="ru-RU" sz="1600" dirty="0" smtClean="0"/>
              <a:t> с фильтрами красного, зеленого и синего цветов (</a:t>
            </a:r>
            <a:r>
              <a:rPr lang="en-US" sz="1600" dirty="0" smtClean="0"/>
              <a:t>RGB</a:t>
            </a:r>
            <a:r>
              <a:rPr lang="ru-RU" sz="1600" dirty="0" smtClean="0"/>
              <a:t>). Комбинируя эти цветы, можно создать любое необходимое изображение.</a:t>
            </a:r>
          </a:p>
          <a:p>
            <a:endParaRPr lang="ru-RU" dirty="0"/>
          </a:p>
        </p:txBody>
      </p:sp>
      <p:pic>
        <p:nvPicPr>
          <p:cNvPr id="5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484" y="3635877"/>
            <a:ext cx="7418033" cy="296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530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белого света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Подсветка </a:t>
            </a:r>
            <a:r>
              <a:rPr lang="ru-RU" dirty="0"/>
              <a:t>жидкокристаллическим слоем (обычно светодиод) излучает белый свет, который проходит через первый поляризационный фильтр.</a:t>
            </a:r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095" y="3209749"/>
            <a:ext cx="7418033" cy="296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282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Поляризация света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Свет </a:t>
            </a:r>
            <a:r>
              <a:rPr lang="ru-RU" dirty="0"/>
              <a:t>от LED-подсветки поляризуется, что позволяет контролировать его направление и помогает избежать случайного проникновения света в выключенные пиксели.</a:t>
            </a:r>
          </a:p>
        </p:txBody>
      </p:sp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095" y="3209749"/>
            <a:ext cx="7418033" cy="296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3338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жидкими кристаллами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</a:t>
            </a:r>
            <a:r>
              <a:rPr lang="ru-RU" dirty="0" smtClean="0"/>
              <a:t>а </a:t>
            </a:r>
            <a:r>
              <a:rPr lang="ru-RU" dirty="0"/>
              <a:t>жидких кристаллах подаётся ток, который меняет их ориентацию. В зависимости от их </a:t>
            </a:r>
            <a:r>
              <a:rPr lang="ru-RU" dirty="0" smtClean="0"/>
              <a:t>положения </a:t>
            </a:r>
            <a:r>
              <a:rPr lang="ru-RU" dirty="0"/>
              <a:t>свет либо проходит дальше через второй фильтр, либо блокируется.</a:t>
            </a:r>
          </a:p>
        </p:txBody>
      </p:sp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095" y="3209749"/>
            <a:ext cx="7418033" cy="296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726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Прохождение света через цветные фильтры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Управление </a:t>
            </a:r>
            <a:r>
              <a:rPr lang="ru-RU" dirty="0"/>
              <a:t>изменением света, проходящего через красный, зеленый и синий </a:t>
            </a:r>
            <a:r>
              <a:rPr lang="ru-RU" dirty="0" err="1"/>
              <a:t>субпиксели</a:t>
            </a:r>
            <a:r>
              <a:rPr lang="ru-RU" dirty="0"/>
              <a:t>, определение различных оттенков и цвета. Это обеспечивает нужный цвет для каждого пикселя.</a:t>
            </a:r>
          </a:p>
        </p:txBody>
      </p:sp>
      <p:pic>
        <p:nvPicPr>
          <p:cNvPr id="4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2095" y="3209749"/>
            <a:ext cx="7418033" cy="296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43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35569-DCF8-6B88-4D42-36A85AF1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3429000"/>
            <a:ext cx="10515601" cy="11334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Принцип работы ЭЛТ мониторов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8741B6-D8DC-AC4F-52FE-7AA25A45D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752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Мониторы на электронно-лучевых трубках (ЭЛТ) работают на основе движения электронов внутри вакуумной трубки, где они направляются на экран с люминофором для создания изображения.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4144555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компоненты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461769" cy="476055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ru-RU" sz="1400" b="1" dirty="0"/>
              <a:t>Электронная пушка</a:t>
            </a:r>
            <a:r>
              <a:rPr lang="ru-RU" sz="1400" dirty="0"/>
              <a:t> — расположена в задней части трубки и обеспечивает поток электронов.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Система отклонения</a:t>
            </a:r>
            <a:r>
              <a:rPr lang="ru-RU" sz="1400" dirty="0"/>
              <a:t> — магнитные или электрические поля, которые отклоняют луч электронов, направляя его в нужные точки экрана.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Люминофорное покрытие экрана</a:t>
            </a:r>
            <a:r>
              <a:rPr lang="ru-RU" sz="1400" dirty="0"/>
              <a:t> — покрытие на внутренней стороне экрана, которое светится, когда на него попадает поток электронов. Обычно для цвета используется три типа люминофора (красный, зелёный и синий).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Маска (решетка)</a:t>
            </a:r>
            <a:r>
              <a:rPr lang="ru-RU" sz="1400" dirty="0"/>
              <a:t> — сетка, расположенная перед люминофором, которая помогает точно направлять электронные лучи на соответствующие цветные точки (RGB</a:t>
            </a:r>
            <a:r>
              <a:rPr lang="ru-RU" sz="1400" dirty="0" smtClean="0"/>
              <a:t>).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Стеклоцемент</a:t>
            </a:r>
            <a:r>
              <a:rPr lang="ru-RU" sz="1400" dirty="0"/>
              <a:t> представляет собой специальное соединение, используемое для склеивания стеклянных частей ЭЛТ и обеспечения их герметичности</a:t>
            </a:r>
            <a:r>
              <a:rPr lang="ru-RU" sz="1400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Внутренний магнитный экран</a:t>
            </a:r>
            <a:r>
              <a:rPr lang="ru-RU" sz="1400" dirty="0"/>
              <a:t> — это металлический слой или экран внутри корпуса ЭЛТ, защищающий электронный луч от внешних магнитных полей.</a:t>
            </a:r>
          </a:p>
          <a:p>
            <a:endParaRPr lang="ru-RU" dirty="0"/>
          </a:p>
        </p:txBody>
      </p:sp>
      <p:pic>
        <p:nvPicPr>
          <p:cNvPr id="6147" name="Picture 3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827" y="1825625"/>
            <a:ext cx="5410973" cy="405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02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Формирование источника </a:t>
            </a:r>
            <a:r>
              <a:rPr lang="ru-RU" dirty="0" smtClean="0"/>
              <a:t>луча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 действием сильного электростатического поля из электронной пушки исходит поток электронов.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5416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Отклонение излучения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Система </a:t>
            </a:r>
            <a:r>
              <a:rPr lang="ru-RU" dirty="0"/>
              <a:t>отклонения создаёт магнитные или электрические поля, которые изменяют направление потока электронов, перемещая его по поверхности экрана. Это позволяет лучу «сканировать» экран построчно — с левой стороны сверху вниз, создать изображение (</a:t>
            </a:r>
            <a:r>
              <a:rPr lang="ru-RU" dirty="0" err="1"/>
              <a:t>интерлейсинг</a:t>
            </a:r>
            <a:r>
              <a:rPr lang="ru-RU" dirty="0"/>
              <a:t> или прогрессивная развёртка).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581" y="3843045"/>
            <a:ext cx="2137752" cy="15989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65" y="3843045"/>
            <a:ext cx="2180412" cy="159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69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Попадание на люминофор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Когда </a:t>
            </a:r>
            <a:r>
              <a:rPr lang="ru-RU" dirty="0"/>
              <a:t>электроны обращаются к люминофорным точкам (красную, зелёную и синюю), они вызывают свечение этих точек. Управляя параметром каждого цветного элемента (RGB), можно получить любой цвет.</a:t>
            </a:r>
          </a:p>
        </p:txBody>
      </p:sp>
    </p:spTree>
    <p:extLst>
      <p:ext uri="{BB962C8B-B14F-4D97-AF65-F5344CB8AC3E}">
        <p14:creationId xmlns:p14="http://schemas.microsoft.com/office/powerpoint/2010/main" val="3284787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с развёрткой кадров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Процесс </a:t>
            </a:r>
            <a:r>
              <a:rPr lang="ru-RU" dirty="0"/>
              <a:t>построчного сигнала синхронизируется с частотой обновления кадров (например, 60 Гц), что позволяет обновлять изображение несколько раз в секунду.</a:t>
            </a:r>
          </a:p>
        </p:txBody>
      </p:sp>
    </p:spTree>
    <p:extLst>
      <p:ext uri="{BB962C8B-B14F-4D97-AF65-F5344CB8AC3E}">
        <p14:creationId xmlns:p14="http://schemas.microsoft.com/office/powerpoint/2010/main" val="2268790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и недостатки ЖК мониторов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7" y="1376039"/>
            <a:ext cx="5157787" cy="427700"/>
          </a:xfrm>
        </p:spPr>
        <p:txBody>
          <a:bodyPr/>
          <a:lstStyle/>
          <a:p>
            <a:r>
              <a:rPr lang="ru-RU" dirty="0" smtClean="0"/>
              <a:t>Преимущества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1803739"/>
            <a:ext cx="5157787" cy="4385924"/>
          </a:xfrm>
        </p:spPr>
        <p:txBody>
          <a:bodyPr>
            <a:normAutofit fontScale="47500" lnSpcReduction="20000"/>
          </a:bodyPr>
          <a:lstStyle/>
          <a:p>
            <a:pPr>
              <a:buFont typeface="+mj-lt"/>
              <a:buAutoNum type="arabicPeriod"/>
            </a:pPr>
            <a:r>
              <a:rPr lang="ru-RU" b="1" dirty="0"/>
              <a:t>Компактность и </a:t>
            </a:r>
            <a:r>
              <a:rPr lang="ru-RU" b="1" dirty="0" smtClean="0"/>
              <a:t>легкость</a:t>
            </a:r>
            <a:r>
              <a:rPr lang="ru-RU" dirty="0" smtClean="0"/>
              <a:t>: </a:t>
            </a:r>
            <a:r>
              <a:rPr lang="ru-RU" dirty="0"/>
              <a:t>ЖК-мониторы тоньше и легче электронно-лучевых трубок (ЭЛТ), что делает их удобными для использования на рабочем месте и при транспортировке.</a:t>
            </a:r>
          </a:p>
          <a:p>
            <a:pPr>
              <a:buFont typeface="+mj-lt"/>
              <a:buAutoNum type="arabicPeriod"/>
            </a:pPr>
            <a:r>
              <a:rPr lang="ru-RU" b="1" dirty="0" err="1" smtClean="0"/>
              <a:t>Энергоэффективность</a:t>
            </a:r>
            <a:r>
              <a:rPr lang="ru-RU" dirty="0" smtClean="0"/>
              <a:t>: </a:t>
            </a:r>
            <a:r>
              <a:rPr lang="ru-RU" dirty="0"/>
              <a:t>ЖК-дисплеи потребляют значительно меньше энергии по сравнению с ЭЛТ, поскольку свет создается с помощью светодиодной подсветки, а не мощного приемника.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Безопасность для </a:t>
            </a:r>
            <a:r>
              <a:rPr lang="ru-RU" b="1" dirty="0" smtClean="0"/>
              <a:t>глаз</a:t>
            </a:r>
            <a:r>
              <a:rPr lang="ru-RU" dirty="0" smtClean="0"/>
              <a:t>: </a:t>
            </a:r>
            <a:r>
              <a:rPr lang="ru-RU" dirty="0"/>
              <a:t>ЖК-мониторы не мерцают</a:t>
            </a:r>
            <a:r>
              <a:rPr lang="ru-RU" dirty="0" smtClean="0"/>
              <a:t>, что снижает нагрузку на глаза и делает их безопаснее </a:t>
            </a:r>
            <a:r>
              <a:rPr lang="ru-RU" dirty="0"/>
              <a:t>при длительном использовании.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Чёткое </a:t>
            </a:r>
            <a:r>
              <a:rPr lang="ru-RU" b="1" dirty="0" smtClean="0"/>
              <a:t>изображение</a:t>
            </a:r>
            <a:r>
              <a:rPr lang="ru-RU" dirty="0" smtClean="0"/>
              <a:t>: </a:t>
            </a:r>
            <a:r>
              <a:rPr lang="ru-RU" dirty="0"/>
              <a:t>ЖК-матрицы способны выводить чёткое и детальное изображение с высоким уровнем развития, что важно для работы с текстом, графикой и мультимедиа.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Высокая яркость и </a:t>
            </a:r>
            <a:r>
              <a:rPr lang="ru-RU" b="1" dirty="0" smtClean="0"/>
              <a:t>контрастность</a:t>
            </a:r>
            <a:r>
              <a:rPr lang="ru-RU" dirty="0" smtClean="0"/>
              <a:t>: </a:t>
            </a:r>
            <a:r>
              <a:rPr lang="ru-RU" dirty="0"/>
              <a:t>благодаря LED-подсветке ЖК-мониторы обладают хорошей яркостью и контрастностью, что делает изображение более насыщенным и позволяет использовать монитор даже в ярко освещённых помещениях.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Низкий уровень </a:t>
            </a:r>
            <a:r>
              <a:rPr lang="ru-RU" b="1" dirty="0" smtClean="0"/>
              <a:t>тепловыделения</a:t>
            </a:r>
            <a:r>
              <a:rPr lang="ru-RU" dirty="0" smtClean="0"/>
              <a:t>: </a:t>
            </a:r>
            <a:r>
              <a:rPr lang="ru-RU" dirty="0"/>
              <a:t>ЖК-мониторы отличаются меньшей теплотой по сравнению с ЭЛТ, что обеспечивает перегрев и делает их более комфортными для использования.</a:t>
            </a:r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376039"/>
            <a:ext cx="5183188" cy="427700"/>
          </a:xfrm>
        </p:spPr>
        <p:txBody>
          <a:bodyPr/>
          <a:lstStyle/>
          <a:p>
            <a:r>
              <a:rPr lang="ru-RU" dirty="0" smtClean="0"/>
              <a:t>Недостатки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1803739"/>
            <a:ext cx="5183188" cy="4385924"/>
          </a:xfrm>
        </p:spPr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ru-RU" sz="1400" b="1" dirty="0"/>
              <a:t>Ограниченные углы обзора</a:t>
            </a:r>
            <a:r>
              <a:rPr lang="ru-RU" sz="1400" dirty="0"/>
              <a:t> : под углом могут возникнуть изменения цвета и яркости, особенно при взгляде на мониторы с TN-матрицей. IPS- и VA-матрицы обладают лучшими углами обзора, но всё </a:t>
            </a:r>
            <a:r>
              <a:rPr lang="ru-RU" sz="1400" dirty="0" smtClean="0"/>
              <a:t>же не как </a:t>
            </a:r>
            <a:r>
              <a:rPr lang="ru-RU" sz="1400" dirty="0"/>
              <a:t>у </a:t>
            </a:r>
            <a:r>
              <a:rPr lang="ru-RU" sz="1400" dirty="0" smtClean="0"/>
              <a:t>мониторов с OLED дисплеем.</a:t>
            </a:r>
            <a:endParaRPr lang="ru-RU" sz="1400" dirty="0"/>
          </a:p>
          <a:p>
            <a:pPr>
              <a:buFont typeface="+mj-lt"/>
              <a:buAutoNum type="arabicPeriod"/>
            </a:pPr>
            <a:r>
              <a:rPr lang="ru-RU" sz="1400" b="1" dirty="0"/>
              <a:t>Меньшая контрастность по сравнению с OLED</a:t>
            </a:r>
            <a:r>
              <a:rPr lang="ru-RU" sz="1400" dirty="0"/>
              <a:t> : хотя ЖК-мониторы передают высокую яркость, они не могут достигать таких разновидностей чёрных цветов, как OLED, из-за того, что свет проходит через слой, даже когда пиксель выключен.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Задержка отклика</a:t>
            </a:r>
            <a:r>
              <a:rPr lang="ru-RU" sz="1400" dirty="0"/>
              <a:t> : время отклика в некоторых ЖК-матрицах (например, IPS) может быть выше, чем в OLED или TN, что может привести к эффекту размытия в динамичных сценах, особенно в играх.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Наличие дефектных изображений</a:t>
            </a:r>
            <a:r>
              <a:rPr lang="ru-RU" sz="1400" dirty="0"/>
              <a:t> : встречаются «битые» или «застрявшие» пиксели, которые иногда могут оставаться яркими или темными, что заметно на однотонном фоне.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Чувствительность к механическим повреждениям</a:t>
            </a:r>
            <a:r>
              <a:rPr lang="ru-RU" sz="1400" dirty="0"/>
              <a:t> : ЖК-матрицы могут изменять повреждения при сильных воздействиях или ударах, что приводит к появлению пятен или полос на экране.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Цена</a:t>
            </a:r>
            <a:r>
              <a:rPr lang="ru-RU" sz="1400" dirty="0"/>
              <a:t> : Высококачественные модели ЖК-мониторов, особенно с IPS-матрицами и 4K-технологиями, могут быть достаточно дорогими.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137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736694" cy="1325563"/>
          </a:xfrm>
        </p:spPr>
        <p:txBody>
          <a:bodyPr/>
          <a:lstStyle/>
          <a:p>
            <a:r>
              <a:rPr lang="ru-RU" dirty="0"/>
              <a:t>Преимущества и недостатки </a:t>
            </a:r>
            <a:r>
              <a:rPr lang="ru-RU" dirty="0" smtClean="0"/>
              <a:t>ЭЛТ </a:t>
            </a:r>
            <a:r>
              <a:rPr lang="ru-RU" dirty="0"/>
              <a:t>мониторов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7" y="1376039"/>
            <a:ext cx="5157787" cy="427700"/>
          </a:xfrm>
        </p:spPr>
        <p:txBody>
          <a:bodyPr/>
          <a:lstStyle/>
          <a:p>
            <a:r>
              <a:rPr lang="ru-RU" dirty="0" smtClean="0"/>
              <a:t>Преимущества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1803739"/>
            <a:ext cx="5157787" cy="4385924"/>
          </a:xfrm>
        </p:spPr>
        <p:txBody>
          <a:bodyPr>
            <a:normAutofit fontScale="55000" lnSpcReduction="20000"/>
          </a:bodyPr>
          <a:lstStyle/>
          <a:p>
            <a:pPr>
              <a:buFont typeface="+mj-lt"/>
              <a:buAutoNum type="arabicPeriod"/>
            </a:pPr>
            <a:r>
              <a:rPr lang="ru-RU" b="1" dirty="0"/>
              <a:t>Качество цветопередачи и контрастности</a:t>
            </a:r>
            <a:r>
              <a:rPr lang="ru-RU" dirty="0"/>
              <a:t> : ЭЛТ-мониторы отличаются высокой яркостью, глубокой контрастностью и глубиной цветопередачи, что делает их </a:t>
            </a:r>
            <a:r>
              <a:rPr lang="ru-RU" dirty="0" smtClean="0"/>
              <a:t>идеальными </a:t>
            </a:r>
            <a:r>
              <a:rPr lang="ru-RU" dirty="0"/>
              <a:t>для редактирования изображений и работы с графикой.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Высокая частота обновления</a:t>
            </a:r>
            <a:r>
              <a:rPr lang="ru-RU" dirty="0"/>
              <a:t> : ЭЛТ-экраны используют частоту обновления до 100 Гц и выше, что снижает нагрузку на глаза при длительной работе и сводит к минимуму эффект мерцания.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Отсутствие углового обзора</a:t>
            </a:r>
            <a:r>
              <a:rPr lang="ru-RU" dirty="0"/>
              <a:t> : эти мониторы практически не требуют цвета и качества изображения, независимо от угла, под которым вы смотрите.</a:t>
            </a:r>
          </a:p>
          <a:p>
            <a:pPr>
              <a:buFont typeface="+mj-lt"/>
              <a:buAutoNum type="arabicPeriod"/>
            </a:pPr>
            <a:r>
              <a:rPr lang="ru-RU" b="1" dirty="0"/>
              <a:t>Отсутствие постоянного разрешения</a:t>
            </a:r>
            <a:r>
              <a:rPr lang="ru-RU" dirty="0"/>
              <a:t> : ЭЛТ включает широкий диапазон разрешений, что делает их универсальными для разных задач, в отличие от ЖК, где четкость изображения падает при </a:t>
            </a:r>
            <a:r>
              <a:rPr lang="ru-RU" dirty="0" smtClean="0"/>
              <a:t>изменении </a:t>
            </a:r>
            <a:r>
              <a:rPr lang="ru-RU" dirty="0"/>
              <a:t>разрешения в</a:t>
            </a:r>
            <a:r>
              <a:rPr lang="ru-RU" dirty="0" smtClean="0"/>
              <a:t> настройках.</a:t>
            </a:r>
            <a:endParaRPr lang="ru-RU" dirty="0"/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376039"/>
            <a:ext cx="5183188" cy="427700"/>
          </a:xfrm>
        </p:spPr>
        <p:txBody>
          <a:bodyPr/>
          <a:lstStyle/>
          <a:p>
            <a:r>
              <a:rPr lang="ru-RU" dirty="0" smtClean="0"/>
              <a:t>Недостатки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1803739"/>
            <a:ext cx="5183188" cy="4385924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ru-RU" sz="1400" b="1" dirty="0"/>
              <a:t>Размер и вес</a:t>
            </a:r>
            <a:r>
              <a:rPr lang="ru-RU" sz="1400" dirty="0"/>
              <a:t> : ЭЛТ-мониторы громоздкие, тяжелые и занимают много места, что делает их неудобными в использовании и транспортировке.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Высокое энергопотребление</a:t>
            </a:r>
            <a:r>
              <a:rPr lang="ru-RU" sz="1400" dirty="0"/>
              <a:t> : они потребляют больше электроэнергии по сравнению с современными ЖК и LED-дисплеями.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Излучение</a:t>
            </a:r>
            <a:r>
              <a:rPr lang="ru-RU" sz="1400" dirty="0"/>
              <a:t> : ЭЛТ излучает электромагнитное излучение, вызывающее у пользователей опасность его воздействия на здоровье при длительном использовании.</a:t>
            </a:r>
          </a:p>
          <a:p>
            <a:pPr>
              <a:buFont typeface="+mj-lt"/>
              <a:buAutoNum type="arabicPeriod"/>
            </a:pPr>
            <a:r>
              <a:rPr lang="ru-RU" sz="1400" b="1" dirty="0"/>
              <a:t>Нагрев</a:t>
            </a:r>
            <a:r>
              <a:rPr lang="ru-RU" sz="1400" dirty="0"/>
              <a:t> : Мониторы ЭЛТ </a:t>
            </a:r>
            <a:r>
              <a:rPr lang="ru-RU" sz="1400" dirty="0" smtClean="0"/>
              <a:t>выделяют куда больше </a:t>
            </a:r>
            <a:r>
              <a:rPr lang="ru-RU" sz="1400" dirty="0"/>
              <a:t>тепла, чем ЖК, что может привести к перегреву и некомфортным условиям работы</a:t>
            </a:r>
            <a:r>
              <a:rPr lang="ru-RU" sz="1400" dirty="0" smtClean="0"/>
              <a:t>.</a:t>
            </a:r>
            <a:endParaRPr lang="ru-RU" sz="1400" dirty="0"/>
          </a:p>
          <a:p>
            <a:pPr>
              <a:buFont typeface="+mj-lt"/>
              <a:buAutoNum type="arabicPeriod"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7947598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920</Words>
  <Application>Microsoft Office PowerPoint</Application>
  <PresentationFormat>Широкоэкранный</PresentationFormat>
  <Paragraphs>92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Тема Office</vt:lpstr>
      <vt:lpstr>Мониторы</vt:lpstr>
      <vt:lpstr>Презентация PowerPoint</vt:lpstr>
      <vt:lpstr>Основные функции монитора</vt:lpstr>
      <vt:lpstr>Классификация</vt:lpstr>
      <vt:lpstr>По технологии отображения:</vt:lpstr>
      <vt:lpstr>По технологии отображения:</vt:lpstr>
      <vt:lpstr>По типу матрицы:</vt:lpstr>
      <vt:lpstr>По виду матрицы:</vt:lpstr>
      <vt:lpstr>По размеру экрана:</vt:lpstr>
      <vt:lpstr>По разрешению:</vt:lpstr>
      <vt:lpstr>По разрешению:</vt:lpstr>
      <vt:lpstr>По частоте обновления:</vt:lpstr>
      <vt:lpstr>Принцип работы ЖК мониторов</vt:lpstr>
      <vt:lpstr>Презентация PowerPoint</vt:lpstr>
      <vt:lpstr>Основные компоненты</vt:lpstr>
      <vt:lpstr>Создание белого света</vt:lpstr>
      <vt:lpstr>Поляризация света</vt:lpstr>
      <vt:lpstr>Управление жидкими кристаллами</vt:lpstr>
      <vt:lpstr>Прохождение света через цветные фильтры</vt:lpstr>
      <vt:lpstr>Принцип работы ЭЛТ мониторов</vt:lpstr>
      <vt:lpstr>Презентация PowerPoint</vt:lpstr>
      <vt:lpstr>Основные компоненты</vt:lpstr>
      <vt:lpstr>Формирование источника луча</vt:lpstr>
      <vt:lpstr>Отклонение излучения</vt:lpstr>
      <vt:lpstr>Попадание на люминофор</vt:lpstr>
      <vt:lpstr>Синхронизация с развёрткой кадров</vt:lpstr>
      <vt:lpstr>Преимущества и недостатки ЖК мониторов</vt:lpstr>
      <vt:lpstr>Преимущества и недостатки ЭЛТ мониторов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Мониторы</dc:title>
  <dc:creator>student</dc:creator>
  <cp:lastModifiedBy>Artyom Voronin</cp:lastModifiedBy>
  <cp:revision>12</cp:revision>
  <dcterms:created xsi:type="dcterms:W3CDTF">2024-10-23T03:47:15Z</dcterms:created>
  <dcterms:modified xsi:type="dcterms:W3CDTF">2024-10-29T11:52:05Z</dcterms:modified>
</cp:coreProperties>
</file>