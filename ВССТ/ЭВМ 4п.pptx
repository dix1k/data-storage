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16"/>
  </p:notesMasterIdLst>
  <p:sldIdLst>
    <p:sldId id="326" r:id="rId2"/>
    <p:sldId id="349" r:id="rId3"/>
    <p:sldId id="350" r:id="rId4"/>
    <p:sldId id="351" r:id="rId5"/>
    <p:sldId id="352" r:id="rId6"/>
    <p:sldId id="353" r:id="rId7"/>
    <p:sldId id="354" r:id="rId8"/>
    <p:sldId id="357" r:id="rId9"/>
    <p:sldId id="358" r:id="rId10"/>
    <p:sldId id="359" r:id="rId11"/>
    <p:sldId id="360" r:id="rId12"/>
    <p:sldId id="361" r:id="rId13"/>
    <p:sldId id="362" r:id="rId14"/>
    <p:sldId id="31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DBF76-B1B0-4F3B-A418-F2A992F33286}" type="datetimeFigureOut">
              <a:rPr lang="ru-RU" smtClean="0"/>
              <a:t>24.09.2024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E88F86-AA50-42AD-BCDA-2595B74CDC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7466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0" y="688288"/>
            <a:ext cx="4433455" cy="3966824"/>
          </a:xfrm>
        </p:spPr>
        <p:txBody>
          <a:bodyPr anchor="t">
            <a:noAutofit/>
          </a:bodyPr>
          <a:lstStyle>
            <a:lvl1pPr>
              <a:defRPr sz="72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096000" cy="685799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11636" y="5936851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2241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ectio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685801"/>
            <a:ext cx="7661275" cy="2057400"/>
          </a:xfrm>
        </p:spPr>
        <p:txBody>
          <a:bodyPr wrap="square" anchor="t">
            <a:noAutofit/>
          </a:bodyPr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2" y="3429000"/>
            <a:ext cx="3283527" cy="238024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2826327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AB1C8803-0542-76BB-6DF0-FCC5FE74BC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54237" y="2819905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16191" y="2826327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4F64B39-6AAB-933F-C46A-07FA43BE05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54237" y="3429000"/>
            <a:ext cx="3283527" cy="238023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35C6E61-8847-4830-9FF4-365A758995C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16191" y="3429001"/>
            <a:ext cx="3283527" cy="238023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00709" y="5885947"/>
            <a:ext cx="11328458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4244063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6" y="685804"/>
            <a:ext cx="7661274" cy="2069086"/>
          </a:xfrm>
        </p:spPr>
        <p:txBody>
          <a:bodyPr anchor="t">
            <a:noAutofit/>
          </a:bodyPr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2" y="3429000"/>
            <a:ext cx="3283527" cy="238024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2826327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54237" y="2826327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4F64B39-6AAB-933F-C46A-07FA43BE05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54237" y="3429000"/>
            <a:ext cx="3283527" cy="238023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00709" y="5885947"/>
            <a:ext cx="11328458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853487" y="1153397"/>
            <a:ext cx="2871788" cy="449925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75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688289"/>
            <a:ext cx="5629275" cy="2689838"/>
          </a:xfrm>
        </p:spPr>
        <p:txBody>
          <a:bodyPr anchor="t">
            <a:noAutofit/>
          </a:bodyPr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61909" y="1030325"/>
            <a:ext cx="4763366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4F64B39-6AAB-933F-C46A-07FA43BE05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61909" y="1632997"/>
            <a:ext cx="4763366" cy="119333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00709" y="5885947"/>
            <a:ext cx="11328458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F14F2A9-59FA-754E-5B1E-11A58CA07A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61909" y="2836716"/>
            <a:ext cx="4763366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B23DCBD-0AA5-7D57-EC78-48DF1E6328C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1909" y="3439389"/>
            <a:ext cx="4763366" cy="14115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3020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688289"/>
            <a:ext cx="5629275" cy="2138039"/>
          </a:xfrm>
        </p:spPr>
        <p:txBody>
          <a:bodyPr anchor="t">
            <a:noAutofit/>
          </a:bodyPr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3429000"/>
            <a:ext cx="5143501" cy="238024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2826327"/>
            <a:ext cx="5143500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00709" y="5885947"/>
            <a:ext cx="11328458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00" y="1153397"/>
            <a:ext cx="5629275" cy="449925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50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s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688289"/>
            <a:ext cx="5629275" cy="2689838"/>
          </a:xfrm>
        </p:spPr>
        <p:txBody>
          <a:bodyPr anchor="t">
            <a:noAutofit/>
          </a:bodyPr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61909" y="1030325"/>
            <a:ext cx="4763366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4F64B39-6AAB-933F-C46A-07FA43BE05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61909" y="1632997"/>
            <a:ext cx="4763366" cy="119333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00709" y="5885947"/>
            <a:ext cx="11328458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F14F2A9-59FA-754E-5B1E-11A58CA07A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61909" y="2836716"/>
            <a:ext cx="4763366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B23DCBD-0AA5-7D57-EC78-48DF1E6328C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1909" y="3439389"/>
            <a:ext cx="4763366" cy="14115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96AF8D7-D3E5-B5C6-030A-DFBC5AEC7D0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92282" y="3616037"/>
            <a:ext cx="5503718" cy="207190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68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CD049-71FF-411B-BCE5-A051E826B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C7692D-ABCF-997B-650B-266DF91A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748"/>
            <a:ext cx="2743200" cy="36433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E306B-148D-CE50-D43B-2DEE13785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748"/>
            <a:ext cx="4114800" cy="36433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411AD-3E1B-501F-B9F8-D0AAF3F5F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49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E72686-CE9D-3B74-9DE2-86FB708C15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748"/>
            <a:ext cx="2743200" cy="36433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D822D6-F437-1E07-DBC9-57FD73212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748"/>
            <a:ext cx="4114800" cy="36433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AF305-6821-F7EE-9D30-6FE81EC2B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79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0" y="688288"/>
            <a:ext cx="4433455" cy="3966824"/>
          </a:xfrm>
        </p:spPr>
        <p:txBody>
          <a:bodyPr anchor="t">
            <a:noAutofit/>
          </a:bodyPr>
          <a:lstStyle>
            <a:lvl1pPr>
              <a:defRPr sz="75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096000" cy="685799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11636" y="5936851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3551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1066667" cy="4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312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BD9625-ED1C-9C68-D8B9-B6502FCCB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523"/>
            <a:ext cx="10515600" cy="1325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293A9-2FAF-A155-DC7A-FE995344A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229"/>
            <a:ext cx="10515600" cy="4351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1B5DE-B15D-9D1C-21D2-953FFCB00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323958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">
            <a:extLst>
              <a:ext uri="{FF2B5EF4-FFF2-40B4-BE49-F238E27FC236}">
                <a16:creationId xmlns:a16="http://schemas.microsoft.com/office/drawing/2014/main" id="{2CC72135-826E-3084-1ACC-9293218F24EE}"/>
              </a:ext>
            </a:extLst>
          </p:cNvPr>
          <p:cNvGrpSpPr/>
          <p:nvPr userDrawn="1"/>
        </p:nvGrpSpPr>
        <p:grpSpPr>
          <a:xfrm>
            <a:off x="11350549" y="6275881"/>
            <a:ext cx="378619" cy="267073"/>
            <a:chOff x="0" y="0"/>
            <a:chExt cx="504824" cy="356095"/>
          </a:xfrm>
        </p:grpSpPr>
        <p:sp>
          <p:nvSpPr>
            <p:cNvPr id="8" name="Line">
              <a:extLst>
                <a:ext uri="{FF2B5EF4-FFF2-40B4-BE49-F238E27FC236}">
                  <a16:creationId xmlns:a16="http://schemas.microsoft.com/office/drawing/2014/main" id="{024BCD63-D1A0-9E6D-3EA4-16D1E0509D18}"/>
                </a:ext>
              </a:extLst>
            </p:cNvPr>
            <p:cNvSpPr/>
            <p:nvPr/>
          </p:nvSpPr>
          <p:spPr>
            <a:xfrm>
              <a:off x="0" y="180134"/>
              <a:ext cx="50482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9" name="Line">
              <a:extLst>
                <a:ext uri="{FF2B5EF4-FFF2-40B4-BE49-F238E27FC236}">
                  <a16:creationId xmlns:a16="http://schemas.microsoft.com/office/drawing/2014/main" id="{3E483999-BF7F-A26B-845E-8C65CD948361}"/>
                </a:ext>
              </a:extLst>
            </p:cNvPr>
            <p:cNvSpPr/>
            <p:nvPr/>
          </p:nvSpPr>
          <p:spPr>
            <a:xfrm>
              <a:off x="324689" y="0"/>
              <a:ext cx="177185" cy="17718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0" name="Line">
              <a:extLst>
                <a:ext uri="{FF2B5EF4-FFF2-40B4-BE49-F238E27FC236}">
                  <a16:creationId xmlns:a16="http://schemas.microsoft.com/office/drawing/2014/main" id="{B9696663-8271-B1D6-1A2F-9E2DDAA3DD5E}"/>
                </a:ext>
              </a:extLst>
            </p:cNvPr>
            <p:cNvSpPr/>
            <p:nvPr/>
          </p:nvSpPr>
          <p:spPr>
            <a:xfrm flipV="1">
              <a:off x="324689" y="178911"/>
              <a:ext cx="177185" cy="17718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" name="textruta 3">
            <a:extLst>
              <a:ext uri="{FF2B5EF4-FFF2-40B4-BE49-F238E27FC236}">
                <a16:creationId xmlns:a16="http://schemas.microsoft.com/office/drawing/2014/main" id="{2DC00BBB-96D5-E144-A351-6386B4BABF32}"/>
              </a:ext>
            </a:extLst>
          </p:cNvPr>
          <p:cNvSpPr txBox="1"/>
          <p:nvPr userDrawn="1"/>
        </p:nvSpPr>
        <p:spPr>
          <a:xfrm>
            <a:off x="10707476" y="6260827"/>
            <a:ext cx="759780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89" rIns="34289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2000">
                <a:solidFill>
                  <a:srgbClr val="000000"/>
                </a:solidFill>
              </a:defRPr>
            </a:lvl1pPr>
          </a:lstStyle>
          <a:p>
            <a:r>
              <a:rPr sz="1500" dirty="0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2276643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9" r:id="rId7"/>
    <p:sldLayoutId id="2147483680" r:id="rId8"/>
    <p:sldLayoutId id="2147483681" r:id="rId9"/>
    <p:sldLayoutId id="2147483689" r:id="rId10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0">
          <p15:clr>
            <a:srgbClr val="F26B43"/>
          </p15:clr>
        </p15:guide>
        <p15:guide id="2" pos="392">
          <p15:clr>
            <a:srgbClr val="F26B43"/>
          </p15:clr>
        </p15:guide>
        <p15:guide id="3" orient="horz" pos="5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632CE9-C0E9-4E72-861A-98357497A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ЭВМ 4 поколения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7D80008-CDA5-BCCC-3996-DFED1DD1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z="2000" smtClean="0"/>
              <a:t>1</a:t>
            </a:fld>
            <a:endParaRPr lang="en-US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0384F5E-6058-CBC1-6659-5CF0D8C6CB1A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r="5556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435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51A62-AE19-F1B9-C2D6-A1F2C2EE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ЭВМ 4 поколения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FCEE39-C8B8-7BCA-B031-567BE85A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z="2000" smtClean="0"/>
              <a:t>2</a:t>
            </a:fld>
            <a:endParaRPr lang="en-US" sz="20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A0E4D-62CF-430C-2CA0-A814A5FFEE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2826328"/>
            <a:ext cx="5143501" cy="2982915"/>
          </a:xfrm>
        </p:spPr>
        <p:txBody>
          <a:bodyPr>
            <a:normAutofit/>
          </a:bodyPr>
          <a:lstStyle/>
          <a:p>
            <a:r>
              <a:rPr lang="ru-RU" sz="2800" dirty="0"/>
              <a:t>ЭВМ 4-го поколения — это период в развитии вычислительной техники, который начался в </a:t>
            </a:r>
            <a:r>
              <a:rPr lang="ru-RU" sz="2800" b="1" dirty="0"/>
              <a:t>1970-х</a:t>
            </a:r>
            <a:r>
              <a:rPr lang="ru-RU" sz="2800" dirty="0"/>
              <a:t> годах и продолжается по настоящее время.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42B3B50-D77F-E989-BF9F-E1EEF3235245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4" r="1784"/>
          <a:stretch>
            <a:fillRect/>
          </a:stretch>
        </p:blipFill>
        <p:spPr>
          <a:xfrm>
            <a:off x="6096000" y="1154113"/>
            <a:ext cx="5629275" cy="449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176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51A62-AE19-F1B9-C2D6-A1F2C2EE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FCEE39-C8B8-7BCA-B031-567BE85A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z="2000" smtClean="0"/>
              <a:t>3</a:t>
            </a:fld>
            <a:endParaRPr lang="en-US" sz="20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A0E4D-62CF-430C-2CA0-A814A5FFEE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2826328"/>
            <a:ext cx="5143501" cy="2982915"/>
          </a:xfrm>
        </p:spPr>
        <p:txBody>
          <a:bodyPr>
            <a:normAutofit/>
          </a:bodyPr>
          <a:lstStyle/>
          <a:p>
            <a:r>
              <a:rPr lang="ru-RU" sz="2800" dirty="0"/>
              <a:t>Главной особенностью этого поколения стало использование </a:t>
            </a:r>
            <a:r>
              <a:rPr lang="ru-RU" sz="2800" b="1" dirty="0"/>
              <a:t>микропроцессоров</a:t>
            </a:r>
            <a:r>
              <a:rPr lang="ru-RU" sz="2800" dirty="0"/>
              <a:t> — интегральных схем, содержащих весь центральный процессор на одном кристалле.</a:t>
            </a:r>
          </a:p>
        </p:txBody>
      </p:sp>
      <p:pic>
        <p:nvPicPr>
          <p:cNvPr id="3076" name="Picture 4" descr="Picture background">
            <a:extLst>
              <a:ext uri="{FF2B5EF4-FFF2-40B4-BE49-F238E27FC236}">
                <a16:creationId xmlns:a16="http://schemas.microsoft.com/office/drawing/2014/main" id="{F5936578-EFFE-4530-B326-410D0D34D28F}"/>
              </a:ext>
            </a:extLst>
          </p:cNvPr>
          <p:cNvPicPr>
            <a:picLocks noGrp="1" noChangeAspect="1" noChangeArrowheads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9" r="3079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1914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51A62-AE19-F1B9-C2D6-A1F2C2EE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800" dirty="0"/>
              <a:t>Появление первого микропроцессора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FCEE39-C8B8-7BCA-B031-567BE85A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z="2000" smtClean="0"/>
              <a:t>4</a:t>
            </a:fld>
            <a:endParaRPr lang="en-US" sz="20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A0E4D-62CF-430C-2CA0-A814A5FFEE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2826328"/>
            <a:ext cx="5143501" cy="2982915"/>
          </a:xfrm>
        </p:spPr>
        <p:txBody>
          <a:bodyPr>
            <a:normAutofit fontScale="85000" lnSpcReduction="10000"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32-летний сотрудник Intel 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Маршиан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Эдвард «Тед»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Хофф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(а) предложил заменить эту кучу микросхем до трех. 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Итальянский физик Федерико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Фаджин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(б)  объединил все это в один чип. Ему помогал японец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Масатоси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Сима(в).</a:t>
            </a:r>
          </a:p>
          <a:p>
            <a:endParaRPr lang="ru-RU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C01DC3-4F21-7AEC-3A5F-C2652374E46C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/>
          <a:srcRect l="6530" r="6530"/>
          <a:stretch>
            <a:fillRect/>
          </a:stretch>
        </p:blipFill>
        <p:spPr>
          <a:xfrm>
            <a:off x="6096000" y="1154113"/>
            <a:ext cx="5629275" cy="449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0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51A62-AE19-F1B9-C2D6-A1F2C2EE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5400" dirty="0"/>
              <a:t>Первый микропроцессор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FCEE39-C8B8-7BCA-B031-567BE85A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z="2000" smtClean="0"/>
              <a:t>5</a:t>
            </a:fld>
            <a:endParaRPr lang="en-US" sz="20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A0E4D-62CF-430C-2CA0-A814A5FFEE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2826328"/>
            <a:ext cx="5143501" cy="2982915"/>
          </a:xfrm>
        </p:spPr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Микропроцессоры — это сердце ЭВМ 4-го поколения. Представленный компанией Intel в 1971 году - Intel 4004, который содержал все необходимые для вычислений функции на одном кристалле.</a:t>
            </a:r>
          </a:p>
          <a:p>
            <a:endParaRPr lang="ru-RU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C8AA6D-1364-BD66-EE07-4057B7C558CA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/>
          <a:srcRect l="8292" r="8292"/>
          <a:stretch>
            <a:fillRect/>
          </a:stretch>
        </p:blipFill>
        <p:spPr>
          <a:xfrm>
            <a:off x="6096000" y="1154113"/>
            <a:ext cx="5629275" cy="449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69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51A62-AE19-F1B9-C2D6-A1F2C2EE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5400" dirty="0"/>
              <a:t>Отечественный микропроцессор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FCEE39-C8B8-7BCA-B031-567BE85A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z="2000" smtClean="0"/>
              <a:t>6</a:t>
            </a:fld>
            <a:endParaRPr lang="en-US" sz="20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A0E4D-62CF-430C-2CA0-A814A5FFEE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2826328"/>
            <a:ext cx="5143501" cy="2982915"/>
          </a:xfrm>
        </p:spPr>
        <p:txBody>
          <a:bodyPr>
            <a:normAutofit lnSpcReduction="10000"/>
          </a:bodyPr>
          <a:lstStyle/>
          <a:p>
            <a:r>
              <a:rPr lang="ru-RU" sz="2800" dirty="0">
                <a:effectLst/>
                <a:ea typeface="Calibri" panose="020F0502020204030204" pitchFamily="34" charset="0"/>
              </a:rPr>
              <a:t>Первая отечественная разработка "КР580ИК80", аналог американского Intel 8080, была выпущена лишь в 1977 году. США значительно опередили СССР в разработке коммерческих микропроцессоров.</a:t>
            </a:r>
            <a:endParaRPr lang="ru-RU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36B8FB5-DE03-4A30-AAFE-BD66CC16E5D2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/>
          <a:srcRect l="15435" r="15435"/>
          <a:stretch>
            <a:fillRect/>
          </a:stretch>
        </p:blipFill>
        <p:spPr>
          <a:xfrm>
            <a:off x="6096000" y="1154113"/>
            <a:ext cx="5629275" cy="449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190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EB66E3-35DF-55F6-3A45-0B0A66999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Аппаратная база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8D06E0A-0C16-60B2-8850-B69BDCDED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z="2000" smtClean="0"/>
              <a:t>7</a:t>
            </a:fld>
            <a:endParaRPr lang="en-US" sz="2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9C65D3-85F0-EB77-D49F-C26068A1A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4648"/>
            <a:ext cx="10515600" cy="548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623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EB66E3-35DF-55F6-3A45-0B0A66999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Структурная схема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8D06E0A-0C16-60B2-8850-B69BDCDED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z="2000" smtClean="0"/>
              <a:t>8</a:t>
            </a:fld>
            <a:endParaRPr lang="en-US" sz="2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8CE5623-F559-0F17-EB90-B0AE0E4857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46" b="1559"/>
          <a:stretch/>
        </p:blipFill>
        <p:spPr>
          <a:xfrm>
            <a:off x="0" y="1690688"/>
            <a:ext cx="10442448" cy="507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047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51A62-AE19-F1B9-C2D6-A1F2C2EE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IBM PC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FCEE39-C8B8-7BCA-B031-567BE85A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z="2000" smtClean="0"/>
              <a:t>9</a:t>
            </a:fld>
            <a:endParaRPr lang="en-US" sz="20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A0E4D-62CF-430C-2CA0-A814A5FFEE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2826328"/>
            <a:ext cx="5143501" cy="2982915"/>
          </a:xfrm>
        </p:spPr>
        <p:txBody>
          <a:bodyPr>
            <a:normAutofit fontScale="92500" lnSpcReduction="20000"/>
          </a:bodyPr>
          <a:lstStyle/>
          <a:p>
            <a:r>
              <a:rPr lang="ru-RU" sz="3200" dirty="0"/>
              <a:t>IBM PC появился в 1981 году и стал основой для большинства будущих персональных компьютеров. Он установил стандарты аппаратного и программного обеспечения, которые до сих пор используются.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9451B260-1220-FABE-BE65-C22DDCF4BDDA}"/>
              </a:ext>
            </a:extLst>
          </p:cNvPr>
          <p:cNvPicPr>
            <a:picLocks noGrp="1" noChangeAspect="1" noChangeArrowheads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7" r="8377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4121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51A62-AE19-F1B9-C2D6-A1F2C2EE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Apple 1 </a:t>
            </a:r>
            <a:r>
              <a:rPr lang="ru-RU" sz="5400" dirty="0"/>
              <a:t>и </a:t>
            </a:r>
            <a:r>
              <a:rPr lang="en-US" sz="5400" dirty="0"/>
              <a:t>Apple 2</a:t>
            </a:r>
            <a:endParaRPr lang="ru-RU" sz="5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FCEE39-C8B8-7BCA-B031-567BE85A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323958"/>
            <a:ext cx="441960" cy="364331"/>
          </a:xfrm>
        </p:spPr>
        <p:txBody>
          <a:bodyPr/>
          <a:lstStyle/>
          <a:p>
            <a:fld id="{B4E73946-9152-2148-B286-BEF1B04A8193}" type="slidenum">
              <a:rPr lang="en-US" sz="2000" smtClean="0"/>
              <a:t>10</a:t>
            </a:fld>
            <a:endParaRPr lang="en-US" sz="20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A0E4D-62CF-430C-2CA0-A814A5FFEE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2826328"/>
            <a:ext cx="5143501" cy="2982915"/>
          </a:xfrm>
        </p:spPr>
        <p:txBody>
          <a:bodyPr>
            <a:normAutofit lnSpcReduction="10000"/>
          </a:bodyPr>
          <a:lstStyle/>
          <a:p>
            <a:r>
              <a:rPr lang="ru-RU" sz="2800" dirty="0"/>
              <a:t>Apple 1 и Apple 2, выпущенные в 1976 и 1977 годах соответственно, стали одними из первых массовых ПК. Они привнесли в индустрию инновационные идеи о пользовательском интерфейсе и графической среде.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37B150-1E4C-0B1C-93EA-B8658D3944A5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/>
          <a:srcRect t="6234" b="6234"/>
          <a:stretch>
            <a:fillRect/>
          </a:stretch>
        </p:blipFill>
        <p:spPr>
          <a:xfrm>
            <a:off x="6096000" y="1154113"/>
            <a:ext cx="5629275" cy="449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186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51A62-AE19-F1B9-C2D6-A1F2C2EE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5400" dirty="0"/>
              <a:t>Советские ЭВМ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FCEE39-C8B8-7BCA-B031-567BE85A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323958"/>
            <a:ext cx="441960" cy="364331"/>
          </a:xfrm>
        </p:spPr>
        <p:txBody>
          <a:bodyPr/>
          <a:lstStyle/>
          <a:p>
            <a:fld id="{B4E73946-9152-2148-B286-BEF1B04A8193}" type="slidenum">
              <a:rPr lang="en-US" sz="2000" smtClean="0"/>
              <a:t>11</a:t>
            </a:fld>
            <a:endParaRPr lang="en-US" sz="20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A0E4D-62CF-430C-2CA0-A814A5FFEE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2826328"/>
            <a:ext cx="5143501" cy="2982915"/>
          </a:xfrm>
        </p:spPr>
        <p:txBody>
          <a:bodyPr>
            <a:normAutofit fontScale="92500" lnSpcReduction="20000"/>
          </a:bodyPr>
          <a:lstStyle/>
          <a:p>
            <a:r>
              <a:rPr lang="ru-RU" sz="2800" dirty="0"/>
              <a:t>Советские вычислительные машины, такие как серия ЕС ЭВМ и Эльбрус-1, были разработаны для обеспечения вычислительных мощностей для научных и промышленных нужд. Эти системы обеспечивали высокую производительность и безопасность, что было актуально в условиях Закрытой экономики. </a:t>
            </a:r>
          </a:p>
        </p:txBody>
      </p:sp>
      <p:pic>
        <p:nvPicPr>
          <p:cNvPr id="8" name="Picture 4" descr="Picture background">
            <a:extLst>
              <a:ext uri="{FF2B5EF4-FFF2-40B4-BE49-F238E27FC236}">
                <a16:creationId xmlns:a16="http://schemas.microsoft.com/office/drawing/2014/main" id="{9711DB0C-BDE7-83AD-2FA6-F5AE634E7D09}"/>
              </a:ext>
            </a:extLst>
          </p:cNvPr>
          <p:cNvPicPr>
            <a:picLocks noGrp="1" noChangeAspect="1" noChangeArrowheads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7" r="4017"/>
          <a:stretch>
            <a:fillRect/>
          </a:stretch>
        </p:blipFill>
        <p:spPr bwMode="auto">
          <a:xfrm>
            <a:off x="6096000" y="1154113"/>
            <a:ext cx="5629275" cy="449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9255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51A62-AE19-F1B9-C2D6-A1F2C2EE3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688289"/>
            <a:ext cx="6436995" cy="2138039"/>
          </a:xfrm>
        </p:spPr>
        <p:txBody>
          <a:bodyPr/>
          <a:lstStyle/>
          <a:p>
            <a:r>
              <a:rPr lang="ru-RU" sz="5400" dirty="0"/>
              <a:t>Производительность ЭВМ 4 поколения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FCEE39-C8B8-7BCA-B031-567BE85A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323958"/>
            <a:ext cx="441960" cy="364331"/>
          </a:xfrm>
        </p:spPr>
        <p:txBody>
          <a:bodyPr/>
          <a:lstStyle/>
          <a:p>
            <a:fld id="{B4E73946-9152-2148-B286-BEF1B04A8193}" type="slidenum">
              <a:rPr lang="en-US" sz="2000" smtClean="0"/>
              <a:t>12</a:t>
            </a:fld>
            <a:endParaRPr lang="en-US" sz="20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A0E4D-62CF-430C-2CA0-A814A5FFEE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2826328"/>
            <a:ext cx="5143501" cy="2982915"/>
          </a:xfrm>
        </p:spPr>
        <p:txBody>
          <a:bodyPr>
            <a:normAutofit fontScale="62500" lnSpcReduction="20000"/>
          </a:bodyPr>
          <a:lstStyle/>
          <a:p>
            <a:r>
              <a:rPr lang="ru-RU" sz="2800" dirty="0"/>
              <a:t>Каждое новое поколение микропроцессоров было в несколько раз мощнее предыдущего. Закон Мура, сформулированный в 1965 году, предсказывал, что количество транзисторов на чипе будет удваиваться примерно каждые два года, что и происходило.</a:t>
            </a:r>
          </a:p>
          <a:p>
            <a:r>
              <a:rPr lang="ru-RU" sz="2800" dirty="0"/>
              <a:t>Микропроцессоры прошли путь от 4-битных к 64-битным, с ростом количества ядер, что позволило компьютерам работать быстрее и выполнять более сложные задачи.</a:t>
            </a:r>
          </a:p>
          <a:p>
            <a:r>
              <a:rPr lang="ru-RU" sz="2800" dirty="0"/>
              <a:t>Появление многоядерных процессоров позволило увеличить производительность без увеличения частоты процессора</a:t>
            </a:r>
          </a:p>
          <a:p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BBAB654-7447-E9E7-8679-86A46B343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285" y="688289"/>
            <a:ext cx="2828789" cy="506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398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51A62-AE19-F1B9-C2D6-A1F2C2EE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Появление ноутбуков и мобильных компьютеров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FCEE39-C8B8-7BCA-B031-567BE85A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323958"/>
            <a:ext cx="441960" cy="364331"/>
          </a:xfrm>
        </p:spPr>
        <p:txBody>
          <a:bodyPr/>
          <a:lstStyle/>
          <a:p>
            <a:fld id="{B4E73946-9152-2148-B286-BEF1B04A8193}" type="slidenum">
              <a:rPr lang="en-US" sz="2000" smtClean="0"/>
              <a:t>13</a:t>
            </a:fld>
            <a:endParaRPr lang="en-US" sz="20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A0E4D-62CF-430C-2CA0-A814A5FFEE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2826328"/>
            <a:ext cx="5143501" cy="2982915"/>
          </a:xfrm>
        </p:spPr>
        <p:txBody>
          <a:bodyPr>
            <a:normAutofit fontScale="92500" lnSpcReduction="20000"/>
          </a:bodyPr>
          <a:lstStyle/>
          <a:p>
            <a:r>
              <a:rPr lang="ru-RU" sz="2000" dirty="0"/>
              <a:t>С развитием технологии уменьшались не только настольные компьютеры, но и появлялись новые классы устройств — портативные компьютеры.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В 1981 году был выпущен первый коммерчески успешный ноутбук — </a:t>
            </a:r>
            <a:r>
              <a:rPr lang="ru-RU" sz="2000" b="1" dirty="0" err="1"/>
              <a:t>Osborne</a:t>
            </a:r>
            <a:r>
              <a:rPr lang="ru-RU" sz="2000" b="1" dirty="0"/>
              <a:t> 1</a:t>
            </a:r>
            <a:r>
              <a:rPr lang="ru-RU" sz="2000" dirty="0"/>
              <a:t>. Он весил около 10 кг, но это было огромное достижение для того времени, так как устройство стало мобильным.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В 1990-е годы ноутбуки стали повсеместными, и к концу десятилетия появились первые </a:t>
            </a:r>
            <a:r>
              <a:rPr lang="ru-RU" sz="2000" b="1" dirty="0"/>
              <a:t>мобильные устройства</a:t>
            </a:r>
            <a:r>
              <a:rPr lang="ru-RU" sz="2000" dirty="0"/>
              <a:t> с доступом к Интернету.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C7A05C5-3A22-E089-EFA6-BB058B6F8630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/>
          <a:srcRect l="7771" r="7771"/>
          <a:stretch>
            <a:fillRect/>
          </a:stretch>
        </p:blipFill>
        <p:spPr>
          <a:xfrm>
            <a:off x="6096000" y="1154113"/>
            <a:ext cx="5629275" cy="449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54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/>
        </p:nvGraphicFramePr>
        <p:xfrm>
          <a:off x="853440" y="2438400"/>
          <a:ext cx="10363200" cy="2621280"/>
        </p:xfrm>
        <a:graphic>
          <a:graphicData uri="http://schemas.openxmlformats.org/drawingml/2006/table">
            <a:tbl>
              <a:tblPr/>
              <a:tblGrid>
                <a:gridCol w="518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 SemiBold" pitchFamily="34" charset="0"/>
                          <a:ea typeface="Calibri SemiBold" pitchFamily="34" charset="-122"/>
                          <a:cs typeface="Calibri SemiBold" pitchFamily="34" charset="-120"/>
                        </a:rPr>
                        <a:t>Преимущества</a:t>
                      </a:r>
                      <a:endParaRPr lang="en-US" sz="1400" dirty="0">
                        <a:latin typeface="Calibri SemiBold" charset="0"/>
                        <a:ea typeface="Calibri SemiBold" charset="0"/>
                        <a:cs typeface="Calibri SemiBol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 SemiBold" pitchFamily="34" charset="0"/>
                          <a:ea typeface="Calibri SemiBold" pitchFamily="34" charset="-122"/>
                          <a:cs typeface="Calibri SemiBold" pitchFamily="34" charset="-120"/>
                        </a:rPr>
                        <a:t>Недостатки</a:t>
                      </a:r>
                      <a:endParaRPr lang="en-US" sz="1400" dirty="0">
                        <a:latin typeface="Calibri SemiBold" charset="0"/>
                        <a:ea typeface="Calibri SemiBold" charset="0"/>
                        <a:cs typeface="Calibri SemiBol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 производительность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 стоимость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Увеличенные возможности управления данными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Сложность в обслуживании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Многоядерные технологии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Зависимость от электропитания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Совместимость с предыдущими версиями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Потребление ресурсов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914400" y="723900"/>
            <a:ext cx="10439400" cy="1320800"/>
          </a:xfrm>
          <a:prstGeom prst="rect">
            <a:avLst/>
          </a:prstGeom>
          <a:noFill/>
          <a:ln/>
        </p:spPr>
        <p:txBody>
          <a:bodyPr wrap="square" rtlCol="0" anchor="t" anchorCtr="0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6000">
                <a:latin typeface="Calibri"/>
                <a:ea typeface="Calibri"/>
                <a:cs typeface="Calibri"/>
              </a:rPr>
              <a:t>Преимущества и недостатки</a:t>
            </a:r>
            <a:endParaRPr lang="en-US" sz="60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93700" y="5880100"/>
            <a:ext cx="11328400" cy="12700"/>
          </a:xfrm>
          <a:prstGeom prst="line">
            <a:avLst/>
          </a:prstGeom>
          <a:noFill/>
          <a:ln>
            <a:solidFill>
              <a:srgbClr val="000000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3800" y="317500"/>
            <a:ext cx="368300" cy="355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 anchorCtr="0"/>
          <a:lstStyle>
            <a:lvl1pPr marL="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276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519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278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5103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6379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7655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8931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0207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7021451-1387-4CA6-816F-3879F97B5CBC}" type="slidenum">
              <a:rPr lang="en-US" sz="1050" b="0">
                <a:latin typeface="Calibri"/>
                <a:ea typeface="Calibri"/>
                <a:cs typeface="Calibri"/>
              </a:rPr>
              <a:pPr algn="ctr"/>
              <a:t>14</a:t>
            </a:fld>
            <a:endParaRPr lang="en-US" sz="105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800243"/>
      </p:ext>
    </p:extLst>
  </p:cSld>
  <p:clrMapOvr>
    <a:masterClrMapping/>
  </p:clrMapOvr>
</p:sld>
</file>

<file path=ppt/theme/theme1.xml><?xml version="1.0" encoding="utf-8"?>
<a:theme xmlns:a="http://schemas.openxmlformats.org/drawingml/2006/main" name="Midn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82A2ADF-54AB-436A-8FA7-DAEFED3F62EC}">
  <we:reference id="wa200005566" version="3.0.0.2" store="ru-RU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TM02900722[[fn=Ион (конференц-зал)]]</Template>
  <TotalTime>2108</TotalTime>
  <Words>466</Words>
  <Application>Microsoft Office PowerPoint</Application>
  <PresentationFormat>Широкоэкранный</PresentationFormat>
  <Paragraphs>54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Calibri SemiBold</vt:lpstr>
      <vt:lpstr>Times New Roman</vt:lpstr>
      <vt:lpstr>Midnight</vt:lpstr>
      <vt:lpstr>ЭВМ 4 поколения</vt:lpstr>
      <vt:lpstr>Что такое ЭВМ 4 поколения</vt:lpstr>
      <vt:lpstr>Особенность</vt:lpstr>
      <vt:lpstr>Появление первого микропроцессора</vt:lpstr>
      <vt:lpstr>Первый микропроцессор</vt:lpstr>
      <vt:lpstr>Отечественный микропроцессор</vt:lpstr>
      <vt:lpstr>Аппаратная база</vt:lpstr>
      <vt:lpstr>Структурная схема</vt:lpstr>
      <vt:lpstr>IBM PC</vt:lpstr>
      <vt:lpstr>Apple 1 и Apple 2</vt:lpstr>
      <vt:lpstr>Советские ЭВМ</vt:lpstr>
      <vt:lpstr>Производительность ЭВМ 4 поколения</vt:lpstr>
      <vt:lpstr>Появление ноутбуков и мобильных компьютеров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Dix1k</dc:creator>
  <cp:lastModifiedBy>Dix1k</cp:lastModifiedBy>
  <cp:revision>10</cp:revision>
  <dcterms:created xsi:type="dcterms:W3CDTF">2024-09-07T14:07:20Z</dcterms:created>
  <dcterms:modified xsi:type="dcterms:W3CDTF">2024-09-24T09:23:47Z</dcterms:modified>
</cp:coreProperties>
</file>