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8" r:id="rId4"/>
    <p:sldId id="270" r:id="rId5"/>
    <p:sldId id="282" r:id="rId6"/>
    <p:sldId id="266" r:id="rId7"/>
    <p:sldId id="267" r:id="rId8"/>
    <p:sldId id="283" r:id="rId9"/>
    <p:sldId id="271" r:id="rId10"/>
    <p:sldId id="272" r:id="rId11"/>
    <p:sldId id="273" r:id="rId12"/>
    <p:sldId id="280" r:id="rId13"/>
    <p:sldId id="281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7C505-6B81-459D-8612-9C329102BBB0}" type="datetimeFigureOut">
              <a:rPr lang="ru-RU" smtClean="0"/>
              <a:t>24.09.2024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2189D-BB2E-4EF8-A732-4262141FAB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23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E7B6C-BC22-4C32-BB62-DFB93A60BE73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237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6156-9939-476B-9B81-C902F46A9352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52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9766F-4842-485A-BFC9-AAB40EDAAD62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308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87A8-8900-44BA-AF32-03C224B3D0C4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63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894F2-BD0B-47BB-AE11-E63EE97FBC25}" type="datetime1">
              <a:rPr lang="ru-RU" smtClean="0"/>
              <a:t>24.09.2024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84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C9AE-FCF4-4DE9-8F4C-0E2D7BDBF6F7}" type="datetime1">
              <a:rPr lang="ru-RU" smtClean="0"/>
              <a:t>24.09.2024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99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EC87-FBE8-42BA-A899-15DFE456CCF1}" type="datetime1">
              <a:rPr lang="ru-RU" smtClean="0"/>
              <a:t>24.09.2024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66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83BAD-4727-4445-90B6-D1719A76020F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72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6FFF-1FF9-46F5-B04D-551A6C839DB1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72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039DE-441E-44A8-975B-EEF3AC81FD3A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94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B45B-4A9F-486E-B33E-1E03467FB3AD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9121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9CE3-0EEE-41EC-B01F-1F009A2EDDC5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11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2F7AB-0C01-4CD2-8B97-952684DCD8F0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1904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F00EF-C90F-42A1-80BF-24197EB00D41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177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3EC01-0ABF-4091-983F-C5E81D004ACB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73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98ACD-3007-4F95-BD11-22746420B218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87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D3D80-E8AC-429A-A2DC-7A9F945C0689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A243D5-21C7-4A8B-A546-522BEBB70F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47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060F5-3806-4ABA-8226-AFDC5D2B9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Второе поколение ЭВМ (1950-е – 1960-е годы)</a:t>
            </a:r>
          </a:p>
        </p:txBody>
      </p:sp>
    </p:spTree>
    <p:extLst>
      <p:ext uri="{BB962C8B-B14F-4D97-AF65-F5344CB8AC3E}">
        <p14:creationId xmlns:p14="http://schemas.microsoft.com/office/powerpoint/2010/main" val="297049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D4F52-FE40-7BE7-7C12-25CE5D65A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 от вакуумных ламп к транзисторам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AFD2739-A06E-AA57-1970-62C85D85F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2820194"/>
            <a:ext cx="4184650" cy="313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9BF484F1-2060-24A6-0475-4BDBC1C9E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873" y="2736850"/>
            <a:ext cx="4138366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0019FD9A-D6D6-C7BA-156A-4D7020BB9F07}"/>
              </a:ext>
            </a:extLst>
          </p:cNvPr>
          <p:cNvCxnSpPr>
            <a:cxnSpLocks/>
          </p:cNvCxnSpPr>
          <p:nvPr/>
        </p:nvCxnSpPr>
        <p:spPr>
          <a:xfrm>
            <a:off x="3904488" y="4389438"/>
            <a:ext cx="26426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AFEC2784-C7B1-D611-05A3-EDF8507E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2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6074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854528" cy="1278466"/>
          </a:xfrm>
        </p:spPr>
        <p:txBody>
          <a:bodyPr>
            <a:normAutofit/>
          </a:bodyPr>
          <a:lstStyle/>
          <a:p>
            <a:r>
              <a:rPr lang="ru-RU" sz="4000" dirty="0"/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ЭВМ второго поколения использовали транзисторы вместо вакуумных ламп. Период: конец 1950-х до середины 1960-х годов. Важный шаг к более компактным и надёжным вычислительным системам.</a:t>
            </a:r>
            <a:endParaRPr lang="ru-RU" sz="2000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95C38A24-02E8-1950-052A-93C492879C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3" t="21722" r="8152" b="9482"/>
          <a:stretch/>
        </p:blipFill>
        <p:spPr bwMode="auto">
          <a:xfrm>
            <a:off x="4760461" y="1426464"/>
            <a:ext cx="6641418" cy="345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F2A278-8FCF-EEEF-F72D-F5FD176A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3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477983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/>
          </a:bodyPr>
          <a:lstStyle/>
          <a:p>
            <a:r>
              <a:rPr lang="ru-RU" sz="4000" dirty="0"/>
              <a:t>Транзисторы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 lnSpcReduction="10000"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Транзисторы заменили вакуумные лампы: меньшие размеры, меньшее энергопотребление, более высокая надёжность. Уменьшение размеров компьютеров, улучшение производительности. Снижение тепловыделения и энергозатрат.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D05BDF9A-D684-3042-91F9-9082271425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76"/>
          <a:stretch/>
        </p:blipFill>
        <p:spPr bwMode="auto">
          <a:xfrm>
            <a:off x="5001767" y="660269"/>
            <a:ext cx="4288537" cy="5700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DA38E6D-09B6-D0FF-41F5-510032F4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4</a:t>
            </a:fld>
            <a:endParaRPr lang="ru-RU" sz="16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C36732A-8A5E-2609-3DFD-5E7B8CF96CCE}"/>
              </a:ext>
            </a:extLst>
          </p:cNvPr>
          <p:cNvSpPr/>
          <p:nvPr/>
        </p:nvSpPr>
        <p:spPr>
          <a:xfrm>
            <a:off x="6684264" y="3429000"/>
            <a:ext cx="2459736" cy="17007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CAC9BB-2D12-5F48-32DB-C58D57C745DA}"/>
              </a:ext>
            </a:extLst>
          </p:cNvPr>
          <p:cNvSpPr/>
          <p:nvPr/>
        </p:nvSpPr>
        <p:spPr>
          <a:xfrm>
            <a:off x="7549896" y="3166602"/>
            <a:ext cx="2142744" cy="1423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66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CC47B605-D7F4-2397-4599-1C0E0E182635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9" t="20143" r="16935" b="40623"/>
          <a:stretch/>
        </p:blipFill>
        <p:spPr bwMode="auto">
          <a:xfrm>
            <a:off x="677334" y="268257"/>
            <a:ext cx="8795850" cy="4098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61B04-CFFE-61F8-78A1-071915799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27" y="249900"/>
            <a:ext cx="8596667" cy="566738"/>
          </a:xfrm>
        </p:spPr>
        <p:txBody>
          <a:bodyPr/>
          <a:lstStyle/>
          <a:p>
            <a:r>
              <a:rPr lang="ru-RU" dirty="0"/>
              <a:t>Работа транзистора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F6CEDC-E913-003F-2CB9-DB9C8D608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0990" y="4485926"/>
            <a:ext cx="9262194" cy="1558257"/>
          </a:xfrm>
        </p:spPr>
        <p:txBody>
          <a:bodyPr>
            <a:normAutofit/>
          </a:bodyPr>
          <a:lstStyle/>
          <a:p>
            <a:r>
              <a:rPr lang="ru-RU" sz="2800" dirty="0"/>
              <a:t>При подаче напряжения более 0,7 вольта на базу в цепи коллектора получаем усиленный сигнал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481E45-CCB9-B716-E591-CA3EC5F1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400" smtClean="0"/>
              <a:t>5</a:t>
            </a:fld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69128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91887C-6367-AFE1-FECA-8DA47C13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Аппаратная база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C7D5703-37F1-0F4A-2BD3-34FA6FE03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05561"/>
            <a:ext cx="8137482" cy="5311986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570DB6-5DCD-DD5D-CEF7-92B03965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6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863646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6CE34-9DEE-3C95-E8A8-AD1A3668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Структурная схема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EE7FB11-A541-593A-3D3B-BB3663D99F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373864"/>
            <a:ext cx="8292930" cy="526172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50B07B-6AE0-43E4-8B1A-0760C218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7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58531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Характеристики ЭВМ второго поколения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8F7AB3-F1F7-4D8F-80EF-52F57B2E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8</a:t>
            </a:fld>
            <a:endParaRPr lang="ru-RU" sz="16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AD29194-E889-2D62-399B-C92BAF30D1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65" t="22108" r="39794" b="5181"/>
          <a:stretch/>
        </p:blipFill>
        <p:spPr bwMode="auto">
          <a:xfrm>
            <a:off x="7022495" y="961970"/>
            <a:ext cx="1596801" cy="517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B7FCE8-FA0F-F92E-4729-DB9858543E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4" t="13867" r="72867" b="4934"/>
          <a:stretch/>
        </p:blipFill>
        <p:spPr>
          <a:xfrm>
            <a:off x="4963731" y="382320"/>
            <a:ext cx="2058764" cy="575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9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Характеристики ЭВМ второго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 fontScale="92500"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Повышенная скорость работы и производительность по сравнению с первым поколением. Увеличение объёмов памяти и возможностей обработки данных. Компактные размеры и улучшенная надёжность. Программирование на более высокоуровневых языках.</a:t>
            </a:r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708EAF0B-4278-5E98-26A1-77C30A8CBE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460" y="1467931"/>
            <a:ext cx="7180003" cy="406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D8F7AB3-F1F7-4D8F-80EF-52F57B2E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9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96067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/>
          </a:bodyPr>
          <a:lstStyle/>
          <a:p>
            <a:r>
              <a:rPr lang="ru-RU" sz="4000" dirty="0"/>
              <a:t>Программирование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Появление высокоуровневых языков программирования: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Fortran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COBOL. Автоматизация и упрощение написания программ. Программы становились более сложными, но проще в разработке и обслуживании.</a:t>
            </a:r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6F63AA55-B568-D6DB-9D62-95FE128F4E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460" y="1452472"/>
            <a:ext cx="7027656" cy="395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52053B-2CDE-EB02-E885-DD28B53C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10</a:t>
            </a:fld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10642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Важные модели ЭВМ второго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/>
          </a:bodyPr>
          <a:lstStyle/>
          <a:p>
            <a:r>
              <a:rPr lang="ru-RU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IBM 1401 (1959) — массово производимая модель для бизнеса.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1E7DE72-6A34-7498-B1F4-DA2CD1E68B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460" y="1156133"/>
            <a:ext cx="6513640" cy="488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D0A7A3-22F2-9193-6D02-632C21DC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141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Важные модели ЭВМ второго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/>
          </a:bodyPr>
          <a:lstStyle/>
          <a:p>
            <a:r>
              <a:rPr lang="ru-RU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IBM 7090 (1959) — одна из первых машин для научных и инженерных расчётов.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F5C6B56-7489-A853-96EE-2D7BAE1608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460" y="1329605"/>
            <a:ext cx="6950431" cy="3947046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D86607-C2E9-0F55-4750-E700EE07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827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Важные модели ЭВМ второго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/>
          </a:bodyPr>
          <a:lstStyle/>
          <a:p>
            <a:r>
              <a:rPr lang="ru-RU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Минск-2 (1962) — советская ЭВМ для научных и экономических задач.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57FD04B-938D-5758-D960-9A7AB2E53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460" y="1528680"/>
            <a:ext cx="6740590" cy="3800640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AAB17A-24B7-23D7-CE8A-5D5497CC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0074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Применение ЭВМ второго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Научные исследования: обработка данных, моделирование. Бизнес и коммерция: автоматизация учёта, обработка больших массивов данных. Военные задачи: управление ракетами, обработка разведданных.</a:t>
            </a:r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E1F9522A-C0E0-3A23-2464-E6D29FEA85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460" y="813018"/>
            <a:ext cx="6541071" cy="523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147972-795B-8F1F-A9FA-9542590E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0691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Достоинства второго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198790"/>
          </a:xfrm>
        </p:spPr>
        <p:txBody>
          <a:bodyPr>
            <a:normAutofit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Уменьшение стоимости и габаритов компьютеров. Повышение надёжности и долговечности. Увеличение производительности и возможностей программирования.</a:t>
            </a:r>
          </a:p>
        </p:txBody>
      </p:sp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4A3BEBA9-DB54-093F-6854-865CDE66A8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460" y="1278466"/>
            <a:ext cx="6285039" cy="469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3F7320-48ED-8824-5690-644089B7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6475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1DF3-9D83-9A72-F6ED-3EE37643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4760461" cy="1278466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Ограничения второго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62FC39-35F3-7D92-1E00-896760E9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920" y="1329605"/>
            <a:ext cx="4513541" cy="4711756"/>
          </a:xfrm>
        </p:spPr>
        <p:txBody>
          <a:bodyPr>
            <a:normAutofit/>
          </a:bodyPr>
          <a:lstStyle/>
          <a:p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Всё ещё относительно большие размеры ЭВМ. Ограниченные возможности по сравнению с более поздними системами. Высокая стоимость оборудования и обслуживания для массового внедрения.</a:t>
            </a:r>
          </a:p>
        </p:txBody>
      </p:sp>
      <p:pic>
        <p:nvPicPr>
          <p:cNvPr id="14338" name="Picture 2" descr="Picture background">
            <a:extLst>
              <a:ext uri="{FF2B5EF4-FFF2-40B4-BE49-F238E27FC236}">
                <a16:creationId xmlns:a16="http://schemas.microsoft.com/office/drawing/2014/main" id="{3875DAC0-4F20-BD1F-7E43-22BA0490BB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460" y="1171341"/>
            <a:ext cx="6769671" cy="451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14F47E-69B0-6D4C-E7D4-A488BAC7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43D5-21C7-4A8B-A546-522BEBB70F7F}" type="slidenum">
              <a:rPr lang="ru-RU" sz="1600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97309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TM02900688[[fn=Аспект]]</Template>
  <TotalTime>74</TotalTime>
  <Words>311</Words>
  <Application>Microsoft Office PowerPoint</Application>
  <PresentationFormat>Широкоэкранный</PresentationFormat>
  <Paragraphs>42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Аспект</vt:lpstr>
      <vt:lpstr>Второе поколение ЭВМ (1950-е – 1960-е годы)</vt:lpstr>
      <vt:lpstr>Переход от вакуумных ламп к транзисторам</vt:lpstr>
      <vt:lpstr>Введение</vt:lpstr>
      <vt:lpstr>Транзисторы</vt:lpstr>
      <vt:lpstr>Работа транзистора</vt:lpstr>
      <vt:lpstr>Аппаратная база</vt:lpstr>
      <vt:lpstr>Структурная схема</vt:lpstr>
      <vt:lpstr>Характеристики ЭВМ второго поколения</vt:lpstr>
      <vt:lpstr>Характеристики ЭВМ второго поколения</vt:lpstr>
      <vt:lpstr>Программирование</vt:lpstr>
      <vt:lpstr>Важные модели ЭВМ второго поколения</vt:lpstr>
      <vt:lpstr>Важные модели ЭВМ второго поколения</vt:lpstr>
      <vt:lpstr>Важные модели ЭВМ второго поколения</vt:lpstr>
      <vt:lpstr>Применение ЭВМ второго поколения</vt:lpstr>
      <vt:lpstr>Достоинства второго поколения</vt:lpstr>
      <vt:lpstr>Ограничения второго поколения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8</cp:revision>
  <dcterms:created xsi:type="dcterms:W3CDTF">2024-09-24T09:31:45Z</dcterms:created>
  <dcterms:modified xsi:type="dcterms:W3CDTF">2024-09-24T14:31:28Z</dcterms:modified>
</cp:coreProperties>
</file>