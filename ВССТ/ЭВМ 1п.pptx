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66" r:id="rId4"/>
    <p:sldId id="269" r:id="rId5"/>
    <p:sldId id="267" r:id="rId6"/>
    <p:sldId id="268" r:id="rId7"/>
    <p:sldId id="265" r:id="rId8"/>
    <p:sldId id="272" r:id="rId9"/>
    <p:sldId id="264" r:id="rId10"/>
    <p:sldId id="263" r:id="rId11"/>
    <p:sldId id="270" r:id="rId12"/>
    <p:sldId id="271" r:id="rId13"/>
    <p:sldId id="262" r:id="rId14"/>
    <p:sldId id="261" r:id="rId15"/>
    <p:sldId id="26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B082B-7F4F-474F-8089-C0366ED4C137}" type="datetimeFigureOut">
              <a:rPr lang="ru-RU" smtClean="0"/>
              <a:t>24.09.2024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D7235-B905-49D7-AC61-36AD0CACA8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24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F3178-1801-42D1-BDB2-3E51F07BB5EF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09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793A-0BC2-43CF-91C2-290AA27E6054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68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42FAC-6A05-4005-86A5-02FA0B3FB932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14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95E9-B631-404A-92DC-A2A3299707D1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62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2D371-3774-445C-80BA-962A099E4A41}" type="datetime1">
              <a:rPr lang="ru-RU" smtClean="0"/>
              <a:t>24.09.2024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07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E912-456D-458A-AFC9-272683D41B6F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91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2E73-7A48-4E76-9789-FBD0C34345D6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80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1086-A40B-4EC1-887E-EB9C39B15F5A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68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DDAF6-6A14-4DF7-AA98-C30FD92497A0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152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66D17-A747-457E-ADAB-18BA92BD1994}" type="datetime1">
              <a:rPr lang="ru-RU" smtClean="0"/>
              <a:t>24.09.2024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07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F5480-FDD6-433E-9FBC-155636B1F62C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24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93FD-E2D1-45C5-A7D5-F0F666B8276B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83017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5865C-7501-46F8-83AB-BB0D7F696683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013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7873-6A2F-46AB-9E85-90C5A6DD8BB1}" type="datetime1">
              <a:rPr lang="ru-RU" smtClean="0"/>
              <a:t>24.09.2024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500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6395F-CEC5-41E1-8395-4A91FD72AAFC}" type="datetime1">
              <a:rPr lang="ru-RU" smtClean="0"/>
              <a:t>24.09.2024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18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7DB26-7BA9-4AA4-A3DE-DCF5234F0274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705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1ECC-82E8-40A8-9BB4-082E2B227F52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548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A99531A-B101-4673-B01F-B15B7795ED88}" type="datetime1">
              <a:rPr lang="ru-RU" smtClean="0"/>
              <a:t>24.09.2024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EB10E-4084-4FF5-A3D7-D4BFDE8288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0918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3FC9C-7616-DC15-38A8-EC2BDE341F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Первое поколение ЭВМ: 1940–1950-е годы</a:t>
            </a:r>
          </a:p>
        </p:txBody>
      </p:sp>
    </p:spTree>
    <p:extLst>
      <p:ext uri="{BB962C8B-B14F-4D97-AF65-F5344CB8AC3E}">
        <p14:creationId xmlns:p14="http://schemas.microsoft.com/office/powerpoint/2010/main" val="23834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/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Введение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/>
              <a:t>Электронно-вычислительные машины, созданные на основе вакуумных ламп, стали началом эпохи цифровых технологий.</a:t>
            </a:r>
          </a:p>
          <a:p>
            <a:r>
              <a:rPr lang="ru-RU" sz="2800" dirty="0"/>
              <a:t>Они появились в период с конца 1940-х до начала 1950-х годов и были разработаны для выполнения сложных математических расчетов и научных исследований.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7655A3-97B9-0636-7E23-E8194600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2</a:t>
            </a:fld>
            <a:endParaRPr lang="ru-RU"/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F83C841E-1EDD-1297-3070-1DB5C62EA626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" r="2773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892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Вакуумные лампы — основа первого поколения ЭВМ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/>
              <a:t>Эти лампы стали основным компонентом, отвечающим за выполнение логических операций.</a:t>
            </a:r>
          </a:p>
          <a:p>
            <a:r>
              <a:rPr lang="ru-RU" sz="2400" dirty="0"/>
              <a:t>Однако они отличались большими размерами, высокой теплоотдачей и энергопотреблением, что вызывало определенные трудности.</a:t>
            </a:r>
          </a:p>
          <a:p>
            <a:r>
              <a:rPr lang="ru-RU" sz="2400" dirty="0"/>
              <a:t>Кроме того, их надежность была ограничена, и они часто выходили из строя из-за перегрева.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340BCE-0C30-3164-D8FA-13B984D1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3</a:t>
            </a:fld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5C32E5B-FD23-663E-A91B-199690C7A981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" r="9102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6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Принцип работы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/>
          </a:bodyPr>
          <a:lstStyle/>
          <a:p>
            <a:r>
              <a:rPr lang="ru-RU" sz="2400" dirty="0"/>
              <a:t>В электровакуумной лампе при подаче небольшого напряжения на сетку в цепи анода получаем усиленный сигнал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340BCE-0C30-3164-D8FA-13B984D1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4</a:t>
            </a:fld>
            <a:endParaRPr lang="ru-RU"/>
          </a:p>
        </p:txBody>
      </p:sp>
      <p:pic>
        <p:nvPicPr>
          <p:cNvPr id="9" name="Picture 2" descr="Picture background">
            <a:extLst>
              <a:ext uri="{FF2B5EF4-FFF2-40B4-BE49-F238E27FC236}">
                <a16:creationId xmlns:a16="http://schemas.microsoft.com/office/drawing/2014/main" id="{522385EC-58D3-35E2-228E-D58099B2BFB4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5" r="55097"/>
          <a:stretch/>
        </p:blipFill>
        <p:spPr bwMode="auto">
          <a:xfrm>
            <a:off x="6096000" y="810439"/>
            <a:ext cx="3383280" cy="581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620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10F8D-E426-10AB-16C8-C84D9C91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Аппаратная база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71A1B35-9CDB-5952-4BAE-BEF0979EF0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1" y="1593842"/>
            <a:ext cx="10008135" cy="481144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11323DE-0D14-3261-3C9E-0177F0D6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186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3ED39-5503-92CE-9A4C-14283E54E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Структурная схема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4A952C7-A1D5-B23F-2D63-65DB02D7F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10" y="1853248"/>
            <a:ext cx="9706430" cy="467719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BEB61F-9CDD-B519-E98E-4B184E76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69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/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Ключевые особенности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Огромные физические размеры, занимавшие целые комнаты.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Низкая скорость выполнения операций по сравнению с современными компьютерами.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Ограниченная память и необходимость программирования на машинных языках.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Высокая стоимость и сложность в эксплуатации.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5C8DA5-3B3A-B41E-4AD7-3F4FC859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7</a:t>
            </a:fld>
            <a:endParaRPr lang="ru-RU"/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DF0B55CF-B23B-A886-2DE7-D5D7FEF28093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7" r="6617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912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15D5A6-A776-4A67-0824-7B0754649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663" y="276012"/>
            <a:ext cx="5092906" cy="1574808"/>
          </a:xfrm>
        </p:spPr>
        <p:txBody>
          <a:bodyPr>
            <a:normAutofit/>
          </a:bodyPr>
          <a:lstStyle/>
          <a:p>
            <a:r>
              <a:rPr lang="ru-RU" sz="4400" dirty="0">
                <a:solidFill>
                  <a:schemeClr val="accent2">
                    <a:lumMod val="75000"/>
                  </a:schemeClr>
                </a:solidFill>
              </a:rPr>
              <a:t>Характеристика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3C3796-DDFD-1E39-0A68-D93369C3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8</a:t>
            </a:fld>
            <a:endParaRPr lang="ru-RU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A66AE232-CE1E-DA67-3517-3D2B9F392E7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7" t="19800" r="55703" b="4600"/>
          <a:stretch/>
        </p:blipFill>
        <p:spPr bwMode="auto">
          <a:xfrm>
            <a:off x="5379720" y="523113"/>
            <a:ext cx="4733544" cy="605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94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ENIAC (Electronic Numerical Integrator and Computer)</a:t>
            </a:r>
            <a:endParaRPr lang="ru-R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 fontScale="92500"/>
          </a:bodyPr>
          <a:lstStyle/>
          <a:p>
            <a:r>
              <a:rPr lang="ru-RU" sz="2800" dirty="0"/>
              <a:t>Эта машина была разработана в 1946 году в США для нужд армии.</a:t>
            </a:r>
          </a:p>
          <a:p>
            <a:r>
              <a:rPr lang="ru-RU" sz="2800" dirty="0"/>
              <a:t>Она состояла из 18 000 вакуумных ламп и занимала площадь более 167 м².</a:t>
            </a:r>
          </a:p>
          <a:p>
            <a:r>
              <a:rPr lang="ru-RU" sz="2800" dirty="0"/>
              <a:t>ENIAC использовался для баллистических расчетов и других научных задач.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1D4808-695D-4BEC-CEC2-AACFDA0B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9</a:t>
            </a:fld>
            <a:endParaRPr lang="ru-RU"/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FE7E9E01-2EBB-14AB-6EE8-B590B881B694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5" b="7035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63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Универсальные и специальные машины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/>
          </a:bodyPr>
          <a:lstStyle/>
          <a:p>
            <a:r>
              <a:rPr lang="ru-RU" sz="3200" dirty="0"/>
              <a:t>EDSAC (1949) — одна из первых ЭВМ, которая использовала хранение программы в памяти.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E9909D-B3DA-CEE6-1E43-28670E21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10</a:t>
            </a:fld>
            <a:endParaRPr lang="ru-RU"/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04547BE5-DA08-8B83-CED9-0746543B9F7E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9" r="3709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373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Универсальные и специальные машины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/>
          </a:bodyPr>
          <a:lstStyle/>
          <a:p>
            <a:r>
              <a:rPr lang="ru-RU" sz="3200" dirty="0"/>
              <a:t>UNIVAC I (1951) — первый коммерчески доступный компьютер.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E9909D-B3DA-CEE6-1E43-28670E21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11</a:t>
            </a:fld>
            <a:endParaRPr lang="ru-RU"/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73E074B8-F134-D293-1976-28F4C778B52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" b="4155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775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Универсальные и специальные машины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/>
          </a:bodyPr>
          <a:lstStyle/>
          <a:p>
            <a:r>
              <a:rPr lang="ru-RU" sz="3200" dirty="0"/>
              <a:t>BESM-1 (1952) — первая советская ЭВМ для научных расчетов.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BE9909D-B3DA-CEE6-1E43-28670E21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12</a:t>
            </a:fld>
            <a:endParaRPr lang="ru-RU"/>
          </a:p>
        </p:txBody>
      </p:sp>
      <p:pic>
        <p:nvPicPr>
          <p:cNvPr id="9218" name="Picture 2" descr="Picture background">
            <a:extLst>
              <a:ext uri="{FF2B5EF4-FFF2-40B4-BE49-F238E27FC236}">
                <a16:creationId xmlns:a16="http://schemas.microsoft.com/office/drawing/2014/main" id="{FBFF2B7E-C78A-DE9E-59CD-AF4B6ABE7E12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" r="952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040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Программирование ЭВМ первого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/>
          </a:bodyPr>
          <a:lstStyle/>
          <a:p>
            <a:r>
              <a:rPr lang="ru-RU" sz="2400" dirty="0"/>
              <a:t>Программы писались вручную на машинных языках, что делало процесс сложным и медленным.</a:t>
            </a:r>
          </a:p>
          <a:p>
            <a:r>
              <a:rPr lang="ru-RU" sz="2400" dirty="0"/>
              <a:t>Для ввода данных использовались перфокарты и перфоленты.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12810-C8FE-E29D-BDE5-A9BABF4D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13</a:t>
            </a:fld>
            <a:endParaRPr lang="ru-RU"/>
          </a:p>
        </p:txBody>
      </p:sp>
      <p:pic>
        <p:nvPicPr>
          <p:cNvPr id="10242" name="Picture 2" descr="Picture background">
            <a:extLst>
              <a:ext uri="{FF2B5EF4-FFF2-40B4-BE49-F238E27FC236}">
                <a16:creationId xmlns:a16="http://schemas.microsoft.com/office/drawing/2014/main" id="{50D370C7-8C49-915A-59E5-A1D4D2CCF7E6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9" b="3799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952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/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Где использовались ЭВМ?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/>
          </a:bodyPr>
          <a:lstStyle/>
          <a:p>
            <a:r>
              <a:rPr lang="ru-RU" sz="2400" dirty="0"/>
              <a:t>Научные исследования: расчеты траекторий, ядерные эксперименты.</a:t>
            </a:r>
          </a:p>
          <a:p>
            <a:r>
              <a:rPr lang="ru-RU" sz="2400" dirty="0"/>
              <a:t>Военные нужды: баллистические вычисления, дешифровка.</a:t>
            </a:r>
          </a:p>
          <a:p>
            <a:r>
              <a:rPr lang="ru-RU" sz="2400" dirty="0"/>
              <a:t>Коммерческие задачи: учет, обработка данных, статистика.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69FADF-A62E-F444-1CE9-475CCC75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14</a:t>
            </a:fld>
            <a:endParaRPr lang="ru-RU"/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1006A963-F624-8AC5-E142-8840DB09129D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2" r="9102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173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908682-AB5A-1D40-B099-42D79054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549" y="144264"/>
            <a:ext cx="5092906" cy="157480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Основные трудности ЭВМ первого поколения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5FA2E7-F206-8118-461B-CF3ED2C90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549" y="1719072"/>
            <a:ext cx="5092906" cy="39959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Огромные размеры и высокая стоимость.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Ограниченная производительность и частые сбои.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Требовали специальных условий для работы (охлаждение и стабилизация).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F6A59C-79AE-A392-9F00-200C0DA62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EB10E-4084-4FF5-A3D7-D4BFDE8288EF}" type="slidenum">
              <a:rPr lang="ru-RU" smtClean="0"/>
              <a:t>15</a:t>
            </a:fld>
            <a:endParaRPr lang="ru-RU"/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55BEEB4A-8592-AB9E-361A-A4F44AB52F14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" r="2995"/>
          <a:stretch>
            <a:fillRect/>
          </a:stretch>
        </p:blipFill>
        <p:spPr bwMode="auto">
          <a:xfrm>
            <a:off x="5394325" y="1143000"/>
            <a:ext cx="664845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442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</TotalTime>
  <Words>350</Words>
  <Application>Microsoft Office PowerPoint</Application>
  <PresentationFormat>Широкоэкранный</PresentationFormat>
  <Paragraphs>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Ион</vt:lpstr>
      <vt:lpstr>Первое поколение ЭВМ: 1940–1950-е годы</vt:lpstr>
      <vt:lpstr>Введение</vt:lpstr>
      <vt:lpstr>Вакуумные лампы — основа первого поколения ЭВМ</vt:lpstr>
      <vt:lpstr>Принцип работы</vt:lpstr>
      <vt:lpstr>Аппаратная база</vt:lpstr>
      <vt:lpstr>Структурная схема</vt:lpstr>
      <vt:lpstr>Ключевые особенности</vt:lpstr>
      <vt:lpstr>Характеристика</vt:lpstr>
      <vt:lpstr>ENIAC (Electronic Numerical Integrator and Computer)</vt:lpstr>
      <vt:lpstr>Универсальные и специальные машины</vt:lpstr>
      <vt:lpstr>Универсальные и специальные машины</vt:lpstr>
      <vt:lpstr>Универсальные и специальные машины</vt:lpstr>
      <vt:lpstr>Программирование ЭВМ первого поколения</vt:lpstr>
      <vt:lpstr>Где использовались ЭВМ?</vt:lpstr>
      <vt:lpstr>Основные трудности ЭВМ первого поколения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Dix1k</dc:creator>
  <cp:lastModifiedBy>Dix1k</cp:lastModifiedBy>
  <cp:revision>3</cp:revision>
  <dcterms:created xsi:type="dcterms:W3CDTF">2024-09-24T12:42:13Z</dcterms:created>
  <dcterms:modified xsi:type="dcterms:W3CDTF">2024-09-24T13:25:18Z</dcterms:modified>
</cp:coreProperties>
</file>