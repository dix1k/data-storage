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1"/>
  </p:notesMasterIdLst>
  <p:sldIdLst>
    <p:sldId id="269" r:id="rId2"/>
    <p:sldId id="268" r:id="rId3"/>
    <p:sldId id="257" r:id="rId4"/>
    <p:sldId id="280" r:id="rId5"/>
    <p:sldId id="279" r:id="rId6"/>
    <p:sldId id="282" r:id="rId7"/>
    <p:sldId id="283" r:id="rId8"/>
    <p:sldId id="281" r:id="rId9"/>
    <p:sldId id="276" r:id="rId10"/>
    <p:sldId id="291" r:id="rId11"/>
    <p:sldId id="292" r:id="rId12"/>
    <p:sldId id="293" r:id="rId13"/>
    <p:sldId id="275" r:id="rId14"/>
    <p:sldId id="295" r:id="rId15"/>
    <p:sldId id="296" r:id="rId16"/>
    <p:sldId id="294" r:id="rId17"/>
    <p:sldId id="274" r:id="rId18"/>
    <p:sldId id="288" r:id="rId19"/>
    <p:sldId id="272" r:id="rId20"/>
    <p:sldId id="271" r:id="rId21"/>
    <p:sldId id="290" r:id="rId22"/>
    <p:sldId id="297" r:id="rId23"/>
    <p:sldId id="270" r:id="rId24"/>
    <p:sldId id="285" r:id="rId25"/>
    <p:sldId id="286" r:id="rId26"/>
    <p:sldId id="266" r:id="rId27"/>
    <p:sldId id="267" r:id="rId28"/>
    <p:sldId id="258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259" r:id="rId37"/>
    <p:sldId id="260" r:id="rId38"/>
    <p:sldId id="363" r:id="rId39"/>
    <p:sldId id="364" r:id="rId40"/>
    <p:sldId id="365" r:id="rId41"/>
    <p:sldId id="367" r:id="rId42"/>
    <p:sldId id="372" r:id="rId43"/>
    <p:sldId id="373" r:id="rId44"/>
    <p:sldId id="374" r:id="rId45"/>
    <p:sldId id="375" r:id="rId46"/>
    <p:sldId id="376" r:id="rId47"/>
    <p:sldId id="368" r:id="rId48"/>
    <p:sldId id="369" r:id="rId49"/>
    <p:sldId id="370" r:id="rId50"/>
    <p:sldId id="265" r:id="rId51"/>
    <p:sldId id="289" r:id="rId52"/>
    <p:sldId id="377" r:id="rId53"/>
    <p:sldId id="378" r:id="rId54"/>
    <p:sldId id="371" r:id="rId55"/>
    <p:sldId id="261" r:id="rId56"/>
    <p:sldId id="326" r:id="rId57"/>
    <p:sldId id="349" r:id="rId58"/>
    <p:sldId id="350" r:id="rId59"/>
    <p:sldId id="351" r:id="rId60"/>
    <p:sldId id="352" r:id="rId61"/>
    <p:sldId id="353" r:id="rId62"/>
    <p:sldId id="354" r:id="rId63"/>
    <p:sldId id="357" r:id="rId64"/>
    <p:sldId id="358" r:id="rId65"/>
    <p:sldId id="359" r:id="rId66"/>
    <p:sldId id="360" r:id="rId67"/>
    <p:sldId id="361" r:id="rId68"/>
    <p:sldId id="362" r:id="rId69"/>
    <p:sldId id="317" r:id="rId7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88F37-15DB-4F47-B382-85B96A0A78FA}" type="datetimeFigureOut">
              <a:rPr lang="ru-RU" smtClean="0"/>
              <a:t>22.09.2024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2741F-C7A2-444F-9EAB-A6CB20311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20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6835B-325B-986A-CD06-102D17EE6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CDC571-E129-C2BB-748D-9594C540F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F42699-719E-978A-8058-CC0379B6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603B-C08C-4CA2-BF44-26F662EFC0E1}" type="datetime1">
              <a:rPr lang="ru-RU" smtClean="0"/>
              <a:t>22.09.2024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12DD97-D16A-9AAF-7130-0C81C2F3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87BBDF-3AB0-EBB5-7A35-70091A8C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57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7779F-B9A1-D371-5C62-3A54B743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43F2E-572E-0669-9B01-E7326B1D8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F0E726-0DEC-76C0-671D-020AE2E4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A07B-5537-45FD-9ECB-4EAC1436823F}" type="datetime1">
              <a:rPr lang="ru-RU" smtClean="0"/>
              <a:t>22.09.2024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81CB1C-EC70-4A67-F915-23829D2A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6F4141-D70B-B111-9891-BFCA5A25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34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23DD4-B5E2-955E-AD3D-5E7C2DDB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CFF3C6-E0B5-BF09-FE75-9EA0FBB91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EDAAD6-9370-41FC-6FE0-12804693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85DA-0A4D-476D-A80A-E157ED7EEAD0}" type="datetime1">
              <a:rPr lang="ru-RU" smtClean="0"/>
              <a:t>22.09.2024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0B78E5-78D7-CCE0-896D-30EC7AEF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F8776D-407A-624C-2E2E-64EDB0B2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19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5F990E-FBFF-50AE-8ECD-1D159113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10C78-5111-7F4F-2654-853D257A8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8CD0D3-89EB-492B-F513-716144546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CDD596-D0FB-4902-0815-C4DA68DE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1E40-EC39-4BF7-8AA6-3046B661715F}" type="datetime1">
              <a:rPr lang="ru-RU" smtClean="0"/>
              <a:t>22.09.2024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D63274-94DF-6323-70F4-82C9F3B5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5469BC-E436-0CC6-B993-F3ABA89D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93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772C7-5734-7131-010A-A8556047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71B8CC-B24B-FB8A-DA08-021498D4F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C22869-182A-5666-C23A-6DE5F3A30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A102F5-1720-7108-F72C-48FF44553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DFA34C-A4F4-E054-362C-E7C4C90D3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BF3EBD-1AB9-A96B-64C3-C2DF5DC4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806F-9423-454A-A779-9E8FDF745CAB}" type="datetime1">
              <a:rPr lang="ru-RU" smtClean="0"/>
              <a:t>22.09.2024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62E869-7ECE-EEF3-F427-8BB2AA98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5A62ED-28A9-1E0A-EAA8-BBC7E95E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7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AFE23-A1D2-FF85-4EB7-E71711CB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220C4B-0CD0-9303-EA42-9FD0CDCE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CB44-7D70-44D8-A542-59F9D7774DB7}" type="datetime1">
              <a:rPr lang="ru-RU" smtClean="0"/>
              <a:t>22.09.2024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40C2708-AC5B-71D7-49E5-B7453A7A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6A044A-1416-BCA3-9B63-26722A1F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75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697413-2E0A-B8BA-329E-A38BB1DA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637A-D7F5-4502-828C-AB998AD58474}" type="datetime1">
              <a:rPr lang="ru-RU" smtClean="0"/>
              <a:t>22.09.2024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A8C8A7-1550-DB4D-A1E8-F709D963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F93628-6253-8CFE-56DB-D15E02A5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98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2ADE2-7534-DAB4-2579-66BDE0F2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8FDC8D-F661-D6E6-4181-CB3C68ED2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73BEB0-12D5-1EC1-8EF0-E7C8176A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4AE7CC-C58F-C2C7-0D71-0E9EC677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2E16-4255-4782-B6AC-EA1DA2DC981C}" type="datetime1">
              <a:rPr lang="ru-RU" smtClean="0"/>
              <a:t>22.09.2024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DCA5F-134A-6DA6-ACD4-7FBFDABD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8961C8-D4B3-D0F2-8328-F54213FC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08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316FE-0E77-83BA-4523-F586056F4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AC3C28-54C8-E411-EF4B-EDFB0D3BA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B654D-E7B7-AF9F-2E9A-FFD101EDB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F4F27E-81ED-0456-C6B9-3BEA538A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6169D-2B8B-472E-8A1E-AF863EA08EFD}" type="datetime1">
              <a:rPr lang="ru-RU" smtClean="0"/>
              <a:t>22.09.2024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53412F-8CED-FF11-BCB6-58611A443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279F6F-E37D-3B8E-E78F-84230A99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12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A4885-B0E1-6E81-B960-35F93970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4F7244-0177-930E-E8F1-C3CE634A7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B7E0A6-9D6D-B6AC-5158-50509D02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DC42-6257-413B-901C-C195D2CE543D}" type="datetime1">
              <a:rPr lang="ru-RU" smtClean="0"/>
              <a:t>22.09.2024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6F912C-6941-A5CB-C28F-4FDD30DA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558D7-0AD1-D68F-C7AA-4386A34F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33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4F33F3-80F1-BE7F-FCAD-1139DF53F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12B256-7428-646C-6539-740B9CB38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86843E-5827-0C10-B504-4CAFCAE6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B17FB-AEFB-432C-A04B-BFA4DD64B9F7}" type="datetime1">
              <a:rPr lang="ru-RU" smtClean="0"/>
              <a:t>22.09.2024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745DCD-0E5F-2232-D9C9-18FCA711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E1C4A-8AA2-8EF3-55ED-C4426078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78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2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261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138039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3429000"/>
            <a:ext cx="5143501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5143500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1153397"/>
            <a:ext cx="5629275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1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A5FA8-DAB1-235B-AA3D-9EB318DC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D94EE8-16D4-2D41-30A3-7AF574212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D4834F-B761-EF59-C980-C35ACC36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63728-13B4-4BC3-AFF4-2F02F675FDE1}" type="datetime1">
              <a:rPr lang="ru-RU" smtClean="0"/>
              <a:t>22.09.2024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48D10-D027-0E06-2FF4-2B911F252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E6FCF5-5470-A6E4-BD46-9DA62F742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0A085-462D-4EA3-BFBB-9D7137ABFA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66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blob:https://files.student-it.ru/f3df604b-af3e-4cfa-8054-366d5dc0f053#footnote-37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s://ru.wikipedia.org/wiki/1971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DBBD506-0083-B32A-FA6A-C74E6BC6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FCCE9-EB83-0A8D-6051-034C3F38DF42}"/>
              </a:ext>
            </a:extLst>
          </p:cNvPr>
          <p:cNvSpPr txBox="1"/>
          <p:nvPr/>
        </p:nvSpPr>
        <p:spPr>
          <a:xfrm>
            <a:off x="387627" y="5244147"/>
            <a:ext cx="13547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Работы по…</a:t>
            </a:r>
          </a:p>
          <a:p>
            <a:r>
              <a:rPr lang="ru-RU" dirty="0"/>
              <a:t>Выполнил</a:t>
            </a:r>
          </a:p>
          <a:p>
            <a:r>
              <a:rPr lang="ru-RU" dirty="0"/>
              <a:t>Проверил</a:t>
            </a:r>
          </a:p>
          <a:p>
            <a:r>
              <a:rPr lang="ru-RU" dirty="0"/>
              <a:t>Группа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0463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643685E-3F67-0D2C-FCFD-D1448E2B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7BCE5-79B1-902B-9143-68EE8C6BF9A1}"/>
              </a:ext>
            </a:extLst>
          </p:cNvPr>
          <p:cNvSpPr txBox="1"/>
          <p:nvPr/>
        </p:nvSpPr>
        <p:spPr>
          <a:xfrm>
            <a:off x="1779104" y="854766"/>
            <a:ext cx="14154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Содержание</a:t>
            </a:r>
          </a:p>
          <a:p>
            <a:r>
              <a:rPr lang="ru-RU" dirty="0"/>
              <a:t>Машина</a:t>
            </a:r>
          </a:p>
          <a:p>
            <a:r>
              <a:rPr lang="ru-RU" dirty="0"/>
              <a:t>Поколение</a:t>
            </a:r>
          </a:p>
          <a:p>
            <a:r>
              <a:rPr lang="ru-RU" dirty="0"/>
              <a:t>Поколение</a:t>
            </a:r>
          </a:p>
          <a:p>
            <a:r>
              <a:rPr lang="ru-RU" dirty="0"/>
              <a:t>Поколение</a:t>
            </a:r>
          </a:p>
          <a:p>
            <a:r>
              <a:rPr lang="ru-RU" dirty="0"/>
              <a:t>Поколение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112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115867-2ACC-DE28-A598-29539EEAA5F5}"/>
              </a:ext>
            </a:extLst>
          </p:cNvPr>
          <p:cNvSpPr txBox="1"/>
          <p:nvPr/>
        </p:nvSpPr>
        <p:spPr>
          <a:xfrm>
            <a:off x="3963228" y="342900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YS Text"/>
              </a:rPr>
              <a:t>Разностная машина Чарльза Бэббиджа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0A7D6B-323F-D632-FFCE-23BBD7BC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7B6518-E7B4-4DD8-5A04-D7D5F073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7EF6A-6BEE-9391-D700-F219F063A590}"/>
              </a:ext>
            </a:extLst>
          </p:cNvPr>
          <p:cNvSpPr txBox="1"/>
          <p:nvPr/>
        </p:nvSpPr>
        <p:spPr>
          <a:xfrm>
            <a:off x="593862" y="571958"/>
            <a:ext cx="5379555" cy="185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Разностная машина Бэббиджа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это механическое устройство, которое было создано английским математиком Чарльзом Бэббиджем и разработано его помощницей Адой Лавлейс. Она использовала паровой двигатель и состояла из множества вращающихся валов и шестерёнок.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67398D82-21BD-43FA-1711-B7DA30098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93"/>
          <a:stretch/>
        </p:blipFill>
        <p:spPr bwMode="auto">
          <a:xfrm>
            <a:off x="305835" y="3330871"/>
            <a:ext cx="2685842" cy="323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icture background">
            <a:extLst>
              <a:ext uri="{FF2B5EF4-FFF2-40B4-BE49-F238E27FC236}">
                <a16:creationId xmlns:a16="http://schemas.microsoft.com/office/drawing/2014/main" id="{CF6D522D-432F-70C1-B7F1-86AD34AD88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80"/>
          <a:stretch/>
        </p:blipFill>
        <p:spPr bwMode="auto">
          <a:xfrm>
            <a:off x="8610600" y="437322"/>
            <a:ext cx="2966392" cy="351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737006-7DD6-5272-74AD-276FADF99DCA}"/>
              </a:ext>
            </a:extLst>
          </p:cNvPr>
          <p:cNvSpPr txBox="1"/>
          <p:nvPr/>
        </p:nvSpPr>
        <p:spPr>
          <a:xfrm>
            <a:off x="9110872" y="4300084"/>
            <a:ext cx="2548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26 декабря 1791 года - 18 октября 1871 года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1958E-7773-AF5A-C36D-EE45EBBE312A}"/>
              </a:ext>
            </a:extLst>
          </p:cNvPr>
          <p:cNvSpPr txBox="1"/>
          <p:nvPr/>
        </p:nvSpPr>
        <p:spPr>
          <a:xfrm>
            <a:off x="3180522" y="4623249"/>
            <a:ext cx="2425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10 декабря 1815 года - 27 ноября 1852 года</a:t>
            </a:r>
          </a:p>
        </p:txBody>
      </p:sp>
    </p:spTree>
    <p:extLst>
      <p:ext uri="{BB962C8B-B14F-4D97-AF65-F5344CB8AC3E}">
        <p14:creationId xmlns:p14="http://schemas.microsoft.com/office/powerpoint/2010/main" val="85825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D1BD800-D3D1-AD18-73D4-C2E90060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04135-0797-1B51-7284-C3D0EFF4ADB9}"/>
              </a:ext>
            </a:extLst>
          </p:cNvPr>
          <p:cNvSpPr txBox="1"/>
          <p:nvPr/>
        </p:nvSpPr>
        <p:spPr>
          <a:xfrm>
            <a:off x="1321904" y="2018435"/>
            <a:ext cx="9312966" cy="2227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1820 году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созданием своей вычислительной машиной  занялся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Чарльз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Бэбидж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(1791 - 1871). Им были разработаны две машины – разностная (1822) и аналитическая (1830).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Идея разностной машины заключается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замене процесса непосредственного вычисления значения некоторых функций последовательным выполнением серией операций сложения над разностями значений этой функции.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66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79EF9C2-DB7D-9574-3781-B5094B87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6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2DFC57-07C3-1417-499D-BCD5B23C4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53" y="569439"/>
            <a:ext cx="60435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Таб. 1 Значения функции у = х3 + х + 1 и конечных разностей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289" name="Рисунок 1">
            <a:extLst>
              <a:ext uri="{FF2B5EF4-FFF2-40B4-BE49-F238E27FC236}">
                <a16:creationId xmlns:a16="http://schemas.microsoft.com/office/drawing/2014/main" id="{D0040E92-50D0-7661-03CF-4DC6D59FE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58" y="1154214"/>
            <a:ext cx="2339975" cy="187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76AC4C-BD2E-22F6-40E7-A69A1A34C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20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64E5A-09A8-C4E8-2521-D2C191249E8D}"/>
              </a:ext>
            </a:extLst>
          </p:cNvPr>
          <p:cNvSpPr txBox="1"/>
          <p:nvPr/>
        </p:nvSpPr>
        <p:spPr>
          <a:xfrm>
            <a:off x="215153" y="3427981"/>
            <a:ext cx="3908612" cy="1915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Δ1 (первые разности, или разности первого порядка), 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Δ2 (вторые разности)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Δ3 (третьи разности).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E40EA-A1A7-ECED-ACDE-1AA706799395}"/>
              </a:ext>
            </a:extLst>
          </p:cNvPr>
          <p:cNvSpPr txBox="1"/>
          <p:nvPr/>
        </p:nvSpPr>
        <p:spPr>
          <a:xfrm>
            <a:off x="5020237" y="161099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Каждой колонке таблицы, кроме (1), содержащей значение аргумента, соответствовал свой регистр; 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всего в машине 7, поскольку предполагалось вычислять функции с постоянными шестыми разностями. 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Регистр состоял из 18 цифровых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колес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по числу разрядов изображаемого числа и нескольких дополнительных, используемых как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счетчик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числа оборотов и для других вспомогательных целей.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793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205D64-FB45-834C-B97F-1B15AF6F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89796-0FD7-EC26-44C3-C9D4BEE490FF}"/>
              </a:ext>
            </a:extLst>
          </p:cNvPr>
          <p:cNvSpPr txBox="1"/>
          <p:nvPr/>
        </p:nvSpPr>
        <p:spPr>
          <a:xfrm>
            <a:off x="591671" y="832509"/>
            <a:ext cx="6096000" cy="367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Конструктивно вычислительный блок разностной машины Бэббиджа состоит из трёх рядов зубчатых колёс: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Первый ряд — зубчатые колёса регистров.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Второй ряд — зубчатые счётные колёса на осях для выполнения суммирования.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Третий ряд — оси с так называемыми установочными пальцами для подготовки очередной операции суммирования.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EE7114-1A2A-7324-12E9-2FDF46FCF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7484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13 Законченная часть разностной машины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1" name="Рисунок 2">
            <a:extLst>
              <a:ext uri="{FF2B5EF4-FFF2-40B4-BE49-F238E27FC236}">
                <a16:creationId xmlns:a16="http://schemas.microsoft.com/office/drawing/2014/main" id="{C651E5C4-F829-8213-068A-96ED0F79F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282" y="1441946"/>
            <a:ext cx="3132138" cy="307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723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6682AA-304E-198A-2923-5587D368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84863-4BC5-476B-5C35-4C7E736B6323}"/>
              </a:ext>
            </a:extLst>
          </p:cNvPr>
          <p:cNvSpPr txBox="1"/>
          <p:nvPr/>
        </p:nvSpPr>
        <p:spPr>
          <a:xfrm>
            <a:off x="717176" y="3056600"/>
            <a:ext cx="11044518" cy="126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Аналитическая машина Бэббиджа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это проект механического универсального вычислительного устройства, разработанный английским математиком Чарльзом Бэббиджем. Аналитическая машина должна была выполнять программы, вводимые с перфокарт, и иметь условные переходы и цикл. Таким образом, она могла автоматически выполнять сложные вычислительные задачи.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61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D052139-0742-E9A0-FE8A-38055EA8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9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CB06D-8EA0-5E33-93AA-314586CA9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05" y="1685720"/>
            <a:ext cx="532950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архитектуре аналитическая машина была механическим прототипом современного компьютера. Она содержала следующие устройства: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"склад" (или мельница)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устройство для хранения цифровой информации (теперь это запоминающее устройство или память);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"мельница" или "фабрика"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устройство, выполняющее операции над числами, взятыми на "складе2 (ныне это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арифметическое устройство);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устройство, для которого Бэббидж не придумал названия и которое управляло последовательностью действий машины. Сейчас это устройство называется устройством управления; 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устройство ввода информации; 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5) устройство вывода информации (рис. 14) [</a:t>
            </a:r>
            <a:r>
              <a:rPr kumimoji="0" lang="ru-RU" altLang="ru-RU" sz="1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[36]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с.41].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217" name="Рисунок 11">
            <a:extLst>
              <a:ext uri="{FF2B5EF4-FFF2-40B4-BE49-F238E27FC236}">
                <a16:creationId xmlns:a16="http://schemas.microsoft.com/office/drawing/2014/main" id="{AAD60F11-30FA-1174-6486-DCC9C77AD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04136"/>
            <a:ext cx="5850483" cy="424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DD6F30-BACB-24EF-4FE9-E36BF1672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77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2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14CD99-4CBF-3DEB-F8E0-07131B37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CC929-225A-A4AE-CAC4-4898BBABDEBB}"/>
              </a:ext>
            </a:extLst>
          </p:cNvPr>
          <p:cNvSpPr txBox="1"/>
          <p:nvPr/>
        </p:nvSpPr>
        <p:spPr>
          <a:xfrm>
            <a:off x="537882" y="3263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Fira Sans" panose="020F0502020204030204" pitchFamily="34" charset="0"/>
              </a:rPr>
              <a:t>Память: склад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C54E9-90C5-CEA2-AF33-45A8F595081F}"/>
              </a:ext>
            </a:extLst>
          </p:cNvPr>
          <p:cNvSpPr txBox="1"/>
          <p:nvPr/>
        </p:nvSpPr>
        <p:spPr>
          <a:xfrm>
            <a:off x="412376" y="98658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он состоял из зубчатых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колес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, расположенных в высоких столбцах. На каждом из столбцов хранилось только одно число не длиннее пятидесяти цифр, а верхнее колесо определяло положительно число или отрицательно.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FC1CE-F0E0-8CF1-02D5-073DC8AB7F91}"/>
              </a:ext>
            </a:extLst>
          </p:cNvPr>
          <p:cNvSpPr txBox="1"/>
          <p:nvPr/>
        </p:nvSpPr>
        <p:spPr>
          <a:xfrm>
            <a:off x="412376" y="265402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 чертежах Бэббиджа склад состоял из двух параллельных рядов высоких числовых столбцов, и в каждом из них хранилось одно число. Одна из сторон склада сообщалась с мельницей.</a:t>
            </a:r>
            <a:endParaRPr lang="ru-RU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4580B818-8EDB-07E9-17E3-16D20B5C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611" y="1534279"/>
            <a:ext cx="4537189" cy="34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9999BE-9E25-255E-7C0D-D2911D267B74}"/>
              </a:ext>
            </a:extLst>
          </p:cNvPr>
          <p:cNvSpPr txBox="1"/>
          <p:nvPr/>
        </p:nvSpPr>
        <p:spPr>
          <a:xfrm>
            <a:off x="537882" y="40247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Кроме зубчатых 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колес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 числа могли храниться на числовых картах в виде комбинаций отверстий:</a:t>
            </a:r>
            <a:endParaRPr lang="ru-RU" dirty="0"/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10B12CB1-491B-E8E2-EF9E-DE0D3F3A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702" y="658715"/>
            <a:ext cx="6686550" cy="639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963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14CD99-4CBF-3DEB-F8E0-07131B37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0688C-3B52-C1B1-1F5B-A6BAC3CB295C}"/>
              </a:ext>
            </a:extLst>
          </p:cNvPr>
          <p:cNvSpPr txBox="1"/>
          <p:nvPr/>
        </p:nvSpPr>
        <p:spPr>
          <a:xfrm>
            <a:off x="340659" y="451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Рейки и карты переменных для передачи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1EDFC-C0B5-563C-5DCA-77E8DD2C9E51}"/>
              </a:ext>
            </a:extLst>
          </p:cNvPr>
          <p:cNvSpPr txBox="1"/>
          <p:nvPr/>
        </p:nvSpPr>
        <p:spPr>
          <a:xfrm>
            <a:off x="340659" y="123447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Для передачи чисел со склада в Машину Бэббидж использовал </a:t>
            </a:r>
            <a:r>
              <a:rPr lang="ru-RU" b="0" i="0" strike="sngStrike" dirty="0">
                <a:solidFill>
                  <a:srgbClr val="333333"/>
                </a:solidFill>
                <a:effectLst/>
                <a:latin typeface="-apple-system"/>
              </a:rPr>
              <a:t>опять зубчатые колеса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рейки с длинными зубцами. Каждое из числовых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колес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склада с помощью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шестеренок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были связаны с рейками и при их помощи значения передавались на специальный столбец колец, находящийся между мельницей и складом, и таким же образом числа передавались обратно на склад.</a:t>
            </a:r>
            <a:endParaRPr lang="ru-RU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DF0A14D5-06A5-749D-9331-F01243CED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78231"/>
            <a:ext cx="66865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333C80FD-5E8B-7055-1F75-A3122BEF2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819" y="2878231"/>
            <a:ext cx="668655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732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14CD99-4CBF-3DEB-F8E0-07131B37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5795B-51EE-4961-14CE-8B5422E06862}"/>
              </a:ext>
            </a:extLst>
          </p:cNvPr>
          <p:cNvSpPr txBox="1"/>
          <p:nvPr/>
        </p:nvSpPr>
        <p:spPr>
          <a:xfrm>
            <a:off x="430306" y="272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Мельница вычислений</a:t>
            </a:r>
            <a:endParaRPr lang="ru-RU" b="0" i="0" dirty="0">
              <a:solidFill>
                <a:srgbClr val="333333"/>
              </a:solidFill>
              <a:effectLst/>
              <a:latin typeface="Fira Sans" panose="020B050305000002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770B0-EAAB-2B3E-CAA3-431F3B481497}"/>
              </a:ext>
            </a:extLst>
          </p:cNvPr>
          <p:cNvSpPr txBox="1"/>
          <p:nvPr/>
        </p:nvSpPr>
        <p:spPr>
          <a:xfrm>
            <a:off x="430306" y="98165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После попадания чисел в мельницу начинается главная часть работы Машины — арифметические действия, выполняемые снова и снова.</a:t>
            </a:r>
            <a:endParaRPr lang="ru-RU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0AF5C7F-A599-59C3-1056-7BE899530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537" y="641866"/>
            <a:ext cx="668655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B5DE691F-85C2-724D-2981-1D02A4177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698" y="1925680"/>
            <a:ext cx="2599215" cy="46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73EE1E-BEE9-657C-7FC0-21DC1894B394}"/>
              </a:ext>
            </a:extLst>
          </p:cNvPr>
          <p:cNvSpPr txBox="1"/>
          <p:nvPr/>
        </p:nvSpPr>
        <p:spPr>
          <a:xfrm>
            <a:off x="4984377" y="547747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Когда Разностная машина работает, можно наблюдать волнообразные движения рычажков переноса в задней части Машины. Волны происходят из-за последовательных переносов единиц снизу вверх с проверкой инициации новых переносов.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0258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4AFA04-4173-CA5B-FD94-4D851573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13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1529AD-CD38-D40E-F156-D299779C2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937" y="464008"/>
            <a:ext cx="880010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помощью операционных перфокарт осуществлялись сложение, вычитание, умножение и деление чисел, находящихся в арифметическом устройстве. Операционные перфокарты выглядели так: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193" name="Рисунок 13">
            <a:extLst>
              <a:ext uri="{FF2B5EF4-FFF2-40B4-BE49-F238E27FC236}">
                <a16:creationId xmlns:a16="http://schemas.microsoft.com/office/drawing/2014/main" id="{E08A8C8F-6994-8296-2784-032B5E3B6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47" y="1547654"/>
            <a:ext cx="11075863" cy="132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BCD91A-3BA5-69BE-0DBE-4ABA1047F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E133FB-B4EF-6814-47C4-278FA9BC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93067"/>
            <a:ext cx="4195916" cy="29825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2FA730-B7B6-F725-422E-2D119B2B61F3}"/>
              </a:ext>
            </a:extLst>
          </p:cNvPr>
          <p:cNvSpPr txBox="1"/>
          <p:nvPr/>
        </p:nvSpPr>
        <p:spPr>
          <a:xfrm>
            <a:off x="6096000" y="2736738"/>
            <a:ext cx="4510218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обозначения управляющих перфокарт, с помощью которых осуществлялась передача чисел между памятью и арифметическим устройством,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Бэбидж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использовал термин «карты переменных».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«нулевая карта» </a:t>
            </a:r>
            <a:endParaRPr lang="ru-RU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«удерживающая карта» </a:t>
            </a:r>
            <a:endParaRPr lang="ru-RU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«доставляющая карта»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02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414869A-77D2-F148-CF84-A197FCF7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14</a:t>
            </a:fld>
            <a:endParaRPr lang="ru-RU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BEE6A1A7-07A9-5F60-DDD4-910C832EF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53"/>
          <a:stretch/>
        </p:blipFill>
        <p:spPr bwMode="auto">
          <a:xfrm>
            <a:off x="838200" y="136525"/>
            <a:ext cx="9155112" cy="633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742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5B2D92A-CD57-CC18-889F-98B93DC4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15</a:t>
            </a:fld>
            <a:endParaRPr lang="ru-RU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2A2CC68-1E4F-379B-8AFC-AC0D157E97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28"/>
          <a:stretch/>
        </p:blipFill>
        <p:spPr bwMode="auto">
          <a:xfrm>
            <a:off x="1459099" y="265763"/>
            <a:ext cx="8814454" cy="632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67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1F970D-20C1-792C-CC9A-5C72361C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16</a:t>
            </a:fld>
            <a:endParaRPr lang="ru-RU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27FBCF8-E096-F638-51FB-EE358105A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5" y="1352550"/>
            <a:ext cx="668655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A13964-ACC0-F764-9E8A-97105C47A7DA}"/>
              </a:ext>
            </a:extLst>
          </p:cNvPr>
          <p:cNvSpPr txBox="1"/>
          <p:nvPr/>
        </p:nvSpPr>
        <p:spPr>
          <a:xfrm>
            <a:off x="286870" y="23848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При отсутствии отверстия на перфокарте рычаг не задействован, но как только отверстие появлялось, рычаг соединял 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шестеренку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 со скобой. И 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шестеренка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, поднимаясь вместе со скобой, соединяла колесо ввода с зубчатой рейкой.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946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A1F22C-2EAC-76F5-6B6F-88AB03B4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17</a:t>
            </a:fld>
            <a:endParaRPr lang="ru-RU"/>
          </a:p>
        </p:txBody>
      </p:sp>
      <p:pic>
        <p:nvPicPr>
          <p:cNvPr id="7169" name="Рисунок 15">
            <a:extLst>
              <a:ext uri="{FF2B5EF4-FFF2-40B4-BE49-F238E27FC236}">
                <a16:creationId xmlns:a16="http://schemas.microsoft.com/office/drawing/2014/main" id="{5BFEEB0C-83B4-449E-BDC9-2714B92FA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536" y="170562"/>
            <a:ext cx="4224417" cy="563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0360C-DB94-67B4-45FF-F50EDFC9E44F}"/>
              </a:ext>
            </a:extLst>
          </p:cNvPr>
          <p:cNvSpPr txBox="1"/>
          <p:nvPr/>
        </p:nvSpPr>
        <p:spPr>
          <a:xfrm>
            <a:off x="3047172" y="6041107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Рис. 14 Модель части аналитической машины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492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6634750-BEB5-4397-14F1-9814C98B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20FD3-BC2A-6F3A-87AC-4B831D9B54F9}"/>
              </a:ext>
            </a:extLst>
          </p:cNvPr>
          <p:cNvSpPr txBox="1"/>
          <p:nvPr/>
        </p:nvSpPr>
        <p:spPr>
          <a:xfrm>
            <a:off x="770964" y="2551837"/>
            <a:ext cx="109369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Операция сложения в аналитической машине должна выполняться за один оборот главной оси, прерывистые периодические движения производятся эксцентриками на главной оси. Эксцентрики представляют из себя плоские диски с выступающими частями, действующими на рычаги с роликами на конце. Каждый эксцентрик должен быть двойным, т. е. иметь два ушка,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причем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выступ на одном соответствует впадине на другом. Такие эксцентрики довольно легко выполняются, устанавливаются и регулируются. Для выполнения операций сложения достаточно установить шесть-семь штук.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027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9125471-B6A8-F583-C4A8-56D27D01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19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18764-2363-8CBD-118F-A374386D5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1" name="Рисунок 25">
            <a:extLst>
              <a:ext uri="{FF2B5EF4-FFF2-40B4-BE49-F238E27FC236}">
                <a16:creationId xmlns:a16="http://schemas.microsoft.com/office/drawing/2014/main" id="{D1F7D79F-EA07-50A2-AC85-AFBCB4506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65" y="457200"/>
            <a:ext cx="7198669" cy="505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30E46C-6087-A1F1-29EF-C10F797D1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378" y="6216134"/>
            <a:ext cx="58824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4. Механизм зацепления аналитической машины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89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B69493-EE8E-77B1-11C1-5600692B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20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114383-0EBB-112F-5221-D31D699A3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097" name="Рисунок 24">
            <a:extLst>
              <a:ext uri="{FF2B5EF4-FFF2-40B4-BE49-F238E27FC236}">
                <a16:creationId xmlns:a16="http://schemas.microsoft.com/office/drawing/2014/main" id="{1BB42496-E523-464C-55D2-F58166CCE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38" y="332373"/>
            <a:ext cx="6222924" cy="538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AFE896-1187-82F7-1475-6553AF64F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598" y="6187073"/>
            <a:ext cx="708660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5. Схема выполнения операции сложения в аналитической машине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35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1A56F6A-5028-5A79-5974-40B4576E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21</a:t>
            </a:fld>
            <a:endParaRPr lang="ru-RU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157DE4E5-5663-032A-EE4F-3B7B0769A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37" y="302559"/>
            <a:ext cx="8847604" cy="594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83CC3B-EFAD-F627-BD61-B7EDCDA25663}"/>
              </a:ext>
            </a:extLst>
          </p:cNvPr>
          <p:cNvSpPr txBox="1"/>
          <p:nvPr/>
        </p:nvSpPr>
        <p:spPr>
          <a:xfrm>
            <a:off x="5835463" y="30255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Работа Аналитической машины основывалась именно на «пожирании своего хвоста», и работала система благодаря сложной цепи шестерней, которые управлялись перфокартами и барабанами, вычисляя суммы и отправляя результаты на склад, который состоял из ряда зубчатых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колес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  <a:br>
              <a:rPr lang="ru-RU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11E28-8537-8991-7C74-292133B52FA8}"/>
              </a:ext>
            </a:extLst>
          </p:cNvPr>
          <p:cNvSpPr txBox="1"/>
          <p:nvPr/>
        </p:nvSpPr>
        <p:spPr>
          <a:xfrm>
            <a:off x="5835463" y="2333884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Карты операций (А) указывают картам переменных (В), что нужно запросить числа для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расчетов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Числа вводятся с числовых карт (С) или со склада (D) 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поочередно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поступают на ось ввода (Е);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Ось ввода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передает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числа на центральные колеса (F);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Карта операции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дает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команду сложения чисел или умножения или иную, а барабаны (G) поворачиваются до положения, в котором их штифты будут соответствовать операции.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Барабаны активируют рычаги, соединяя шестерни мельницы (H) с центральными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колесами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А уже в мельнице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определенные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устройства отвечают за сложение, умножение и иные действия;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Шестерни выполняют умножение исходных чисел;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Мельница при необходимости может зацикливать действия, передавая команды на разные участки перфокарты;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Результат попадает на ось вывода (I).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Ось вывода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передает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данные на принтер (D) или отправляет на склад согласно картам переменных;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Карты операций подают команду на подачу звонка (J) и на остановку Машины. Всё!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4C462A7D-6973-0AAC-288A-803787902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57375"/>
            <a:ext cx="48768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707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0CE5B7E-A158-3A27-5AE8-41BE3012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22</a:t>
            </a:fld>
            <a:endParaRPr lang="ru-RU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12895160-0C63-8B63-AFBC-4C7716091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69" y="267260"/>
            <a:ext cx="6696075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9B39CB-5D50-5C78-24A9-75186E63CD67}"/>
              </a:ext>
            </a:extLst>
          </p:cNvPr>
          <p:cNvSpPr txBox="1"/>
          <p:nvPr/>
        </p:nvSpPr>
        <p:spPr>
          <a:xfrm>
            <a:off x="5965731" y="230712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рычаг автоматически опускается, если результат вычислений требует дальнейших действий со стороны программы. И если на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определенной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позиции барабана стоит штифт, а затем рычаг опускается — запускается новый цикл вычислений.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Таким образом, условный рычаг замыкает цикл, и Машина «поедает собственный хвост»: перфокарты управляют барабанами, барабаны Машиной, Машина барабанами, а барабаны перфокартами.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8738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6093E85-18BA-47F7-7571-A335A863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23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A0F70-7E7A-B540-CC34-A0349EC0E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51D509-C423-5884-74C2-0BF0BEB98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157" y="6311900"/>
            <a:ext cx="72356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 6. Общий план аналитической машины (рисунок Ч. </a:t>
            </a:r>
            <a:r>
              <a:rPr kumimoji="0" lang="ru-RU" altLang="ru-RU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Бэбиджа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1840 г.)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7" name="Picture 5" descr="Picture background">
            <a:extLst>
              <a:ext uri="{FF2B5EF4-FFF2-40B4-BE49-F238E27FC236}">
                <a16:creationId xmlns:a16="http://schemas.microsoft.com/office/drawing/2014/main" id="{E0435D87-0B1D-9BAE-7499-212F3935C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753" y="207546"/>
            <a:ext cx="9350188" cy="601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795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3B0096-DBC7-BD87-104A-FA98191B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24</a:t>
            </a:fld>
            <a:endParaRPr lang="ru-RU"/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4A575CBA-9EB8-7BA7-E877-FEC6E22EB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0"/>
            <a:ext cx="1054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885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A1F22C-2EAC-76F5-6B6F-88AB03B4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0360C-DB94-67B4-45FF-F50EDFC9E44F}"/>
              </a:ext>
            </a:extLst>
          </p:cNvPr>
          <p:cNvSpPr txBox="1"/>
          <p:nvPr/>
        </p:nvSpPr>
        <p:spPr>
          <a:xfrm>
            <a:off x="3047172" y="6041107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Часть Аналитической машины Бэббиджа, которая хранится в Музее науки в Лондоне.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D2617A-63B4-C9CC-8949-31F3861A5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402" y="496378"/>
            <a:ext cx="6645426" cy="505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96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A3082D-080A-BF63-E2BA-FE7F97003B4C}"/>
              </a:ext>
            </a:extLst>
          </p:cNvPr>
          <p:cNvSpPr txBox="1"/>
          <p:nvPr/>
        </p:nvSpPr>
        <p:spPr>
          <a:xfrm>
            <a:off x="377687" y="1997839"/>
            <a:ext cx="114498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 startAt="4"/>
            </a:pPr>
            <a:endParaRPr lang="ru-RU" b="0" i="0" dirty="0">
              <a:solidFill>
                <a:srgbClr val="000000"/>
              </a:solidFill>
              <a:effectLst/>
              <a:latin typeface="Yandex Sans Text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Yandex Sans Text"/>
              </a:rPr>
              <a:t>Таким образом, машина Бэббиджа представляла собой сложное механическое устройство, которое могло выполнять разнообразные вычисления благодаря возможности программирования, наличию арифметического блока, памяти, логических операций и управления. Несмотря на то что машина Бэббиджа не была полностью реализована при жизни учёного, она стала важным этапом в развитии вычислительной техники и заложила основы для создания современных компьютеров.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DC35DA-7719-0973-9D86-DA1B9DFA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249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A5537-F8E6-6600-3798-9B452C121EC2}"/>
              </a:ext>
            </a:extLst>
          </p:cNvPr>
          <p:cNvSpPr txBox="1"/>
          <p:nvPr/>
        </p:nvSpPr>
        <p:spPr>
          <a:xfrm>
            <a:off x="1259784" y="72973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https://files.student-it.ru/previewfile/43670/5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12939B-8FD9-D103-980F-046B417C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27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D12D8-5E6B-D4D4-B570-C86984EB5AE3}"/>
              </a:ext>
            </a:extLst>
          </p:cNvPr>
          <p:cNvSpPr txBox="1"/>
          <p:nvPr/>
        </p:nvSpPr>
        <p:spPr>
          <a:xfrm>
            <a:off x="1021977" y="1509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https://habr.com/ru/articles/408223/?mobile=no</a:t>
            </a:r>
          </a:p>
        </p:txBody>
      </p:sp>
    </p:spTree>
    <p:extLst>
      <p:ext uri="{BB962C8B-B14F-4D97-AF65-F5344CB8AC3E}">
        <p14:creationId xmlns:p14="http://schemas.microsoft.com/office/powerpoint/2010/main" val="1797369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D208C-36CE-F449-6833-AA4463997A64}"/>
              </a:ext>
            </a:extLst>
          </p:cNvPr>
          <p:cNvSpPr txBox="1"/>
          <p:nvPr/>
        </p:nvSpPr>
        <p:spPr>
          <a:xfrm>
            <a:off x="897297" y="1720840"/>
            <a:ext cx="109002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dirty="0"/>
              <a:t>1 поколение ЭВМ </a:t>
            </a:r>
          </a:p>
          <a:p>
            <a:r>
              <a:rPr lang="ru-RU" sz="5400" dirty="0"/>
              <a:t>(обязательно: аппаратная база, схема основных элементов, принцип работы)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8D5D44-3493-D96D-2128-F4F6BE06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AF0A085-462D-4EA3-BFBB-9D7137ABFA6B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338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29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0AAFE-EBA2-F299-3249-2B76AE027A29}"/>
              </a:ext>
            </a:extLst>
          </p:cNvPr>
          <p:cNvSpPr txBox="1"/>
          <p:nvPr/>
        </p:nvSpPr>
        <p:spPr>
          <a:xfrm>
            <a:off x="699247" y="8382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Yandex Sans Text"/>
              </a:rPr>
              <a:t>Первое поколение ЭВМ</a:t>
            </a:r>
            <a:r>
              <a:rPr lang="ru-RU" b="0" i="0" dirty="0">
                <a:solidFill>
                  <a:srgbClr val="000000"/>
                </a:solidFill>
                <a:effectLst/>
                <a:latin typeface="Yandex Sans Text"/>
              </a:rPr>
              <a:t> (1946–1958) — это этап в развитии вычислительной техники, который характеризуется созданием первых электронных вычислительных машин.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7422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74D5D-5D62-502A-353F-5F8A464D223A}"/>
              </a:ext>
            </a:extLst>
          </p:cNvPr>
          <p:cNvSpPr txBox="1"/>
          <p:nvPr/>
        </p:nvSpPr>
        <p:spPr>
          <a:xfrm>
            <a:off x="591671" y="74544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000000"/>
                </a:solidFill>
                <a:effectLst/>
                <a:latin typeface="Yandex Sans Text"/>
              </a:rPr>
              <a:t>спользование</a:t>
            </a:r>
            <a:r>
              <a:rPr lang="ru-RU" b="1" i="0" dirty="0">
                <a:solidFill>
                  <a:srgbClr val="000000"/>
                </a:solidFill>
                <a:effectLst/>
                <a:latin typeface="Yandex Sans Text"/>
              </a:rPr>
              <a:t> электронных ламп.</a:t>
            </a:r>
            <a:r>
              <a:rPr lang="ru-RU" b="0" i="0" dirty="0">
                <a:solidFill>
                  <a:srgbClr val="000000"/>
                </a:solidFill>
                <a:effectLst/>
                <a:latin typeface="Yandex Sans Text"/>
              </a:rPr>
              <a:t> Первые ЭВМ были построены на основе электронных ламп, которые выполняли функцию переключателей и усилителей электрических сигналов. Это позволило ускорить обработку информации и повысить точность вычислений по сравнению с механическими устройствами.</a:t>
            </a:r>
            <a:endParaRPr lang="ru-RU" dirty="0"/>
          </a:p>
        </p:txBody>
      </p:sp>
      <p:pic>
        <p:nvPicPr>
          <p:cNvPr id="27650" name="Picture 2" descr="Электронная лампа">
            <a:extLst>
              <a:ext uri="{FF2B5EF4-FFF2-40B4-BE49-F238E27FC236}">
                <a16:creationId xmlns:a16="http://schemas.microsoft.com/office/drawing/2014/main" id="{6D4FA8A2-BBB7-8DB1-2303-8CE511A6C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412" y="642354"/>
            <a:ext cx="2300287" cy="584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55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31</a:t>
            </a:fld>
            <a:endParaRPr lang="ru-RU"/>
          </a:p>
        </p:txBody>
      </p:sp>
      <p:pic>
        <p:nvPicPr>
          <p:cNvPr id="26626" name="Picture 2" descr="Принцип работы электронной лампы">
            <a:extLst>
              <a:ext uri="{FF2B5EF4-FFF2-40B4-BE49-F238E27FC236}">
                <a16:creationId xmlns:a16="http://schemas.microsoft.com/office/drawing/2014/main" id="{76AEDE25-3EB6-6B01-7DF5-2872B5CF3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3" y="2066925"/>
            <a:ext cx="3038475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011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32</a:t>
            </a:fld>
            <a:endParaRPr lang="ru-RU"/>
          </a:p>
        </p:txBody>
      </p:sp>
      <p:pic>
        <p:nvPicPr>
          <p:cNvPr id="28674" name="Picture 2" descr="Память на ртутных линиях задержки UNIVAC I (1951 год)">
            <a:extLst>
              <a:ext uri="{FF2B5EF4-FFF2-40B4-BE49-F238E27FC236}">
                <a16:creationId xmlns:a16="http://schemas.microsoft.com/office/drawing/2014/main" id="{B6A3CE8C-3F09-A00B-6751-2459854A5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8" y="1766888"/>
            <a:ext cx="6143625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327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33</a:t>
            </a:fld>
            <a:endParaRPr lang="ru-RU"/>
          </a:p>
        </p:txBody>
      </p:sp>
      <p:pic>
        <p:nvPicPr>
          <p:cNvPr id="29698" name="Picture 2" descr="Запоминающая электронно-лучевая трубка Фредерика Уильямса">
            <a:extLst>
              <a:ext uri="{FF2B5EF4-FFF2-40B4-BE49-F238E27FC236}">
                <a16:creationId xmlns:a16="http://schemas.microsoft.com/office/drawing/2014/main" id="{352852B6-B54F-42C1-403F-0C4DECFAE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5" y="1909763"/>
            <a:ext cx="3714750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844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34</a:t>
            </a:fld>
            <a:endParaRPr lang="ru-RU"/>
          </a:p>
        </p:txBody>
      </p:sp>
      <p:pic>
        <p:nvPicPr>
          <p:cNvPr id="30722" name="Picture 2" descr="Структурная схема ЭВМ первого поколения">
            <a:extLst>
              <a:ext uri="{FF2B5EF4-FFF2-40B4-BE49-F238E27FC236}">
                <a16:creationId xmlns:a16="http://schemas.microsoft.com/office/drawing/2014/main" id="{27D9468D-01D8-5DFB-6464-AC35425C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2" y="704009"/>
            <a:ext cx="9923263" cy="544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751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39ACEC-EFE7-50EB-D623-9F878529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8AEA1-87BE-E450-00C2-00A62B9C48E2}"/>
              </a:ext>
            </a:extLst>
          </p:cNvPr>
          <p:cNvSpPr txBox="1"/>
          <p:nvPr/>
        </p:nvSpPr>
        <p:spPr>
          <a:xfrm>
            <a:off x="3048000" y="269481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Text"/>
              </a:rPr>
              <a:t>ВЫВОД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Yandex Sans Text"/>
              </a:rPr>
              <a:t>Первое поколение ЭВМ оказало значительное влияние на развитие науки, техники и общества в целом. Оно продемонстрировало возможности электронных вычислительных машин и открыло новые перспективы для дальнейших исследований и разработок в этой области.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9181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6B674-3522-99DD-B680-BC2FAB57522C}"/>
              </a:ext>
            </a:extLst>
          </p:cNvPr>
          <p:cNvSpPr txBox="1"/>
          <p:nvPr/>
        </p:nvSpPr>
        <p:spPr>
          <a:xfrm>
            <a:off x="3048828" y="296733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 поколение ЭВМ </a:t>
            </a:r>
          </a:p>
          <a:p>
            <a:r>
              <a:rPr lang="ru-RU" dirty="0"/>
              <a:t>(обязательно: аппаратная база, схема основных элементов, принцип работы)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2F01A3-1661-28C8-9C15-38093C68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420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A358F-6133-8F8E-E9AC-FD5D403043A2}"/>
              </a:ext>
            </a:extLst>
          </p:cNvPr>
          <p:cNvSpPr txBox="1"/>
          <p:nvPr/>
        </p:nvSpPr>
        <p:spPr>
          <a:xfrm>
            <a:off x="3048828" y="296733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 поколение ЭВМ </a:t>
            </a:r>
          </a:p>
          <a:p>
            <a:r>
              <a:rPr lang="ru-RU" dirty="0"/>
              <a:t>(обязательно: аппаратная база, схема основных элементов, принцип работы)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56C690-71CC-8107-CFCE-0DCE3DC5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517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38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CC80D-25A8-7D02-CA93-6EE96E8FEB6E}"/>
              </a:ext>
            </a:extLst>
          </p:cNvPr>
          <p:cNvSpPr txBox="1"/>
          <p:nvPr/>
        </p:nvSpPr>
        <p:spPr>
          <a:xfrm>
            <a:off x="636103" y="4812490"/>
            <a:ext cx="1113182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 err="1">
                <a:latin typeface="+mj-lt"/>
              </a:rPr>
              <a:t>Джек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Килби</a:t>
            </a:r>
            <a:r>
              <a:rPr lang="ru-RU" sz="2400" dirty="0">
                <a:latin typeface="+mj-lt"/>
              </a:rPr>
              <a:t> (</a:t>
            </a:r>
            <a:r>
              <a:rPr lang="en-US" sz="2400" dirty="0">
                <a:latin typeface="+mj-lt"/>
              </a:rPr>
              <a:t>8.11.1923 — 20.06.2005</a:t>
            </a:r>
            <a:r>
              <a:rPr lang="ru-RU" sz="2400" dirty="0">
                <a:latin typeface="+mj-lt"/>
              </a:rPr>
              <a:t>) </a:t>
            </a:r>
            <a:r>
              <a:rPr lang="en-US" sz="2400" dirty="0">
                <a:latin typeface="+mj-lt"/>
              </a:rPr>
              <a:t>—</a:t>
            </a:r>
            <a:r>
              <a:rPr lang="ru-RU" sz="2400" dirty="0">
                <a:latin typeface="+mj-lt"/>
              </a:rPr>
              <a:t> в</a:t>
            </a:r>
            <a:r>
              <a:rPr lang="en-US" sz="2400" dirty="0">
                <a:latin typeface="+mj-lt"/>
              </a:rPr>
              <a:t> 1958 </a:t>
            </a:r>
            <a:r>
              <a:rPr lang="en-US" sz="2400" dirty="0" err="1">
                <a:latin typeface="+mj-lt"/>
              </a:rPr>
              <a:t>году</a:t>
            </a:r>
            <a:r>
              <a:rPr lang="ru-RU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запатентовал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интегральную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схему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как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систему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множества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транзисторов</a:t>
            </a:r>
            <a:r>
              <a:rPr lang="en-US" sz="2400" dirty="0">
                <a:latin typeface="+mj-lt"/>
              </a:rPr>
              <a:t> и </a:t>
            </a:r>
            <a:r>
              <a:rPr lang="en-US" sz="2400" dirty="0" err="1">
                <a:latin typeface="+mj-lt"/>
              </a:rPr>
              <a:t>других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элементов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электрических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устройств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выполненных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на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единой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монокристаллической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полупроводниковой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подложке</a:t>
            </a:r>
            <a:r>
              <a:rPr lang="en-US" sz="2400" dirty="0">
                <a:latin typeface="+mj-lt"/>
              </a:rPr>
              <a:t>.</a:t>
            </a:r>
          </a:p>
        </p:txBody>
      </p:sp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CFDEAE4E-ACB5-CF23-C6A3-6E5B6C79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13" y="1307654"/>
            <a:ext cx="5128747" cy="3425010"/>
          </a:xfrm>
          <a:prstGeom prst="rect">
            <a:avLst/>
          </a:prstGeom>
        </p:spPr>
      </p:pic>
      <p:pic>
        <p:nvPicPr>
          <p:cNvPr id="12" name="Рисунок 11" descr="Picture background">
            <a:extLst>
              <a:ext uri="{FF2B5EF4-FFF2-40B4-BE49-F238E27FC236}">
                <a16:creationId xmlns:a16="http://schemas.microsoft.com/office/drawing/2014/main" id="{158FAA81-5E45-746B-95CC-729C24483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34" y="1294327"/>
            <a:ext cx="5128747" cy="343833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23AF9-9C15-6DC1-547C-673E7E0A1763}"/>
              </a:ext>
            </a:extLst>
          </p:cNvPr>
          <p:cNvSpPr txBox="1">
            <a:spLocks/>
          </p:cNvSpPr>
          <p:nvPr/>
        </p:nvSpPr>
        <p:spPr bwMode="auto">
          <a:xfrm>
            <a:off x="0" y="136525"/>
            <a:ext cx="12192000" cy="933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>
              <a:spcBef>
                <a:spcPct val="0"/>
              </a:spcBef>
              <a:defRPr/>
            </a:pPr>
            <a:r>
              <a:rPr lang="ru-RU" sz="4800" kern="1200" dirty="0">
                <a:latin typeface="+mn-lt"/>
              </a:rPr>
              <a:t>Интегральная схема</a:t>
            </a:r>
            <a:endParaRPr lang="en-US" sz="4800" kern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6404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39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CC80D-25A8-7D02-CA93-6EE96E8FEB6E}"/>
              </a:ext>
            </a:extLst>
          </p:cNvPr>
          <p:cNvSpPr txBox="1"/>
          <p:nvPr/>
        </p:nvSpPr>
        <p:spPr>
          <a:xfrm>
            <a:off x="636103" y="5080845"/>
            <a:ext cx="1113182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 err="1">
                <a:latin typeface="+mj-lt"/>
              </a:rPr>
              <a:t>Роберт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Нойс</a:t>
            </a:r>
            <a:r>
              <a:rPr lang="en-US" sz="2400" dirty="0">
                <a:latin typeface="+mj-lt"/>
              </a:rPr>
              <a:t> </a:t>
            </a:r>
            <a:r>
              <a:rPr lang="ru-RU" sz="2400" dirty="0">
                <a:latin typeface="+mj-lt"/>
              </a:rPr>
              <a:t>(</a:t>
            </a:r>
            <a:r>
              <a:rPr lang="en-US" sz="2400" dirty="0">
                <a:latin typeface="+mj-lt"/>
              </a:rPr>
              <a:t>12.12.1927 — 3. 06. 1990</a:t>
            </a:r>
            <a:r>
              <a:rPr lang="ru-RU" sz="2400" dirty="0">
                <a:latin typeface="+mj-lt"/>
              </a:rPr>
              <a:t>) </a:t>
            </a:r>
            <a:r>
              <a:rPr lang="en-US" sz="2400" dirty="0">
                <a:latin typeface="+mj-lt"/>
              </a:rPr>
              <a:t>—</a:t>
            </a:r>
            <a:r>
              <a:rPr lang="ru-RU" sz="2400" dirty="0">
                <a:latin typeface="+mj-lt"/>
              </a:rPr>
              <a:t> в</a:t>
            </a:r>
            <a:r>
              <a:rPr lang="en-US" sz="2400" dirty="0">
                <a:latin typeface="+mj-lt"/>
              </a:rPr>
              <a:t> 1958 </a:t>
            </a:r>
            <a:r>
              <a:rPr lang="en-US" sz="2400" dirty="0" err="1">
                <a:latin typeface="+mj-lt"/>
              </a:rPr>
              <a:t>году</a:t>
            </a:r>
            <a:r>
              <a:rPr lang="en-US" sz="2400" dirty="0">
                <a:latin typeface="+mj-lt"/>
              </a:rPr>
              <a:t>  </a:t>
            </a:r>
            <a:r>
              <a:rPr lang="en-US" sz="2400" dirty="0" err="1">
                <a:latin typeface="+mj-lt"/>
              </a:rPr>
              <a:t>Разработанная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им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технология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позволяла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печатать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проводящие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каналы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прямо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на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силиконовой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поверхности</a:t>
            </a:r>
            <a:r>
              <a:rPr lang="en-US" sz="2400" dirty="0">
                <a:latin typeface="+mj-lt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DEAE4E-ACB5-CF23-C6A3-6E5B6C79D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538" y="1307654"/>
            <a:ext cx="3914297" cy="342501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8FAA81-5E45-746B-95CC-729C24483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4278" y="1294327"/>
            <a:ext cx="3421058" cy="343833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23AF9-9C15-6DC1-547C-673E7E0A1763}"/>
              </a:ext>
            </a:extLst>
          </p:cNvPr>
          <p:cNvSpPr txBox="1">
            <a:spLocks/>
          </p:cNvSpPr>
          <p:nvPr/>
        </p:nvSpPr>
        <p:spPr bwMode="auto">
          <a:xfrm>
            <a:off x="0" y="136525"/>
            <a:ext cx="12192000" cy="933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>
              <a:spcBef>
                <a:spcPct val="0"/>
              </a:spcBef>
              <a:defRPr/>
            </a:pPr>
            <a:r>
              <a:rPr lang="ru-RU" sz="4800" kern="1200" dirty="0">
                <a:latin typeface="+mn-lt"/>
              </a:rPr>
              <a:t>Интегральная схема</a:t>
            </a:r>
            <a:endParaRPr lang="en-US" sz="4800" kern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9523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40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CC80D-25A8-7D02-CA93-6EE96E8FEB6E}"/>
              </a:ext>
            </a:extLst>
          </p:cNvPr>
          <p:cNvSpPr txBox="1"/>
          <p:nvPr/>
        </p:nvSpPr>
        <p:spPr>
          <a:xfrm>
            <a:off x="636103" y="5080845"/>
            <a:ext cx="111318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 err="1">
                <a:latin typeface="+mj-lt"/>
              </a:rPr>
              <a:t>Леонард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Николаевич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Колесов</a:t>
            </a:r>
            <a:r>
              <a:rPr lang="ru-RU" sz="2400" dirty="0">
                <a:latin typeface="+mj-lt"/>
              </a:rPr>
              <a:t> (</a:t>
            </a:r>
            <a:r>
              <a:rPr lang="en-US" sz="2400" dirty="0">
                <a:latin typeface="+mj-lt"/>
              </a:rPr>
              <a:t>19.02.</a:t>
            </a:r>
            <a:r>
              <a:rPr lang="ru-RU" sz="2400" dirty="0">
                <a:latin typeface="+mj-lt"/>
              </a:rPr>
              <a:t>1925 </a:t>
            </a:r>
            <a:r>
              <a:rPr lang="en-US" sz="2400" dirty="0">
                <a:latin typeface="+mj-lt"/>
              </a:rPr>
              <a:t>—</a:t>
            </a:r>
            <a:r>
              <a:rPr lang="ru-RU" sz="24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25.03.</a:t>
            </a:r>
            <a:r>
              <a:rPr lang="ru-RU" sz="2400" dirty="0">
                <a:latin typeface="+mj-lt"/>
              </a:rPr>
              <a:t>1971</a:t>
            </a:r>
            <a:r>
              <a:rPr lang="ru-RU" sz="2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ru-RU" sz="24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—</a:t>
            </a:r>
            <a:r>
              <a:rPr lang="ru-RU" sz="2400" dirty="0">
                <a:latin typeface="+mj-lt"/>
              </a:rPr>
              <a:t> в</a:t>
            </a:r>
            <a:r>
              <a:rPr lang="en-US" sz="2400" dirty="0">
                <a:latin typeface="+mj-lt"/>
              </a:rPr>
              <a:t> 1958 </a:t>
            </a:r>
            <a:r>
              <a:rPr lang="en-US" sz="2400" dirty="0" err="1">
                <a:latin typeface="+mj-lt"/>
              </a:rPr>
              <a:t>году</a:t>
            </a:r>
            <a:r>
              <a:rPr lang="en-US" sz="2400" dirty="0">
                <a:latin typeface="+mj-lt"/>
              </a:rPr>
              <a:t>  </a:t>
            </a:r>
            <a:r>
              <a:rPr lang="en-US" sz="2400" dirty="0" err="1">
                <a:latin typeface="+mj-lt"/>
              </a:rPr>
              <a:t>Разработанная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им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технология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позволяла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печатать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проводящие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каналы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прямо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на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силиконовой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поверхности</a:t>
            </a:r>
            <a:r>
              <a:rPr lang="en-US" sz="2400" dirty="0">
                <a:latin typeface="+mj-lt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DEAE4E-ACB5-CF23-C6A3-6E5B6C79D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9009" y="1307654"/>
            <a:ext cx="2702870" cy="342501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8FAA81-5E45-746B-95CC-729C244830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9550" y="1777155"/>
            <a:ext cx="6765287" cy="232012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23AF9-9C15-6DC1-547C-673E7E0A1763}"/>
              </a:ext>
            </a:extLst>
          </p:cNvPr>
          <p:cNvSpPr txBox="1">
            <a:spLocks/>
          </p:cNvSpPr>
          <p:nvPr/>
        </p:nvSpPr>
        <p:spPr bwMode="auto">
          <a:xfrm>
            <a:off x="0" y="136525"/>
            <a:ext cx="12192000" cy="933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>
              <a:spcBef>
                <a:spcPct val="0"/>
              </a:spcBef>
              <a:defRPr/>
            </a:pPr>
            <a:r>
              <a:rPr lang="ru-RU" sz="4800" kern="1200" dirty="0">
                <a:latin typeface="+mn-lt"/>
              </a:rPr>
              <a:t>Интегральная схема</a:t>
            </a:r>
            <a:endParaRPr lang="en-US" sz="4800" kern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9177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A2C3A28-951C-2643-CA23-ED44A66E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706220-62D4-2532-5E8F-50B9AE17A323}"/>
              </a:ext>
            </a:extLst>
          </p:cNvPr>
          <p:cNvSpPr txBox="1"/>
          <p:nvPr/>
        </p:nvSpPr>
        <p:spPr>
          <a:xfrm>
            <a:off x="265871" y="218734"/>
            <a:ext cx="115418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Интегральные схемы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Главное отличие третьего поколения ЭВМ от второго - использование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ИС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(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нтегральных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хем, или, как их ещё называют, чипов - от англ.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chip</a:t>
            </a:r>
            <a:r>
              <a:rPr lang="ru-RU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"тонкая пластинка"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).</a:t>
            </a:r>
            <a:b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Одна ИС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вмещает в себя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тысячи и более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элементов обычной электронной схемы (</a:t>
            </a:r>
            <a:r>
              <a:rPr lang="ru-RU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транзисторы, диоды, резисторы, и т.д.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), и, благодаря этому, они занимают меньше места, что позволило уменьшить размер компьютеров.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213EDF-9A2F-BBE0-6BEF-002D5308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512" y="1973060"/>
            <a:ext cx="6504693" cy="3866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4D0E0-E628-767D-068B-EBC7FAE3BACE}"/>
              </a:ext>
            </a:extLst>
          </p:cNvPr>
          <p:cNvSpPr txBox="1"/>
          <p:nvPr/>
        </p:nvSpPr>
        <p:spPr>
          <a:xfrm>
            <a:off x="650184" y="5839382"/>
            <a:ext cx="11541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Примеры интегральных схем</a:t>
            </a:r>
          </a:p>
          <a:p>
            <a:pPr algn="ctr"/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6100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BFF0618-1B67-9D55-6073-20DE564E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5AF86-2364-3AD8-6E55-942A2FB4B7B6}"/>
              </a:ext>
            </a:extLst>
          </p:cNvPr>
          <p:cNvSpPr txBox="1"/>
          <p:nvPr/>
        </p:nvSpPr>
        <p:spPr>
          <a:xfrm>
            <a:off x="583924" y="632288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Интегральная схема, которую также называют кристаллом, представляет собой миниатюрную электронную схему, вытравленную на поверхности кремниевого кристалла площадью около 10 мм2. </a:t>
            </a:r>
            <a:endParaRPr lang="ru-RU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DB1E3EF-0203-4E5F-4C0B-D191B5B8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65C90FA-4416-1C3E-8528-A6DC774BE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33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3798" name="Picture 6" descr="Picture background">
            <a:extLst>
              <a:ext uri="{FF2B5EF4-FFF2-40B4-BE49-F238E27FC236}">
                <a16:creationId xmlns:a16="http://schemas.microsoft.com/office/drawing/2014/main" id="{C7EF85BA-8A9A-3F0A-EDC2-70BC85A73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298" y="1931693"/>
            <a:ext cx="8994782" cy="442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4DBD74-5A4C-7E7E-4F71-69D64B91E9AE}"/>
              </a:ext>
            </a:extLst>
          </p:cNvPr>
          <p:cNvSpPr txBox="1"/>
          <p:nvPr/>
        </p:nvSpPr>
        <p:spPr>
          <a:xfrm>
            <a:off x="5384523" y="1602361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Максимальное быстродействие 105 -107 операций в секунду, занимаемый объём – 5-10м3</a:t>
            </a:r>
          </a:p>
        </p:txBody>
      </p:sp>
    </p:spTree>
    <p:extLst>
      <p:ext uri="{BB962C8B-B14F-4D97-AF65-F5344CB8AC3E}">
        <p14:creationId xmlns:p14="http://schemas.microsoft.com/office/powerpoint/2010/main" val="3627928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B1BE7C-43DD-8D45-CD6D-5DC4B34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43</a:t>
            </a:fld>
            <a:endParaRPr lang="ru-RU"/>
          </a:p>
        </p:txBody>
      </p:sp>
      <p:pic>
        <p:nvPicPr>
          <p:cNvPr id="35842" name="Picture 2" descr="Picture background">
            <a:extLst>
              <a:ext uri="{FF2B5EF4-FFF2-40B4-BE49-F238E27FC236}">
                <a16:creationId xmlns:a16="http://schemas.microsoft.com/office/drawing/2014/main" id="{E7264894-324E-ECD1-87F3-FE050ED28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487" y="136525"/>
            <a:ext cx="8919955" cy="668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56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C2266E-DB62-403A-1C54-1ED3BBA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44</a:t>
            </a:fld>
            <a:endParaRPr lang="ru-RU"/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A8A29C7B-A67F-8934-64CC-B27B8C56A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739" y="382657"/>
            <a:ext cx="8103704" cy="607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4330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29FEC2-D4EE-3756-1AEA-F8E19E5C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45</a:t>
            </a:fld>
            <a:endParaRPr lang="ru-RU"/>
          </a:p>
        </p:txBody>
      </p:sp>
      <p:pic>
        <p:nvPicPr>
          <p:cNvPr id="37890" name="Picture 2" descr="Picture background">
            <a:extLst>
              <a:ext uri="{FF2B5EF4-FFF2-40B4-BE49-F238E27FC236}">
                <a16:creationId xmlns:a16="http://schemas.microsoft.com/office/drawing/2014/main" id="{34EF571F-0FA3-93A9-DC46-98FDFC919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045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5404A0-B2BD-511E-C8F8-99227E32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46</a:t>
            </a:fld>
            <a:endParaRPr lang="ru-RU"/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E924E3CE-0579-392A-389C-20A0E7B5F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0"/>
            <a:ext cx="915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622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1112017-CA79-2E43-4B8A-07C7B1F4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BFDA0-726E-DCC5-8C12-D5E6CCF52363}"/>
              </a:ext>
            </a:extLst>
          </p:cNvPr>
          <p:cNvSpPr txBox="1"/>
          <p:nvPr/>
        </p:nvSpPr>
        <p:spPr>
          <a:xfrm>
            <a:off x="434837" y="325472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1964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году, компания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IBM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выпускает первую серию ЭВМ третьего поколения -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IBM/360.</a:t>
            </a:r>
            <a:b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Производительность этих ЭВМ достигала от десятков тысяч до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миллионов операций в секунду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в зависимости от модели.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0ADB81-D68F-BCFA-43F2-3C2EC3CC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298" y="1828800"/>
            <a:ext cx="6288760" cy="470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70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98C26F1-60F3-BA82-23BD-3AB206C5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BBA3C-5049-D7AC-D8EA-02C1557D6271}"/>
              </a:ext>
            </a:extLst>
          </p:cNvPr>
          <p:cNvSpPr txBox="1"/>
          <p:nvPr/>
        </p:nvSpPr>
        <p:spPr>
          <a:xfrm>
            <a:off x="3048828" y="2413338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IBM/360 и IBM/370 имели один главный процессор, и несколько периферийных процессоров для управления устройствами ввода/вывода. Благодаря этому, реализован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мультипрограммный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режим работы: пока одна программа выполняла вычисления, другая занималась вводом/выводом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251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E75AE7A-5799-FA3D-5DBD-3B2D39FE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49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052AF0-F1B4-9D52-FB41-B4D8D14C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114" y="983500"/>
            <a:ext cx="7468642" cy="5372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B8727-59E9-CFE9-EA49-3B951828E60D}"/>
              </a:ext>
            </a:extLst>
          </p:cNvPr>
          <p:cNvSpPr txBox="1"/>
          <p:nvPr/>
        </p:nvSpPr>
        <p:spPr>
          <a:xfrm>
            <a:off x="186359" y="109404"/>
            <a:ext cx="60976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PDP-11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это малые ЭВМ, способные работать в реальном времени и управлять разными техническими устройствами. Поэтому, их ещё называют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управляющими машинами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У них была архитектура "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общей шины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" - </a:t>
            </a:r>
            <a:r>
              <a:rPr lang="ru-RU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информационной магистрали, к которой подключается процессор, память, 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контроллёры</a:t>
            </a:r>
            <a:r>
              <a:rPr lang="ru-RU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устройств.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Позже, она стала использоваться в 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микроЭВМ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и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390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300041-4A58-F915-89D2-B33955CF976F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50</a:t>
            </a:fld>
            <a:endParaRPr lang="ru-RU"/>
          </a:p>
        </p:txBody>
      </p:sp>
      <p:pic>
        <p:nvPicPr>
          <p:cNvPr id="4098" name="Picture 2" descr="Структурная схема ЭВМ третьего поколения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313" y="695739"/>
            <a:ext cx="12188687" cy="528376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A6F772FB-DA70-CA7E-5FD5-39A9F784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26045D9-6072-3B6D-D76C-2E270083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51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3847B9C-C500-0629-D3D9-2EDD914DAF8D}"/>
              </a:ext>
            </a:extLst>
          </p:cNvPr>
          <p:cNvGraphicFramePr>
            <a:graphicFrameLocks noGrp="1"/>
          </p:cNvGraphicFramePr>
          <p:nvPr/>
        </p:nvGraphicFramePr>
        <p:xfrm>
          <a:off x="497925" y="476329"/>
          <a:ext cx="5236954" cy="5949187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618477">
                  <a:extLst>
                    <a:ext uri="{9D8B030D-6E8A-4147-A177-3AD203B41FA5}">
                      <a16:colId xmlns:a16="http://schemas.microsoft.com/office/drawing/2014/main" val="670082136"/>
                    </a:ext>
                  </a:extLst>
                </a:gridCol>
                <a:gridCol w="2618477">
                  <a:extLst>
                    <a:ext uri="{9D8B030D-6E8A-4147-A177-3AD203B41FA5}">
                      <a16:colId xmlns:a16="http://schemas.microsoft.com/office/drawing/2014/main" val="2386355229"/>
                    </a:ext>
                  </a:extLst>
                </a:gridCol>
              </a:tblGrid>
              <a:tr h="491477">
                <a:tc>
                  <a:txBody>
                    <a:bodyPr/>
                    <a:lstStyle/>
                    <a:p>
                      <a:r>
                        <a:rPr lang="ru-RU" b="1"/>
                        <a:t>Характеристика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/>
                        <a:t>ЕС ЭВМ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611314"/>
                  </a:ext>
                </a:extLst>
              </a:tr>
              <a:tr h="525427">
                <a:tc>
                  <a:txBody>
                    <a:bodyPr/>
                    <a:lstStyle/>
                    <a:p>
                      <a:r>
                        <a:rPr lang="ru-RU" b="1"/>
                        <a:t>Год выпуска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1972 (первая модель ЕС-1020)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466197"/>
                  </a:ext>
                </a:extLst>
              </a:tr>
              <a:tr h="491477">
                <a:tc>
                  <a:txBody>
                    <a:bodyPr/>
                    <a:lstStyle/>
                    <a:p>
                      <a:r>
                        <a:rPr lang="ru-RU" b="1"/>
                        <a:t>Производитель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СССР (в координации с </a:t>
                      </a:r>
                      <a:r>
                        <a:rPr lang="af-ZA"/>
                        <a:t>IBM)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532651"/>
                  </a:ext>
                </a:extLst>
              </a:tr>
              <a:tr h="1228691">
                <a:tc>
                  <a:txBody>
                    <a:bodyPr/>
                    <a:lstStyle/>
                    <a:p>
                      <a:r>
                        <a:rPr lang="ru-RU" b="1"/>
                        <a:t>Архитектура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Копия архитектуры </a:t>
                      </a:r>
                      <a:r>
                        <a:rPr lang="af-ZA" dirty="0"/>
                        <a:t>IBM System/360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351260"/>
                  </a:ext>
                </a:extLst>
              </a:tr>
              <a:tr h="1228691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Элементная база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Интегральные схемы (по западным образцам)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049862"/>
                  </a:ext>
                </a:extLst>
              </a:tr>
              <a:tr h="1228691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Производительность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Зависит от модели (сравнимо с </a:t>
                      </a:r>
                      <a:r>
                        <a:rPr lang="af-ZA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System/360, 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от 30 тыс. до 1 млн. операций)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418078"/>
                  </a:ext>
                </a:extLst>
              </a:tr>
              <a:tr h="49147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Память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ОЗУ до 4 МБ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64141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87BE83-733D-5DBB-380F-FB866C355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1654" y="593889"/>
            <a:ext cx="5295106" cy="517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74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A6F772FB-DA70-CA7E-5FD5-39A9F784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26045D9-6072-3B6D-D76C-2E270083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52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3847B9C-C500-0629-D3D9-2EDD914DAF8D}"/>
              </a:ext>
            </a:extLst>
          </p:cNvPr>
          <p:cNvGraphicFramePr>
            <a:graphicFrameLocks noGrp="1"/>
          </p:cNvGraphicFramePr>
          <p:nvPr/>
        </p:nvGraphicFramePr>
        <p:xfrm>
          <a:off x="497925" y="476329"/>
          <a:ext cx="5236954" cy="583453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618477">
                  <a:extLst>
                    <a:ext uri="{9D8B030D-6E8A-4147-A177-3AD203B41FA5}">
                      <a16:colId xmlns:a16="http://schemas.microsoft.com/office/drawing/2014/main" val="670082136"/>
                    </a:ext>
                  </a:extLst>
                </a:gridCol>
                <a:gridCol w="2618477">
                  <a:extLst>
                    <a:ext uri="{9D8B030D-6E8A-4147-A177-3AD203B41FA5}">
                      <a16:colId xmlns:a16="http://schemas.microsoft.com/office/drawing/2014/main" val="2386355229"/>
                    </a:ext>
                  </a:extLst>
                </a:gridCol>
              </a:tblGrid>
              <a:tr h="491477">
                <a:tc>
                  <a:txBody>
                    <a:bodyPr/>
                    <a:lstStyle/>
                    <a:p>
                      <a:r>
                        <a:rPr lang="ru-RU" b="1"/>
                        <a:t>Характеристика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b="1"/>
                        <a:t>ILLIAC IV</a:t>
                      </a:r>
                      <a:endParaRPr lang="af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611314"/>
                  </a:ext>
                </a:extLst>
              </a:tr>
              <a:tr h="525427">
                <a:tc>
                  <a:txBody>
                    <a:bodyPr/>
                    <a:lstStyle/>
                    <a:p>
                      <a:r>
                        <a:rPr lang="ru-RU" b="1" dirty="0"/>
                        <a:t>Год выпуска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1972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466197"/>
                  </a:ext>
                </a:extLst>
              </a:tr>
              <a:tr h="491477">
                <a:tc>
                  <a:txBody>
                    <a:bodyPr/>
                    <a:lstStyle/>
                    <a:p>
                      <a:r>
                        <a:rPr lang="ru-RU" b="1"/>
                        <a:t>Производитель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err="1"/>
                        <a:t>Иллинойсский</a:t>
                      </a:r>
                      <a:r>
                        <a:rPr lang="ru-RU"/>
                        <a:t> университет (США)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532651"/>
                  </a:ext>
                </a:extLst>
              </a:tr>
              <a:tr h="1228691">
                <a:tc>
                  <a:txBody>
                    <a:bodyPr/>
                    <a:lstStyle/>
                    <a:p>
                      <a:r>
                        <a:rPr lang="ru-RU" b="1"/>
                        <a:t>Архитектура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64-битная, массивная параллельная архитектура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351260"/>
                  </a:ext>
                </a:extLst>
              </a:tr>
              <a:tr h="1228691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Элементная база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Интегральные схемы высокой плотности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049862"/>
                  </a:ext>
                </a:extLst>
              </a:tr>
              <a:tr h="1228691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Производительность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До 200 млн операций в секунду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418078"/>
                  </a:ext>
                </a:extLst>
              </a:tr>
              <a:tr h="49147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Память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До 1 МБ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64141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87BE83-733D-5DBB-380F-FB866C355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1654" y="1196942"/>
            <a:ext cx="5295106" cy="397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08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ПГАТУ Билалова П.О. ПИНБ-21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15AC2F-1B4B-4462-B660-173BBE0061AC}" type="slidenum">
              <a:rPr lang="ru-RU"/>
              <a:t>53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CC80D-25A8-7D02-CA93-6EE96E8FEB6E}"/>
              </a:ext>
            </a:extLst>
          </p:cNvPr>
          <p:cNvSpPr txBox="1"/>
          <p:nvPr/>
        </p:nvSpPr>
        <p:spPr>
          <a:xfrm>
            <a:off x="599660" y="2303467"/>
            <a:ext cx="11287540" cy="22510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ct val="150000"/>
              </a:lnSpc>
              <a:defRPr/>
            </a:pPr>
            <a:r>
              <a:rPr lang="ru-RU" sz="2400" dirty="0">
                <a:latin typeface="+mj-lt"/>
              </a:rPr>
              <a:t>Третье поколение выполнялось на микросхемах. Пример машин - ЕС ЭВМ. Управление работой происходило с алфавитно-цифровых терминалов. </a:t>
            </a:r>
          </a:p>
          <a:p>
            <a:pPr algn="ctr" rtl="0">
              <a:lnSpc>
                <a:spcPct val="150000"/>
              </a:lnSpc>
              <a:defRPr/>
            </a:pPr>
            <a:r>
              <a:rPr lang="ru-RU" sz="2400" dirty="0">
                <a:latin typeface="+mj-lt"/>
              </a:rPr>
              <a:t>Для управления использовались языки высокого уровня и Ассемблер. </a:t>
            </a:r>
          </a:p>
          <a:p>
            <a:pPr algn="ctr" rtl="0">
              <a:lnSpc>
                <a:spcPct val="150000"/>
              </a:lnSpc>
              <a:defRPr/>
            </a:pPr>
            <a:r>
              <a:rPr lang="ru-RU" sz="2400" dirty="0">
                <a:latin typeface="+mj-lt"/>
              </a:rPr>
              <a:t>Данные и программы вводились с терминала, перфокарт и перфолент.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23AF9-9C15-6DC1-547C-673E7E0A1763}"/>
              </a:ext>
            </a:extLst>
          </p:cNvPr>
          <p:cNvSpPr txBox="1">
            <a:spLocks/>
          </p:cNvSpPr>
          <p:nvPr/>
        </p:nvSpPr>
        <p:spPr bwMode="auto">
          <a:xfrm>
            <a:off x="0" y="136525"/>
            <a:ext cx="12192000" cy="933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>
              <a:spcBef>
                <a:spcPct val="0"/>
              </a:spcBef>
              <a:defRPr/>
            </a:pPr>
            <a:r>
              <a:rPr lang="ru-RU" sz="4800" kern="1200" dirty="0">
                <a:latin typeface="+mn-lt"/>
              </a:rPr>
              <a:t>Заключение</a:t>
            </a:r>
            <a:endParaRPr lang="en-US" sz="4800" kern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1546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59530AB-3BA1-4AC5-B40F-08BB440F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54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468FF-6977-5C83-19FD-2807B726C28A}"/>
              </a:ext>
            </a:extLst>
          </p:cNvPr>
          <p:cNvSpPr txBox="1"/>
          <p:nvPr/>
        </p:nvSpPr>
        <p:spPr>
          <a:xfrm>
            <a:off x="1080880" y="87882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https://thirdgenecm.tilda.ws/</a:t>
            </a:r>
          </a:p>
        </p:txBody>
      </p:sp>
    </p:spTree>
    <p:extLst>
      <p:ext uri="{BB962C8B-B14F-4D97-AF65-F5344CB8AC3E}">
        <p14:creationId xmlns:p14="http://schemas.microsoft.com/office/powerpoint/2010/main" val="30089239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C0F40-FFA4-F61C-482E-C797B6707F58}"/>
              </a:ext>
            </a:extLst>
          </p:cNvPr>
          <p:cNvSpPr txBox="1"/>
          <p:nvPr/>
        </p:nvSpPr>
        <p:spPr>
          <a:xfrm>
            <a:off x="3048828" y="296733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 поколение ЭВМ </a:t>
            </a:r>
          </a:p>
          <a:p>
            <a:r>
              <a:rPr lang="ru-RU" dirty="0"/>
              <a:t>(обязательно: аппаратная база, схема основных элементов, принцип работы)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0756BF-59C5-6BAE-1849-858DFE35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A085-462D-4EA3-BFBB-9D7137ABFA6B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1933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32CE9-C0E9-4E72-861A-98357497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ЭВМ 4 поколения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D80008-CDA5-BCCC-3996-DFED1DD1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56</a:t>
            </a:fld>
            <a:endParaRPr lang="en-US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384F5E-6058-CBC1-6659-5CF0D8C6CB1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35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ЭВМ 4 поколения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57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/>
          </a:bodyPr>
          <a:lstStyle/>
          <a:p>
            <a:r>
              <a:rPr lang="ru-RU" sz="2800" dirty="0"/>
              <a:t>ЭВМ 4-го поколения — это период в развитии вычислительной техники, который начался в </a:t>
            </a:r>
            <a:r>
              <a:rPr lang="ru-RU" sz="2800" b="1" dirty="0"/>
              <a:t>1970-х</a:t>
            </a:r>
            <a:r>
              <a:rPr lang="ru-RU" sz="2800" dirty="0"/>
              <a:t> годах и продолжается по настоящее время.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2B3B50-D77F-E989-BF9F-E1EEF323524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" r="1784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763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58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/>
          </a:bodyPr>
          <a:lstStyle/>
          <a:p>
            <a:r>
              <a:rPr lang="ru-RU" sz="2800" dirty="0"/>
              <a:t>Главной особенностью этого поколения стало использование </a:t>
            </a:r>
            <a:r>
              <a:rPr lang="ru-RU" sz="2800" b="1" dirty="0"/>
              <a:t>микропроцессоров</a:t>
            </a:r>
            <a:r>
              <a:rPr lang="ru-RU" sz="2800" dirty="0"/>
              <a:t> — интегральных схем, содержащих весь центральный процессор на одном кристалле.</a:t>
            </a: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F5936578-EFFE-4530-B326-410D0D34D28F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9" r="307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914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dirty="0"/>
              <a:t>Появление первого микропроцессора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59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32-летний сотрудник Intel 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Маршиан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Эдвард «Тед»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Хофф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(а) предложил заменить эту кучу микросхем до трех.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Итальянский физик Федерико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Фаджин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(б)  объединил все это в один чип. Ему помогал японец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Масатоси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Сима(в).</a:t>
            </a:r>
          </a:p>
          <a:p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C01DC3-4F21-7AEC-3A5F-C2652374E46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6530" r="6530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Первый микропроцессор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60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Микропроцессоры — это сердце ЭВМ 4-го поколения. Представленный компанией Intel в 1971 году - Intel 4004, который содержал все необходимые для вычислений функции на одном кристалле.</a:t>
            </a:r>
          </a:p>
          <a:p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C8AA6D-1364-BD66-EE07-4057B7C558C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8292" r="8292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697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Отечественный микропроцессор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61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lnSpcReduction="10000"/>
          </a:bodyPr>
          <a:lstStyle/>
          <a:p>
            <a:r>
              <a:rPr lang="ru-RU" sz="2800" dirty="0">
                <a:effectLst/>
                <a:ea typeface="Calibri" panose="020F0502020204030204" pitchFamily="34" charset="0"/>
              </a:rPr>
              <a:t>Первая отечественная разработка "КР580ИК80", аналог американского Intel 8080, была выпущена лишь в 1977 году. США значительно опередили СССР в разработке коммерческих микропроцессоров.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6B8FB5-DE03-4A30-AAFE-BD66CC16E5D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15435" r="15435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909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B66E3-35DF-55F6-3A45-0B0A6699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Аппаратная база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D06E0A-0C16-60B2-8850-B69BDCDE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62</a:t>
            </a:fld>
            <a:endParaRPr lang="en-US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9C65D3-85F0-EB77-D49F-C26068A1A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4648"/>
            <a:ext cx="10515600" cy="548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236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B66E3-35DF-55F6-3A45-0B0A6699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Структурная схема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D06E0A-0C16-60B2-8850-B69BDCDE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63</a:t>
            </a:fld>
            <a:endParaRPr lang="en-US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CE5623-F559-0F17-EB90-B0AE0E48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6" b="1559"/>
          <a:stretch/>
        </p:blipFill>
        <p:spPr>
          <a:xfrm>
            <a:off x="0" y="1690688"/>
            <a:ext cx="10442448" cy="507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474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IBM PC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64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92500" lnSpcReduction="20000"/>
          </a:bodyPr>
          <a:lstStyle/>
          <a:p>
            <a:r>
              <a:rPr lang="ru-RU" sz="3200" dirty="0"/>
              <a:t>IBM PC появился в 1981 году и стал основой для большинства будущих персональных компьютеров. Он установил стандарты аппаратного и программного обеспечения, которые до сих пор используются.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451B260-1220-FABE-BE65-C22DDCF4BDDA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7" r="837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1211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Apple 1 </a:t>
            </a:r>
            <a:r>
              <a:rPr lang="ru-RU" sz="5400" dirty="0"/>
              <a:t>и </a:t>
            </a:r>
            <a:r>
              <a:rPr lang="en-US" sz="5400" dirty="0"/>
              <a:t>Apple 2</a:t>
            </a:r>
            <a:endParaRPr lang="ru-RU" sz="5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65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Apple 1 и Apple 2, выпущенные в 1976 и 1977 годах соответственно, стали одними из первых массовых ПК. Они привнесли в индустрию инновационные идеи о пользовательском интерфейсе и графической среде.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37B150-1E4C-0B1C-93EA-B8658D3944A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6234" b="6234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862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Советские ЭВМ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66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/>
              <a:t>Советские вычислительные машины, такие как серия ЕС ЭВМ и Эльбрус-1, были разработаны для обеспечения вычислительных мощностей для научных и промышленных нужд. Эти системы обеспечивали высокую производительность и безопасность, что было актуально в условиях Закрытой экономики. </a:t>
            </a:r>
          </a:p>
        </p:txBody>
      </p:sp>
      <p:pic>
        <p:nvPicPr>
          <p:cNvPr id="8" name="Picture 4" descr="Picture background">
            <a:extLst>
              <a:ext uri="{FF2B5EF4-FFF2-40B4-BE49-F238E27FC236}">
                <a16:creationId xmlns:a16="http://schemas.microsoft.com/office/drawing/2014/main" id="{9711DB0C-BDE7-83AD-2FA6-F5AE634E7D09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7" r="4017"/>
          <a:stretch>
            <a:fillRect/>
          </a:stretch>
        </p:blipFill>
        <p:spPr bwMode="auto">
          <a:xfrm>
            <a:off x="6096000" y="1154113"/>
            <a:ext cx="5629275" cy="449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2553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6436995" cy="2138039"/>
          </a:xfrm>
        </p:spPr>
        <p:txBody>
          <a:bodyPr/>
          <a:lstStyle/>
          <a:p>
            <a:r>
              <a:rPr lang="ru-RU" sz="5400" dirty="0"/>
              <a:t>Производительность ЭВМ 4 поколения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67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62500" lnSpcReduction="20000"/>
          </a:bodyPr>
          <a:lstStyle/>
          <a:p>
            <a:r>
              <a:rPr lang="ru-RU" sz="2800" dirty="0"/>
              <a:t>Каждое новое поколение микропроцессоров было в несколько раз мощнее предыдущего. Закон Мура, сформулированный в 1965 году, предсказывал, что количество транзисторов на чипе будет удваиваться примерно каждые два года, что и происходило.</a:t>
            </a:r>
          </a:p>
          <a:p>
            <a:r>
              <a:rPr lang="ru-RU" sz="2800" dirty="0"/>
              <a:t>Микропроцессоры прошли путь от 4-битных к 64-битным, с ростом количества ядер, что позволило компьютерам работать быстрее и выполнять более сложные задачи.</a:t>
            </a:r>
          </a:p>
          <a:p>
            <a:r>
              <a:rPr lang="ru-RU" sz="2800" dirty="0"/>
              <a:t>Появление многоядерных процессоров позволило увеличить производительность без увеличения частоты процессора</a:t>
            </a:r>
          </a:p>
          <a:p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BAB654-7447-E9E7-8679-86A46B34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285" y="688289"/>
            <a:ext cx="2828789" cy="50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8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Появление ноутбуков и мобильных компьютеров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68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85000" lnSpcReduction="10000"/>
          </a:bodyPr>
          <a:lstStyle/>
          <a:p>
            <a:r>
              <a:rPr lang="ru-RU" sz="2000" dirty="0"/>
              <a:t>С развитием технологии уменьшались не только настольные компьютеры, но и появлялись новые классы устройств — портативные компьютеры.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 1981 году был выпущен первый коммерчески успешный ноутбук — </a:t>
            </a:r>
            <a:r>
              <a:rPr lang="ru-RU" sz="2000" b="1" dirty="0" err="1"/>
              <a:t>Osborne</a:t>
            </a:r>
            <a:r>
              <a:rPr lang="ru-RU" sz="2000" b="1" dirty="0"/>
              <a:t> 1</a:t>
            </a:r>
            <a:r>
              <a:rPr lang="ru-RU" sz="2000" dirty="0"/>
              <a:t>. Он весил около 10 кг, но это было огромное достижение для того времени, так как устройство стало мобильным.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 1990-е годы ноутбуки стали повсеместными, и к концу десятилетия появились первые </a:t>
            </a:r>
            <a:r>
              <a:rPr lang="ru-RU" sz="2000" b="1" dirty="0"/>
              <a:t>мобильные устройства</a:t>
            </a:r>
            <a:r>
              <a:rPr lang="ru-RU" sz="2000" dirty="0"/>
              <a:t> с доступом к Интернету.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7A05C5-3A22-E089-EFA6-BB058B6F863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7771" r="7771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543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853440" y="2438400"/>
          <a:ext cx="10363200" cy="262128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Преимущества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Недостатки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производительность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стоимость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Увеличенные возможности управления данными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 в обслуживании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Многоядерные технологии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Зависимость от электропитания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Совместимость с предыдущими версиями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Потребление ресурсов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914400" y="723900"/>
            <a:ext cx="10439400" cy="13208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6000">
                <a:latin typeface="Calibri"/>
                <a:ea typeface="Calibri"/>
                <a:cs typeface="Calibri"/>
              </a:rPr>
              <a:t>Преимущества и недостатки</a:t>
            </a:r>
            <a:endParaRPr lang="en-US" sz="6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3700" y="5880100"/>
            <a:ext cx="11328400" cy="12700"/>
          </a:xfrm>
          <a:prstGeom prst="line">
            <a:avLst/>
          </a:prstGeom>
          <a:noFill/>
          <a:ln>
            <a:solidFill>
              <a:srgbClr val="000000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3800" y="317500"/>
            <a:ext cx="368300" cy="355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050" b="0">
                <a:latin typeface="Calibri"/>
                <a:ea typeface="Calibri"/>
                <a:cs typeface="Calibri"/>
              </a:rPr>
              <a:pPr algn="ctr"/>
              <a:t>69</a:t>
            </a:fld>
            <a:endParaRPr lang="en-US" sz="10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8002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2438</Words>
  <Application>Microsoft Office PowerPoint</Application>
  <PresentationFormat>Широкоэкранный</PresentationFormat>
  <Paragraphs>247</Paragraphs>
  <Slides>69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69</vt:i4>
      </vt:variant>
    </vt:vector>
  </HeadingPairs>
  <TitlesOfParts>
    <vt:vector size="80" baseType="lpstr">
      <vt:lpstr>-apple-system</vt:lpstr>
      <vt:lpstr>Arial</vt:lpstr>
      <vt:lpstr>Calibri</vt:lpstr>
      <vt:lpstr>Calibri Light</vt:lpstr>
      <vt:lpstr>Calibri SemiBold</vt:lpstr>
      <vt:lpstr>Fira Sans</vt:lpstr>
      <vt:lpstr>Roboto</vt:lpstr>
      <vt:lpstr>Times New Roman</vt:lpstr>
      <vt:lpstr>Yandex Sans Text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ЭВМ 4 поколения</vt:lpstr>
      <vt:lpstr>Что такое ЭВМ 4 поколения</vt:lpstr>
      <vt:lpstr>Особенность</vt:lpstr>
      <vt:lpstr>Появление первого микропроцессора</vt:lpstr>
      <vt:lpstr>Первый микропроцессор</vt:lpstr>
      <vt:lpstr>Отечественный микропроцессор</vt:lpstr>
      <vt:lpstr>Аппаратная база</vt:lpstr>
      <vt:lpstr>Структурная схема</vt:lpstr>
      <vt:lpstr>IBM PC</vt:lpstr>
      <vt:lpstr>Apple 1 и Apple 2</vt:lpstr>
      <vt:lpstr>Советские ЭВМ</vt:lpstr>
      <vt:lpstr>Производительность ЭВМ 4 поколения</vt:lpstr>
      <vt:lpstr>Появление ноутбуков и мобильных компьютеров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Telepuzik Tinky</dc:creator>
  <cp:lastModifiedBy>Telepuzik Tinky</cp:lastModifiedBy>
  <cp:revision>15</cp:revision>
  <dcterms:created xsi:type="dcterms:W3CDTF">2024-09-22T09:25:06Z</dcterms:created>
  <dcterms:modified xsi:type="dcterms:W3CDTF">2024-09-24T10:30:42Z</dcterms:modified>
</cp:coreProperties>
</file>