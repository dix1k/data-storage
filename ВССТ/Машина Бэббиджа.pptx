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278" r:id="rId3"/>
    <p:sldId id="277" r:id="rId4"/>
    <p:sldId id="261" r:id="rId5"/>
    <p:sldId id="263" r:id="rId6"/>
    <p:sldId id="266" r:id="rId7"/>
    <p:sldId id="268" r:id="rId8"/>
    <p:sldId id="270" r:id="rId9"/>
    <p:sldId id="272" r:id="rId10"/>
    <p:sldId id="27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6952F-117B-4D35-B29D-4B634605A272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1286C-EC2F-4393-BD98-B28702FBA8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73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4B38-0C3E-46C4-BFF5-0FA25B9CAC8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81028-5ED1-4C3B-84A5-45AAAA56DA0A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0CF6C-FF33-4EAF-A94D-194A5FEE2C9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3199E-1FC5-4D9E-8AE5-6AA25DEB1F1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F11E-A6A0-4A1F-9391-D32C615F6D1D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27A9-FE7B-452F-A310-2CE0C09FB978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7171A-EC4D-4224-AE2F-0FD55C69271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B434-447C-4A3A-A890-A856069ABA71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E18AE-F590-4F54-B77C-6648392E8D86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A0788-E4F1-4047-B189-933F6999BB6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37C5-C313-45FB-B004-E29D8ED39FE7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EF010-D9F5-4070-9224-D29420C050F9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BA8F-5DB0-4409-A202-634AF3E9E4FB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7E72-152F-4714-A9E6-5B389612727C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091F-0048-4F8B-A02E-6D48ACEC892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4A16-2BB6-48BA-BC56-7F53E8C4D40F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3717C-7E36-44D5-860E-F20A290B0B35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8704C42-0ADF-44CC-8491-E89BD038DE3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4805F-2494-C71C-1A27-2423ED951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600" dirty="0"/>
              <a:t>Машина Бэббиджа: </a:t>
            </a:r>
            <a:r>
              <a:rPr lang="ru-RU" sz="5400" dirty="0"/>
              <a:t>первая идея вычислительной машины</a:t>
            </a:r>
            <a:endParaRPr lang="ru-RU" sz="6600" dirty="0"/>
          </a:p>
        </p:txBody>
      </p:sp>
    </p:spTree>
    <p:extLst>
      <p:ext uri="{BB962C8B-B14F-4D97-AF65-F5344CB8AC3E}">
        <p14:creationId xmlns:p14="http://schemas.microsoft.com/office/powerpoint/2010/main" val="355460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1E205-21C4-7D9D-2B7D-4F8702E0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59" y="295729"/>
            <a:ext cx="6000673" cy="1574808"/>
          </a:xfrm>
        </p:spPr>
        <p:txBody>
          <a:bodyPr>
            <a:normAutofit fontScale="90000"/>
          </a:bodyPr>
          <a:lstStyle/>
          <a:p>
            <a:r>
              <a:rPr lang="ru-RU" dirty="0"/>
              <a:t>Чарльз Бэббидж — пионер вычислительной техники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A2E458-C9B8-9020-93B8-437F5681E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140" y="3074916"/>
            <a:ext cx="5084979" cy="3618492"/>
          </a:xfrm>
        </p:spPr>
        <p:txBody>
          <a:bodyPr>
            <a:normAutofit/>
          </a:bodyPr>
          <a:lstStyle/>
          <a:p>
            <a:r>
              <a:rPr lang="ru-RU" sz="2400" dirty="0"/>
              <a:t>Английский математик и инженер (1791–1871), создатель концепции первой механической вычислительной машины, идеи которого легли в основу современного компьютера.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35FA9E-9A07-7179-2D15-467CAA37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DE2ED9A-F01A-EB8F-A21E-31A7FB8A372E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7" r="16517"/>
          <a:stretch>
            <a:fillRect/>
          </a:stretch>
        </p:blipFill>
        <p:spPr bwMode="auto">
          <a:xfrm>
            <a:off x="6240463" y="1298575"/>
            <a:ext cx="5711825" cy="533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76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1E205-21C4-7D9D-2B7D-4F8702E0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59" y="295729"/>
            <a:ext cx="6000673" cy="1574808"/>
          </a:xfrm>
        </p:spPr>
        <p:txBody>
          <a:bodyPr>
            <a:normAutofit fontScale="90000"/>
          </a:bodyPr>
          <a:lstStyle/>
          <a:p>
            <a:r>
              <a:rPr lang="ru-RU" dirty="0"/>
              <a:t>Что такое дифференциальная машина?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A2E458-C9B8-9020-93B8-437F5681E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140" y="2743200"/>
            <a:ext cx="5084979" cy="3886200"/>
          </a:xfrm>
        </p:spPr>
        <p:txBody>
          <a:bodyPr>
            <a:normAutofit/>
          </a:bodyPr>
          <a:lstStyle/>
          <a:p>
            <a:r>
              <a:rPr lang="ru-RU" sz="2400" dirty="0"/>
              <a:t>Машина для автоматического вычисления многочленов, спроектированная для решения математических задач без человеческих ошибок. Построена на основе зубчатых передач и механических механизмов.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35FA9E-9A07-7179-2D15-467CAA37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8CD6EF66-03D9-65CC-9B1C-75014C0B4A1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7" r="16517"/>
          <a:stretch>
            <a:fillRect/>
          </a:stretch>
        </p:blipFill>
        <p:spPr bwMode="auto">
          <a:xfrm>
            <a:off x="6240463" y="1298575"/>
            <a:ext cx="5711825" cy="533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70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63487-AB78-3E8F-0A97-C03ECF08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59" y="295729"/>
            <a:ext cx="6000673" cy="1574808"/>
          </a:xfrm>
        </p:spPr>
        <p:txBody>
          <a:bodyPr/>
          <a:lstStyle/>
          <a:p>
            <a:r>
              <a:rPr lang="ru-RU" dirty="0"/>
              <a:t>Проектирование и строительство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E626F9-A677-5AB9-C0F9-4F2A5E143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070" y="3337559"/>
            <a:ext cx="5084979" cy="3224711"/>
          </a:xfrm>
        </p:spPr>
        <p:txBody>
          <a:bodyPr>
            <a:normAutofit/>
          </a:bodyPr>
          <a:lstStyle/>
          <a:p>
            <a:r>
              <a:rPr lang="ru-RU" sz="2400" dirty="0"/>
              <a:t>Первые наброски в 1822 году. Финансирование от британского правительства, но проект был прекращён в 1832 году из-за сложности и стоимости.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C0E2E4-2216-E475-E040-FDFBDD00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9B3CA4A-3B52-0B36-BB42-439F4AE41BF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7" r="18257"/>
          <a:stretch>
            <a:fillRect/>
          </a:stretch>
        </p:blipFill>
        <p:spPr bwMode="auto">
          <a:xfrm>
            <a:off x="6240463" y="1417638"/>
            <a:ext cx="5711825" cy="521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78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52BA3D-6EDD-24D0-DFAB-E2898A9CE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элементов и принципы работы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F0C5EF-ED9E-742D-DAEE-15FD5ACA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6405BC35-9E29-C718-74E6-00780D93EC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2216" y="2052638"/>
            <a:ext cx="5149344" cy="419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53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1E205-21C4-7D9D-2B7D-4F8702E08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59" y="295729"/>
            <a:ext cx="6000673" cy="1930404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Аналитическая машина — шаг к программируемому компьютеру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A2E458-C9B8-9020-93B8-437F5681E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070" y="3278123"/>
            <a:ext cx="5084979" cy="3351277"/>
          </a:xfrm>
        </p:spPr>
        <p:txBody>
          <a:bodyPr>
            <a:normAutofit/>
          </a:bodyPr>
          <a:lstStyle/>
          <a:p>
            <a:r>
              <a:rPr lang="ru-RU" sz="2400" dirty="0"/>
              <a:t>Проект 1837 года — более сложная, универсальная вычислительная машина. Использование перфокарт для управления программой и вычислениями. Хранение данных и промежуточных результатов.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35FA9E-9A07-7179-2D15-467CAA37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0B38B078-17AC-A95B-DD0E-4170D6508B80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36" b="9736"/>
          <a:stretch>
            <a:fillRect/>
          </a:stretch>
        </p:blipFill>
        <p:spPr bwMode="auto">
          <a:xfrm>
            <a:off x="6240463" y="1298575"/>
            <a:ext cx="5711825" cy="533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23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D25F3-B947-8F96-6079-A44D615B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0" y="295729"/>
            <a:ext cx="6000671" cy="1574808"/>
          </a:xfrm>
        </p:spPr>
        <p:txBody>
          <a:bodyPr>
            <a:normAutofit/>
          </a:bodyPr>
          <a:lstStyle/>
          <a:p>
            <a:r>
              <a:rPr lang="ru-RU" dirty="0"/>
              <a:t>Ключевые компоненты аналитической машины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CFD84A-FC86-7B85-5BCA-01430ABC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070" y="3282695"/>
            <a:ext cx="5084979" cy="3346705"/>
          </a:xfrm>
        </p:spPr>
        <p:txBody>
          <a:bodyPr>
            <a:normAutofit/>
          </a:bodyPr>
          <a:lstStyle/>
          <a:p>
            <a:r>
              <a:rPr lang="ru-RU" sz="2400" dirty="0"/>
              <a:t>Математическое устройство (арифмометр) для выполнения операций. Хранилище (память) для хранения данных. Читатель перфокарт для ввода программ и данных.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2D02CC-1635-C6E1-9069-7BC21372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5B6A463-A0C8-579C-AFCF-7BF67947035F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8" r="4278"/>
          <a:stretch>
            <a:fillRect/>
          </a:stretch>
        </p:blipFill>
        <p:spPr bwMode="auto">
          <a:xfrm>
            <a:off x="6240463" y="1308100"/>
            <a:ext cx="5711825" cy="532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390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64A5D-7E30-2B14-5624-D5C06A425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0" y="295729"/>
            <a:ext cx="5856740" cy="1574808"/>
          </a:xfrm>
        </p:spPr>
        <p:txBody>
          <a:bodyPr/>
          <a:lstStyle/>
          <a:p>
            <a:r>
              <a:rPr lang="ru-RU" dirty="0"/>
              <a:t>Прорывные идеи Бэббиджа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169A56-1511-2312-3871-6E3FBF23B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5141" y="3291840"/>
            <a:ext cx="5084979" cy="3337560"/>
          </a:xfrm>
        </p:spPr>
        <p:txBody>
          <a:bodyPr>
            <a:normAutofit/>
          </a:bodyPr>
          <a:lstStyle/>
          <a:p>
            <a:r>
              <a:rPr lang="ru-RU" sz="2400" dirty="0"/>
              <a:t>Концепции хранилища, процессора и программного управления предвосхищают архитектуру современных компьютеров. Аналитическая машина — первая попытка создать программируемое устройство.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D9125F-4FD5-4EA9-92DE-6CE3C0D7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1701C36-174D-448C-10F1-A4DA8547F48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5"/>
          <a:stretch>
            <a:fillRect/>
          </a:stretch>
        </p:blipFill>
        <p:spPr bwMode="auto">
          <a:xfrm>
            <a:off x="6096000" y="1325563"/>
            <a:ext cx="5856288" cy="530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54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FBFD0-7DD2-9C76-8F1A-9D6C17D5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59" y="295729"/>
            <a:ext cx="6000673" cy="1574808"/>
          </a:xfrm>
        </p:spPr>
        <p:txBody>
          <a:bodyPr>
            <a:normAutofit/>
          </a:bodyPr>
          <a:lstStyle/>
          <a:p>
            <a:r>
              <a:rPr lang="ru-RU" dirty="0"/>
              <a:t>Ада Лавлейс — первая программистка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477456-18A2-BDBE-080D-D23710FDB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1070" y="3282696"/>
            <a:ext cx="5084979" cy="3346704"/>
          </a:xfrm>
        </p:spPr>
        <p:txBody>
          <a:bodyPr>
            <a:normAutofit/>
          </a:bodyPr>
          <a:lstStyle/>
          <a:p>
            <a:r>
              <a:rPr lang="ru-RU" sz="2400" dirty="0"/>
              <a:t>Сотрудница Бэббиджа, написавшая первую программу для аналитической машины. Предложила идею, что машина может выполнять не только математические вычисления, но и обрабатывать любой тип информации.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5AE8F3D-6BA8-AC8A-BDDA-9C474BBF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818E46C7-75CC-0E1C-3EE8-01CB3E4AAA95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11" r="19811"/>
          <a:stretch>
            <a:fillRect/>
          </a:stretch>
        </p:blipFill>
        <p:spPr bwMode="auto">
          <a:xfrm>
            <a:off x="6240463" y="1308100"/>
            <a:ext cx="5711825" cy="532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408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E7C2C3-72FD-0CFC-EC9F-65B83971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0" y="276012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/>
              <a:t>Технические и финансовые трудности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284DFD-06A9-F9B0-FC61-C0EDFA518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510" y="3268980"/>
            <a:ext cx="5084979" cy="3360420"/>
          </a:xfrm>
        </p:spPr>
        <p:txBody>
          <a:bodyPr>
            <a:normAutofit/>
          </a:bodyPr>
          <a:lstStyle/>
          <a:p>
            <a:r>
              <a:rPr lang="ru-RU" sz="2400" dirty="0"/>
              <a:t>Недостаток технологий для создания точных деталей. Финансовые проблемы и прекращение поддержки со стороны правительства.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067BBC-5D48-A0DC-2F7D-C7CA1E5D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F7F1CFFB-023D-4573-33F7-FE5B4259124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1" r="10741"/>
          <a:stretch>
            <a:fillRect/>
          </a:stretch>
        </p:blipFill>
        <p:spPr bwMode="auto">
          <a:xfrm>
            <a:off x="6246813" y="1279525"/>
            <a:ext cx="5705475" cy="53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512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734A9-B499-84FF-B1CB-5DE08A3ED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0" y="295729"/>
            <a:ext cx="6007551" cy="1947672"/>
          </a:xfrm>
        </p:spPr>
        <p:txBody>
          <a:bodyPr>
            <a:normAutofit/>
          </a:bodyPr>
          <a:lstStyle/>
          <a:p>
            <a:r>
              <a:rPr lang="ru-RU" dirty="0"/>
              <a:t>Влияние на современную вычислительную технику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7EE73C-CAA6-4E27-A1FF-40B90CB97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510" y="3243000"/>
            <a:ext cx="5084979" cy="3386400"/>
          </a:xfrm>
        </p:spPr>
        <p:txBody>
          <a:bodyPr>
            <a:normAutofit/>
          </a:bodyPr>
          <a:lstStyle/>
          <a:p>
            <a:r>
              <a:rPr lang="ru-RU" sz="2400" dirty="0"/>
              <a:t>Идеи Бэббиджа стали основой для будущих компьютеров. В 1991 году Британский музей науки построил дифференциальную машину по чертежам Бэббиджа, подтвердив его правильные расчёты.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21D1B3-61AE-3B05-3EF7-4F514F47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511AEAC0-D637-A493-5C2D-8C204C8FB9BE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7" r="5877"/>
          <a:stretch>
            <a:fillRect/>
          </a:stretch>
        </p:blipFill>
        <p:spPr bwMode="auto">
          <a:xfrm>
            <a:off x="6246813" y="1252538"/>
            <a:ext cx="5705475" cy="537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981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</TotalTime>
  <Words>275</Words>
  <Application>Microsoft Office PowerPoint</Application>
  <PresentationFormat>Широкоэкранный</PresentationFormat>
  <Paragraphs>30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Ион</vt:lpstr>
      <vt:lpstr>Машина Бэббиджа: первая идея вычислительной машины</vt:lpstr>
      <vt:lpstr>Чарльз Бэббидж — пионер вычислительной техники</vt:lpstr>
      <vt:lpstr>Что такое дифференциальная машина?</vt:lpstr>
      <vt:lpstr>Проектирование и строительство</vt:lpstr>
      <vt:lpstr>Схема элементов и принципы работы</vt:lpstr>
      <vt:lpstr>Аналитическая машина — шаг к программируемому компьютеру</vt:lpstr>
      <vt:lpstr>Ключевые компоненты аналитической машины</vt:lpstr>
      <vt:lpstr>Прорывные идеи Бэббиджа</vt:lpstr>
      <vt:lpstr>Ада Лавлейс — первая программистка</vt:lpstr>
      <vt:lpstr>Технические и финансовые трудности</vt:lpstr>
      <vt:lpstr>Влияние на современную вычислительную технику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6</cp:revision>
  <dcterms:created xsi:type="dcterms:W3CDTF">2024-09-22T11:24:00Z</dcterms:created>
  <dcterms:modified xsi:type="dcterms:W3CDTF">2024-09-24T15:07:56Z</dcterms:modified>
</cp:coreProperties>
</file>