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6" autoAdjust="0"/>
    <p:restoredTop sz="94660"/>
  </p:normalViewPr>
  <p:slideViewPr>
    <p:cSldViewPr snapToGrid="0">
      <p:cViewPr varScale="1">
        <p:scale>
          <a:sx n="84" d="100"/>
          <a:sy n="84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08FC-7773-468C-AD9D-D6B989BF303C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50FEB-EB7A-4451-BC66-8D32584718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66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B142A-4DFC-4796-8C70-07EC9BF4A8D1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3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C28F-4BEB-4989-B3DB-384220D1CE92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8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7065A-5A84-4039-81C1-30CB2C81C7FF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18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A28C5-52D7-4419-9187-4FAD69180F9A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2851D-B495-4D49-ABAF-316F96054603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5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B434-E7A4-48AF-8300-E756E797BEFF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ABC36-5889-4CBC-AEBB-69EDC847CC29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653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6656-A860-47FD-9AF4-EFEE905825E9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65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B1AAA-6EA4-4199-AB09-6D694FA557A9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41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4FE7-9056-4537-93B2-81B8EE51B8AA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15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5D482-5BCF-45BB-9DE4-DFFE7E1394A6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840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C6C3F-839A-45B8-B23A-DB743D674001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59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0AA55-3992-42D3-954A-36A8B36DA892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1411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EC3C-FC70-4E46-8EE9-4D9C5D46801E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27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8539-7CFE-4A2E-A838-EA8ABE2F8DAE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25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FD29-AC2F-4458-9B4A-E95AC6A7574F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88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2FE8B-94A2-4D58-A350-633E41ADD170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67FAA-F3E5-28CC-7ABF-C27982922E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История вакцинации: от первых опытов до современных технологий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2D7274-9A6B-0731-6858-28323E5047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Выполнила: Власова Дарья</a:t>
            </a:r>
          </a:p>
          <a:p>
            <a:r>
              <a:rPr lang="ru-RU" dirty="0"/>
              <a:t>Студентка группы С2-25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A53153-6536-6FA8-9309-B8A4A52E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9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9DFDBCA-0A06-111B-360E-AABB75FF5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969264"/>
            <a:ext cx="8915400" cy="49419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800" b="1" dirty="0"/>
              <a:t>Актуальность темы:</a:t>
            </a:r>
            <a:endParaRPr lang="ru-RU" sz="2800" dirty="0"/>
          </a:p>
          <a:p>
            <a:r>
              <a:rPr lang="ru-RU" sz="2800" dirty="0"/>
              <a:t>Вакцинация — ключевой инструмент общественного здравоохранения</a:t>
            </a:r>
          </a:p>
          <a:p>
            <a:r>
              <a:rPr lang="ru-RU" sz="2800" dirty="0"/>
              <a:t>Благодаря прививкам побеждены или контролируются многие смертельные болезни</a:t>
            </a:r>
          </a:p>
          <a:p>
            <a:r>
              <a:rPr lang="ru-RU" sz="2800" dirty="0"/>
              <a:t>Понимание истории помогает развеять мифы и оценить перспективы иммунологии</a:t>
            </a:r>
          </a:p>
          <a:p>
            <a:pPr marL="0" indent="0">
              <a:buNone/>
            </a:pPr>
            <a:r>
              <a:rPr lang="ru-RU" sz="2800" b="1" dirty="0"/>
              <a:t>Цель проекта:</a:t>
            </a:r>
            <a:br>
              <a:rPr lang="ru-RU" sz="2800" dirty="0"/>
            </a:br>
            <a:r>
              <a:rPr lang="ru-RU" sz="2800" dirty="0"/>
              <a:t>Создать презентацию на тему «История вакцинации: от первых опытов до современных технологий»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95AF88-52C9-B82B-89E8-78AB33A0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55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528E74C-340C-9274-580C-70BA1EDBB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969264"/>
            <a:ext cx="8915400" cy="49419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b="1" dirty="0"/>
              <a:t>Задачи:</a:t>
            </a:r>
            <a:endParaRPr lang="ru-RU" sz="2800" dirty="0"/>
          </a:p>
          <a:p>
            <a:r>
              <a:rPr lang="ru-RU" sz="2800" dirty="0"/>
              <a:t>Рассмотреть ранние методы профилактики оспы (вариоляцию)</a:t>
            </a:r>
          </a:p>
          <a:p>
            <a:r>
              <a:rPr lang="ru-RU" sz="2800" dirty="0"/>
              <a:t>Изучить вклад Эдварда Дженнера и Луи Пастера</a:t>
            </a:r>
          </a:p>
          <a:p>
            <a:r>
              <a:rPr lang="ru-RU" sz="2800" dirty="0"/>
              <a:t>Проанализировать историю внедрения прививок в России</a:t>
            </a:r>
          </a:p>
          <a:p>
            <a:r>
              <a:rPr lang="ru-RU" sz="2800" dirty="0"/>
              <a:t>Оценить современные достижения и перспективы вакцинологии</a:t>
            </a:r>
          </a:p>
          <a:p>
            <a:r>
              <a:rPr lang="ru-RU" sz="2800" dirty="0"/>
              <a:t>Сформулировать выводы о роли вакцинации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248076-52C3-9903-DABF-B79107CD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159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76FF5-C474-D053-FA97-A2134945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Вариоляция — первые попытки иммунизации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E1E0DB-45B1-B69E-80EF-CB2FE60D6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400" b="1" dirty="0"/>
              <a:t>Вариоляция</a:t>
            </a:r>
            <a:r>
              <a:rPr lang="ru-RU" sz="2400" dirty="0"/>
              <a:t> — введение материала из оспенных пузырьков больного для создания иммунитета</a:t>
            </a:r>
          </a:p>
          <a:p>
            <a:pPr marL="0" indent="0">
              <a:buNone/>
            </a:pPr>
            <a:r>
              <a:rPr lang="ru-RU" sz="2400" b="1" dirty="0"/>
              <a:t>География распространения:</a:t>
            </a:r>
            <a:endParaRPr lang="ru-RU" sz="2400" dirty="0"/>
          </a:p>
          <a:p>
            <a:r>
              <a:rPr lang="ru-RU" sz="2400" dirty="0"/>
              <a:t>VI–X вв.: Индия, Китай (вдыхание струпьев, втирание гноя в ранки)</a:t>
            </a:r>
          </a:p>
          <a:p>
            <a:r>
              <a:rPr lang="ru-RU" sz="2400" dirty="0"/>
              <a:t>XVII–XVIII вв.: Османская империя (контролируемая процедура)</a:t>
            </a:r>
          </a:p>
          <a:p>
            <a:r>
              <a:rPr lang="ru-RU" sz="2400" dirty="0"/>
              <a:t>Европа (леди Мэри Монтегю)</a:t>
            </a:r>
          </a:p>
          <a:p>
            <a:pPr marL="0" indent="0">
              <a:buNone/>
            </a:pPr>
            <a:r>
              <a:rPr lang="ru-RU" sz="2400" b="1" dirty="0"/>
              <a:t>Риски метода:</a:t>
            </a:r>
            <a:endParaRPr lang="ru-RU" sz="2400" dirty="0"/>
          </a:p>
          <a:p>
            <a:r>
              <a:rPr lang="ru-RU" sz="2400" dirty="0"/>
              <a:t>Смертность 1–2% (против 20–40% при естественной оспе)</a:t>
            </a:r>
          </a:p>
          <a:p>
            <a:r>
              <a:rPr lang="ru-RU" sz="2400" dirty="0"/>
              <a:t>Риск заражения окружающих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4D633F-5592-5BDF-0A46-393B95F9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55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AC0F3-2A01-D5B7-4CE5-92D36F58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202835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Вариоляция в России: пример Екатерины II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C7E77F-36A9-87B8-3D7A-7B13ED9E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b="1" dirty="0"/>
              <a:t>1768 год</a:t>
            </a:r>
            <a:r>
              <a:rPr lang="ru-RU" sz="2400" dirty="0"/>
              <a:t> — императрица Екатерина II решила подать личный пример</a:t>
            </a:r>
          </a:p>
          <a:p>
            <a:r>
              <a:rPr lang="ru-RU" sz="2400" dirty="0"/>
              <a:t>Приглашён британский доктор Томас </a:t>
            </a:r>
            <a:r>
              <a:rPr lang="ru-RU" sz="2400" dirty="0" err="1"/>
              <a:t>Димсдейл</a:t>
            </a:r>
            <a:endParaRPr lang="ru-RU" sz="2400" dirty="0"/>
          </a:p>
          <a:p>
            <a:r>
              <a:rPr lang="ru-RU" sz="2400" dirty="0"/>
              <a:t>23 октября 1768 года — прививка императрице и её сыну Павлу</a:t>
            </a:r>
          </a:p>
          <a:p>
            <a:r>
              <a:rPr lang="ru-RU" sz="2400" dirty="0"/>
              <a:t>Материал взят у крестьянского мальчика Александра Маркова</a:t>
            </a:r>
          </a:p>
          <a:p>
            <a:pPr marL="0" indent="0">
              <a:buNone/>
            </a:pPr>
            <a:r>
              <a:rPr lang="ru-RU" sz="2400" b="1" dirty="0"/>
              <a:t>Итог:</a:t>
            </a:r>
            <a:r>
              <a:rPr lang="ru-RU" sz="2400" dirty="0"/>
              <a:t> Выбита серебряная медаль с надписью </a:t>
            </a:r>
            <a:r>
              <a:rPr lang="ru-RU" sz="2400" b="1" dirty="0"/>
              <a:t>«Собою подала пример»</a:t>
            </a:r>
            <a:br>
              <a:rPr lang="ru-RU" sz="2400" dirty="0"/>
            </a:br>
            <a:r>
              <a:rPr lang="ru-RU" sz="2400" dirty="0"/>
              <a:t>Аристократия последовала примеру императрицы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91936B-3544-C781-6DE4-F0021B77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79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2C3CA-4A12-6BBD-5DD7-0DFEC04F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Эдвард Дженнер — рождение вакцинации (1796 г.)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0D3439-5EB1-FCD8-82C1-00A9BEEB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1687" cy="45049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b="1" dirty="0"/>
              <a:t>Эдвард Дженнер</a:t>
            </a:r>
            <a:r>
              <a:rPr lang="ru-RU" sz="2000" dirty="0"/>
              <a:t> (1749–1823) — английский врач</a:t>
            </a:r>
          </a:p>
          <a:p>
            <a:pPr marL="0" indent="0">
              <a:buNone/>
            </a:pPr>
            <a:r>
              <a:rPr lang="ru-RU" sz="2000" b="1" dirty="0"/>
              <a:t>Наблюдение:</a:t>
            </a:r>
            <a:r>
              <a:rPr lang="ru-RU" sz="2000" dirty="0"/>
              <a:t> доярки, переболевшие коровьей оспой, не болеют натуральной оспой</a:t>
            </a:r>
          </a:p>
          <a:p>
            <a:pPr marL="0" indent="0">
              <a:buNone/>
            </a:pPr>
            <a:r>
              <a:rPr lang="ru-RU" sz="2000" b="1" dirty="0"/>
              <a:t>1796 год — исторический эксперимент:</a:t>
            </a:r>
            <a:endParaRPr lang="ru-RU" sz="2000" dirty="0"/>
          </a:p>
          <a:p>
            <a:r>
              <a:rPr lang="ru-RU" sz="2000" dirty="0"/>
              <a:t>8-летнему Джеймсу </a:t>
            </a:r>
            <a:r>
              <a:rPr lang="ru-RU" sz="2000" dirty="0" err="1"/>
              <a:t>Фиппсу</a:t>
            </a:r>
            <a:r>
              <a:rPr lang="ru-RU" sz="2000" dirty="0"/>
              <a:t> введён материал коровьей оспы</a:t>
            </a:r>
          </a:p>
          <a:p>
            <a:r>
              <a:rPr lang="ru-RU" sz="2000" dirty="0"/>
              <a:t>После выздоровления — попытка заражения натуральной оспой</a:t>
            </a:r>
          </a:p>
          <a:p>
            <a:r>
              <a:rPr lang="ru-RU" sz="2000" b="1" dirty="0"/>
              <a:t>Ребёнок не заболел!</a:t>
            </a:r>
            <a:endParaRPr lang="ru-RU" sz="2000" dirty="0"/>
          </a:p>
          <a:p>
            <a:pPr marL="0" indent="0">
              <a:buNone/>
            </a:pPr>
            <a:r>
              <a:rPr lang="ru-RU" sz="2000" b="1" dirty="0"/>
              <a:t>Значение открытия:</a:t>
            </a:r>
            <a:endParaRPr lang="ru-RU" sz="2000" dirty="0"/>
          </a:p>
          <a:p>
            <a:r>
              <a:rPr lang="ru-RU" sz="2000" dirty="0"/>
              <a:t>Создание первой безопасной вакцины</a:t>
            </a:r>
          </a:p>
          <a:p>
            <a:r>
              <a:rPr lang="ru-RU" sz="2000" dirty="0"/>
              <a:t>Термин «вакцина» (от </a:t>
            </a:r>
            <a:r>
              <a:rPr lang="ru-RU" sz="2000" i="1" dirty="0" err="1"/>
              <a:t>vacca</a:t>
            </a:r>
            <a:r>
              <a:rPr lang="ru-RU" sz="2000" dirty="0"/>
              <a:t> — «корова»)</a:t>
            </a:r>
          </a:p>
          <a:p>
            <a:r>
              <a:rPr lang="ru-RU" sz="2000" dirty="0"/>
              <a:t>Начало научной иммунизации</a:t>
            </a:r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2F654D-A8F6-1277-430D-DFC7790B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418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D9B57-ACDF-0772-9662-9909FBEA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Первая вакцинация в России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6E5545-F10A-DB9C-E604-2841B7935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1801 год</a:t>
            </a:r>
            <a:r>
              <a:rPr lang="ru-RU" sz="2400" dirty="0"/>
              <a:t> — профессор Е.О. Мухин провёл первую вакцинацию по методу Дженнера</a:t>
            </a:r>
          </a:p>
          <a:p>
            <a:r>
              <a:rPr lang="ru-RU" sz="2400" dirty="0"/>
              <a:t>Мальчик </a:t>
            </a:r>
            <a:r>
              <a:rPr lang="ru-RU" sz="2400" b="1" dirty="0"/>
              <a:t>Антон Петров</a:t>
            </a:r>
            <a:r>
              <a:rPr lang="ru-RU" sz="2400" dirty="0"/>
              <a:t> получил прививку</a:t>
            </a:r>
          </a:p>
          <a:p>
            <a:r>
              <a:rPr lang="ru-RU" sz="2400" dirty="0"/>
              <a:t>В честь события получил фамилию </a:t>
            </a:r>
            <a:r>
              <a:rPr lang="ru-RU" sz="2400" b="1" dirty="0"/>
              <a:t>ВАКЦИНОВ</a:t>
            </a:r>
            <a:endParaRPr lang="ru-RU" sz="2400" dirty="0"/>
          </a:p>
          <a:p>
            <a:pPr marL="0" indent="0">
              <a:buNone/>
            </a:pPr>
            <a:r>
              <a:rPr lang="ru-RU" sz="2400" b="1" dirty="0"/>
              <a:t>Результат:</a:t>
            </a:r>
            <a:r>
              <a:rPr lang="ru-RU" sz="2400" dirty="0"/>
              <a:t> Метод Дженнера распространился по России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40CE1A-A561-AE1D-A7FC-435ABFEE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91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01FE0-8A17-8BE8-2E69-57F41F99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Луи Пастер — научная основа вакцинологии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742B7D-F9F3-582F-5228-770ED958A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/>
              <a:t>Луи Пастер</a:t>
            </a:r>
            <a:r>
              <a:rPr lang="ru-RU" dirty="0"/>
              <a:t> (1822–1895) — французский учёный, основоположник микробиологии</a:t>
            </a:r>
          </a:p>
          <a:p>
            <a:pPr marL="0" indent="0">
              <a:buNone/>
            </a:pPr>
            <a:r>
              <a:rPr lang="ru-RU" b="1" dirty="0"/>
              <a:t>Главные открытия:</a:t>
            </a:r>
            <a:endParaRPr lang="ru-RU" dirty="0"/>
          </a:p>
          <a:p>
            <a:r>
              <a:rPr lang="ru-RU" dirty="0"/>
              <a:t>Доказал связь микроорганизмов с инфекциями</a:t>
            </a:r>
          </a:p>
          <a:p>
            <a:r>
              <a:rPr lang="ru-RU" dirty="0"/>
              <a:t>Предложил использовать ослабленные (аттенуированные) возбудители</a:t>
            </a:r>
          </a:p>
          <a:p>
            <a:pPr marL="0" indent="0">
              <a:buNone/>
            </a:pPr>
            <a:r>
              <a:rPr lang="ru-RU" b="1" dirty="0"/>
              <a:t>Созданные вакцины:</a:t>
            </a:r>
            <a:endParaRPr lang="ru-RU" dirty="0"/>
          </a:p>
          <a:p>
            <a:r>
              <a:rPr lang="ru-RU" dirty="0"/>
              <a:t>1879 г. — против куриной холеры</a:t>
            </a:r>
          </a:p>
          <a:p>
            <a:r>
              <a:rPr lang="ru-RU" dirty="0"/>
              <a:t>1881 г. — против сибирской язвы</a:t>
            </a:r>
          </a:p>
          <a:p>
            <a:r>
              <a:rPr lang="ru-RU" b="1" dirty="0"/>
              <a:t>1885 г. — против бешенства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1885 год:</a:t>
            </a:r>
            <a:r>
              <a:rPr lang="ru-RU" dirty="0"/>
              <a:t> Спас 9-летнего Жозефа Мейстера, укушенного бешеной собакой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85C0C9-317A-A640-00F3-BB4C6ADF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38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28270-22BB-60E5-23F7-98A3E2654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39995" cy="12808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Развитие вакцинации в России (XIX–XX вв.)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04C032-A5DB-450F-3AF1-B600B5E5E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b="1" dirty="0"/>
              <a:t>Ключевые события:</a:t>
            </a:r>
            <a:endParaRPr lang="ru-RU" sz="2000" dirty="0"/>
          </a:p>
          <a:p>
            <a:r>
              <a:rPr lang="ru-RU" sz="2000" b="1" dirty="0"/>
              <a:t>1893 г.</a:t>
            </a:r>
            <a:r>
              <a:rPr lang="ru-RU" sz="2000" dirty="0"/>
              <a:t> — И.Г. Савченко и Д.К. Заболотный (опыты по пероральной вакцинации против холеры)</a:t>
            </a:r>
          </a:p>
          <a:p>
            <a:r>
              <a:rPr lang="ru-RU" sz="2000" b="1" dirty="0"/>
              <a:t>1883–1942 гг.</a:t>
            </a:r>
            <a:r>
              <a:rPr lang="ru-RU" sz="2000" dirty="0"/>
              <a:t> — вакцина Л.С. </a:t>
            </a:r>
            <a:r>
              <a:rPr lang="ru-RU" sz="2000" dirty="0" err="1"/>
              <a:t>Ценковского</a:t>
            </a:r>
            <a:r>
              <a:rPr lang="ru-RU" sz="2000" dirty="0"/>
              <a:t> против сибирской язвы</a:t>
            </a:r>
          </a:p>
          <a:p>
            <a:r>
              <a:rPr lang="ru-RU" sz="2000" b="1" dirty="0"/>
              <a:t>1919 г.</a:t>
            </a:r>
            <a:r>
              <a:rPr lang="ru-RU" sz="2000" dirty="0"/>
              <a:t> — декрет об обязательной вакцинации против оспы</a:t>
            </a:r>
          </a:p>
          <a:p>
            <a:r>
              <a:rPr lang="ru-RU" sz="2000" b="1" dirty="0"/>
              <a:t>1936 г.</a:t>
            </a:r>
            <a:r>
              <a:rPr lang="ru-RU" sz="2000" dirty="0"/>
              <a:t> — оспа в СССР ликвидирована</a:t>
            </a:r>
          </a:p>
          <a:p>
            <a:pPr marL="0" indent="0">
              <a:buNone/>
            </a:pPr>
            <a:r>
              <a:rPr lang="ru-RU" sz="2000" b="1" dirty="0"/>
              <a:t>Владимир Хавкин (1860–1930):</a:t>
            </a:r>
            <a:endParaRPr lang="ru-RU" sz="2000" dirty="0"/>
          </a:p>
          <a:p>
            <a:r>
              <a:rPr lang="ru-RU" sz="2000" dirty="0"/>
              <a:t>Вакцина против холеры (испытал на себе)</a:t>
            </a:r>
          </a:p>
          <a:p>
            <a:r>
              <a:rPr lang="ru-RU" sz="2000" dirty="0"/>
              <a:t>Противочумная вакцина («лимфа Хавкина»)</a:t>
            </a:r>
          </a:p>
          <a:p>
            <a:r>
              <a:rPr lang="ru-RU" sz="2000" dirty="0"/>
              <a:t>Памятник в Бомбее (Индия)</a:t>
            </a:r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507508-8A3C-A821-82FA-D478676C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807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E6014-2C72-42BD-4966-63A07612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Борьба с полиомиелитом в СССР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8FBB82-8060-81A2-8886-0D5F21536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b="1" dirty="0"/>
              <a:t>1950-е годы</a:t>
            </a:r>
            <a:r>
              <a:rPr lang="ru-RU" sz="2400" dirty="0"/>
              <a:t> — эпидемия полиомиелита в мире</a:t>
            </a:r>
          </a:p>
          <a:p>
            <a:pPr marL="0" indent="0">
              <a:buNone/>
            </a:pPr>
            <a:r>
              <a:rPr lang="ru-RU" sz="2400" b="1" dirty="0"/>
              <a:t>Альберт </a:t>
            </a:r>
            <a:r>
              <a:rPr lang="ru-RU" sz="2400" b="1" dirty="0" err="1"/>
              <a:t>Сейбин</a:t>
            </a:r>
            <a:r>
              <a:rPr lang="ru-RU" sz="2400" dirty="0"/>
              <a:t> (США) — создал живую вакцину, но в США её не применяли</a:t>
            </a:r>
          </a:p>
          <a:p>
            <a:pPr marL="0" indent="0">
              <a:buNone/>
            </a:pPr>
            <a:r>
              <a:rPr lang="ru-RU" sz="2400" b="1" dirty="0"/>
              <a:t>Советские учёные:</a:t>
            </a:r>
            <a:endParaRPr lang="ru-RU" sz="2400" dirty="0"/>
          </a:p>
          <a:p>
            <a:r>
              <a:rPr lang="ru-RU" sz="2400" dirty="0"/>
              <a:t>Михаил Чумаков</a:t>
            </a:r>
          </a:p>
          <a:p>
            <a:r>
              <a:rPr lang="ru-RU" sz="2400" dirty="0"/>
              <a:t>Анатолий Смородинцев</a:t>
            </a:r>
          </a:p>
          <a:p>
            <a:pPr marL="0" indent="0">
              <a:buNone/>
            </a:pPr>
            <a:r>
              <a:rPr lang="ru-RU" sz="2400" b="1" dirty="0"/>
              <a:t>1959–1960 гг.</a:t>
            </a:r>
            <a:r>
              <a:rPr lang="ru-RU" sz="2400" dirty="0"/>
              <a:t> — массовая вакцинация в СССР</a:t>
            </a:r>
          </a:p>
          <a:p>
            <a:r>
              <a:rPr lang="ru-RU" sz="2400" dirty="0"/>
              <a:t>Привито </a:t>
            </a:r>
            <a:r>
              <a:rPr lang="ru-RU" sz="2400" b="1" dirty="0"/>
              <a:t>77,5 миллионов человек</a:t>
            </a:r>
            <a:endParaRPr lang="ru-RU" sz="2400" dirty="0"/>
          </a:p>
          <a:p>
            <a:r>
              <a:rPr lang="ru-RU" sz="2400" dirty="0"/>
              <a:t>Эпидемия полиомиелита остановлена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C54816-8951-9E0E-C1BE-1484710B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20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83392-602D-FD8A-1959-44BB6C38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Развитие календаря прививок в СССР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96E4D-6AE1-96A0-386E-B3CEC6FB1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Формирование системы вакцинации:</a:t>
            </a:r>
            <a:endParaRPr lang="ru-RU" sz="2400" dirty="0"/>
          </a:p>
          <a:p>
            <a:r>
              <a:rPr lang="ru-RU" sz="2400" b="1" dirty="0"/>
              <a:t>1925 г.</a:t>
            </a:r>
            <a:r>
              <a:rPr lang="ru-RU" sz="2400" dirty="0"/>
              <a:t> — начало вакцинации БЦЖ (туберкулёз)</a:t>
            </a:r>
          </a:p>
          <a:p>
            <a:r>
              <a:rPr lang="ru-RU" sz="2400" b="1" dirty="0"/>
              <a:t>1958 г.</a:t>
            </a:r>
            <a:r>
              <a:rPr lang="ru-RU" sz="2400" dirty="0"/>
              <a:t> — первый календарь прививок (5 вакцин: оспа, туберкулёз, коклюш, дифтерия, полиомиелит)</a:t>
            </a:r>
          </a:p>
          <a:p>
            <a:r>
              <a:rPr lang="ru-RU" sz="2400" b="1" dirty="0"/>
              <a:t>1966 г.</a:t>
            </a:r>
            <a:r>
              <a:rPr lang="ru-RU" sz="2400" dirty="0"/>
              <a:t> — добавлена вакцинация от столбняка</a:t>
            </a:r>
          </a:p>
          <a:p>
            <a:r>
              <a:rPr lang="ru-RU" sz="2400" b="1" dirty="0"/>
              <a:t>1968 г.</a:t>
            </a:r>
            <a:r>
              <a:rPr lang="ru-RU" sz="2400" dirty="0"/>
              <a:t> — вакцинация от кори, затем от паротита</a:t>
            </a:r>
          </a:p>
          <a:p>
            <a:r>
              <a:rPr lang="ru-RU" sz="2400" b="1" dirty="0"/>
              <a:t>1998 г.</a:t>
            </a:r>
            <a:r>
              <a:rPr lang="ru-RU" sz="2400" dirty="0"/>
              <a:t> — вакцинация от гепатита B и краснухи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7EFF43-8E96-63BF-50A7-C62E9328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110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D8104-E36B-6052-9777-12B27A83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Глобальные успехи вакцинации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19B240-0B48-A0DE-4C81-9B9E2FF21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400" b="1" dirty="0"/>
              <a:t>Ключевые достижения:</a:t>
            </a:r>
            <a:endParaRPr lang="ru-RU" sz="2400" dirty="0"/>
          </a:p>
          <a:p>
            <a:r>
              <a:rPr lang="ru-RU" sz="2400" b="1" dirty="0"/>
              <a:t>1980 г.</a:t>
            </a:r>
            <a:r>
              <a:rPr lang="ru-RU" sz="2400" dirty="0"/>
              <a:t> — ВОЗ объявила о полной ликвидации натуральной оспы (единственная побеждённая инфекция)</a:t>
            </a:r>
          </a:p>
          <a:p>
            <a:r>
              <a:rPr lang="ru-RU" sz="2400" b="1" dirty="0"/>
              <a:t>1986 г.</a:t>
            </a:r>
            <a:r>
              <a:rPr lang="ru-RU" sz="2400" dirty="0"/>
              <a:t> — первая генно-инженерная вакцина (против гепатита B)</a:t>
            </a:r>
          </a:p>
          <a:p>
            <a:r>
              <a:rPr lang="ru-RU" sz="2400" b="1" dirty="0"/>
              <a:t>2020 г.</a:t>
            </a:r>
            <a:r>
              <a:rPr lang="ru-RU" sz="2400" dirty="0"/>
              <a:t> — создание российской вакцины «Спутник V» против COVID-19</a:t>
            </a:r>
          </a:p>
          <a:p>
            <a:pPr marL="0" indent="0">
              <a:buNone/>
            </a:pPr>
            <a:r>
              <a:rPr lang="ru-RU" sz="2400" b="1" dirty="0"/>
              <a:t>Новые технологии:</a:t>
            </a:r>
            <a:endParaRPr lang="ru-RU" sz="2400" dirty="0"/>
          </a:p>
          <a:p>
            <a:r>
              <a:rPr lang="ru-RU" sz="2400" dirty="0"/>
              <a:t>мРНК-вакцины</a:t>
            </a:r>
          </a:p>
          <a:p>
            <a:r>
              <a:rPr lang="ru-RU" sz="2400" dirty="0"/>
              <a:t>Векторные вакцины</a:t>
            </a:r>
          </a:p>
          <a:p>
            <a:r>
              <a:rPr lang="ru-RU" sz="2400" dirty="0"/>
              <a:t>Вирусоподобные частицы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059D7A-8BA3-CC3B-DD79-4DF2DFB0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655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8978B-B2B3-5795-2043-53ACB00D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Национальный календарь прививок РФ (2024)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5E359D-4961-6271-3101-F240A16EA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23872"/>
            <a:ext cx="8911687" cy="4724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b="1" dirty="0"/>
              <a:t>Вакцинация против 13 инфекций:</a:t>
            </a:r>
            <a:endParaRPr lang="ru-RU" sz="2000" dirty="0"/>
          </a:p>
          <a:p>
            <a:r>
              <a:rPr lang="ru-RU" sz="2000" dirty="0"/>
              <a:t>Гепатит B</a:t>
            </a:r>
          </a:p>
          <a:p>
            <a:r>
              <a:rPr lang="ru-RU" sz="2000" dirty="0"/>
              <a:t>Туберкулёз (БЦЖ)</a:t>
            </a:r>
          </a:p>
          <a:p>
            <a:r>
              <a:rPr lang="ru-RU" sz="2000" dirty="0"/>
              <a:t>Дифтерия, столбняк, коклюш</a:t>
            </a:r>
          </a:p>
          <a:p>
            <a:r>
              <a:rPr lang="ru-RU" sz="2000" dirty="0"/>
              <a:t>Полиомиелит</a:t>
            </a:r>
          </a:p>
          <a:p>
            <a:r>
              <a:rPr lang="ru-RU" sz="2000" dirty="0"/>
              <a:t>Корь, краснуха, эпидемический паротит</a:t>
            </a:r>
          </a:p>
          <a:p>
            <a:r>
              <a:rPr lang="ru-RU" sz="2000" dirty="0"/>
              <a:t>Гемофильная инфекция</a:t>
            </a:r>
          </a:p>
          <a:p>
            <a:r>
              <a:rPr lang="ru-RU" sz="2000" dirty="0"/>
              <a:t>Пневмококковая инфекция</a:t>
            </a:r>
          </a:p>
          <a:p>
            <a:r>
              <a:rPr lang="ru-RU" sz="2000" dirty="0"/>
              <a:t>Грипп</a:t>
            </a:r>
          </a:p>
          <a:p>
            <a:r>
              <a:rPr lang="ru-RU" sz="2000" dirty="0"/>
              <a:t>Ротавирусная инфекция (по эпидпоказаниям)</a:t>
            </a:r>
          </a:p>
          <a:p>
            <a:r>
              <a:rPr lang="ru-RU" sz="2000" dirty="0"/>
              <a:t>COVID-19 (отдельные группы)</a:t>
            </a:r>
          </a:p>
          <a:p>
            <a:r>
              <a:rPr lang="ru-RU" sz="2000" dirty="0"/>
              <a:t>Календарь регулярно обновляется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AE00B5-C81C-E86C-19B2-A9A0C592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40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0E2CB-FB33-8B1A-CACA-F65B858A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Перспективы развития вакцинологии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83A2E0-9D20-52FA-312D-1EF042004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Будущие направления:</a:t>
            </a:r>
            <a:endParaRPr lang="ru-RU" sz="2400" dirty="0"/>
          </a:p>
          <a:p>
            <a:r>
              <a:rPr lang="ru-RU" sz="2400" dirty="0"/>
              <a:t>мРНК-вакцины (быстрая разработка, эффективность)</a:t>
            </a:r>
          </a:p>
          <a:p>
            <a:r>
              <a:rPr lang="ru-RU" sz="2400" dirty="0"/>
              <a:t>Персонализированные противоопухолевые вакцины</a:t>
            </a:r>
          </a:p>
          <a:p>
            <a:r>
              <a:rPr lang="ru-RU" sz="2400" dirty="0"/>
              <a:t>Вакцины против ВИЧ, малярии, туберкулёза нового поколения</a:t>
            </a:r>
          </a:p>
          <a:p>
            <a:r>
              <a:rPr lang="ru-RU" sz="2400" dirty="0"/>
              <a:t>Нанотехнологии и вирусоподобные частицы</a:t>
            </a:r>
          </a:p>
          <a:p>
            <a:r>
              <a:rPr lang="ru-RU" sz="2400" dirty="0"/>
              <a:t>Универсальные вакцины против гриппа и коронавирусов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9EB47E-F2CC-2D0D-8D02-8465C846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90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B207FF-F586-B45A-99C7-A9AF40A9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Результаты работы над проектом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AF7610-B17F-B159-B378-58722A1AA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400" b="1" dirty="0"/>
              <a:t>Достигнуто:</a:t>
            </a:r>
            <a:endParaRPr lang="ru-RU" sz="2400" dirty="0"/>
          </a:p>
          <a:p>
            <a:r>
              <a:rPr lang="ru-RU" sz="2400" dirty="0"/>
              <a:t>Создана презентация по истории вакцинации</a:t>
            </a:r>
          </a:p>
          <a:p>
            <a:r>
              <a:rPr lang="ru-RU" sz="2400" dirty="0"/>
              <a:t>Проанализированы ключевые этапы развития</a:t>
            </a:r>
          </a:p>
          <a:p>
            <a:r>
              <a:rPr lang="ru-RU" sz="2400" dirty="0"/>
              <a:t>Систематизированы данные по истории вакцинологии</a:t>
            </a:r>
          </a:p>
          <a:p>
            <a:r>
              <a:rPr lang="ru-RU" sz="2400" dirty="0"/>
              <a:t>Сформировано понимание значимости вакцинации</a:t>
            </a:r>
          </a:p>
          <a:p>
            <a:pPr marL="0" indent="0">
              <a:buNone/>
            </a:pPr>
            <a:r>
              <a:rPr lang="ru-RU" sz="2400" b="1" dirty="0"/>
              <a:t>Трудности:</a:t>
            </a:r>
            <a:endParaRPr lang="ru-RU" sz="2400" dirty="0"/>
          </a:p>
          <a:p>
            <a:r>
              <a:rPr lang="ru-RU" sz="2400" dirty="0"/>
              <a:t>Работа с историческими документами разных эпох</a:t>
            </a:r>
          </a:p>
          <a:p>
            <a:r>
              <a:rPr lang="ru-RU" sz="2400" dirty="0"/>
              <a:t>Освоение специализированной терминологии</a:t>
            </a:r>
          </a:p>
          <a:p>
            <a:r>
              <a:rPr lang="ru-RU" sz="2400" dirty="0"/>
              <a:t>Обработка большого объёма информации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612E63A-00E5-6D4E-203B-399D277B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99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D0A-5BD6-C790-969F-A4A8085A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Выводы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502A4C-1665-EE19-D2AE-50C6208C6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История вакцинации демонстрирует колоссальный прогресс в борьбе с инфекциями</a:t>
            </a:r>
          </a:p>
          <a:p>
            <a:r>
              <a:rPr lang="ru-RU" sz="2400" dirty="0"/>
              <a:t>Современные методы иммунизации значительно безопаснее и эффективнее ранних</a:t>
            </a:r>
          </a:p>
          <a:p>
            <a:r>
              <a:rPr lang="ru-RU" sz="2400" dirty="0"/>
              <a:t>Вакцинация остаётся ключевым инструментом общественного здравоохранения</a:t>
            </a:r>
          </a:p>
          <a:p>
            <a:pPr marL="0" indent="0">
              <a:buNone/>
            </a:pPr>
            <a:r>
              <a:rPr lang="ru-RU" sz="2400" b="1" dirty="0"/>
              <a:t>Практическая значимость:</a:t>
            </a:r>
            <a:r>
              <a:rPr lang="ru-RU" sz="2400" dirty="0"/>
              <a:t> Презентация может использоваться на уроках истории для расширения знаний учащихся о развитии иммунологии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3E016F-B3BD-3690-0BB5-F05B5654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574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30D00-5E29-2839-00EC-22C726550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Спасибо за внимание!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45267C-0EA3-3C66-DF87-3C1BE3A0F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429000"/>
            <a:ext cx="8915400" cy="24822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Источники:</a:t>
            </a:r>
            <a:endParaRPr lang="ru-RU" sz="2400" dirty="0"/>
          </a:p>
          <a:p>
            <a:r>
              <a:rPr lang="ru-RU" sz="2400" dirty="0"/>
              <a:t>ВОЗ, официальные отчёты</a:t>
            </a:r>
          </a:p>
          <a:p>
            <a:r>
              <a:rPr lang="ru-RU" sz="2400" dirty="0"/>
              <a:t>Архивные документы (РГАДА, РГИА)</a:t>
            </a:r>
          </a:p>
          <a:p>
            <a:r>
              <a:rPr lang="ru-RU" sz="2400" dirty="0"/>
              <a:t>Минздрав РФ, Национальный календарь прививок</a:t>
            </a:r>
          </a:p>
          <a:p>
            <a:r>
              <a:rPr lang="ru-RU" sz="2400" dirty="0"/>
              <a:t>Научные публикации (Намазова-Баранова Л.С. и др.)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27826-E07F-C839-9350-99D29EBC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08533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56</TotalTime>
  <Words>893</Words>
  <Application>Microsoft Office PowerPoint</Application>
  <PresentationFormat>Широкоэкранный</PresentationFormat>
  <Paragraphs>148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Wingdings 3</vt:lpstr>
      <vt:lpstr>Легкий дым</vt:lpstr>
      <vt:lpstr>История вакцинации: от первых опытов до современных технологий</vt:lpstr>
      <vt:lpstr>Презентация PowerPoint</vt:lpstr>
      <vt:lpstr>Презентация PowerPoint</vt:lpstr>
      <vt:lpstr>Вариоляция — первые попытки иммунизации </vt:lpstr>
      <vt:lpstr>Вариоляция в России: пример Екатерины II </vt:lpstr>
      <vt:lpstr>Эдвард Дженнер — рождение вакцинации (1796 г.) </vt:lpstr>
      <vt:lpstr>Первая вакцинация в России </vt:lpstr>
      <vt:lpstr>Луи Пастер — научная основа вакцинологии </vt:lpstr>
      <vt:lpstr>Развитие вакцинации в России (XIX–XX вв.) </vt:lpstr>
      <vt:lpstr>Борьба с полиомиелитом в СССР </vt:lpstr>
      <vt:lpstr>Развитие календаря прививок в СССР </vt:lpstr>
      <vt:lpstr>Глобальные успехи вакцинации </vt:lpstr>
      <vt:lpstr>Национальный календарь прививок РФ (2024) </vt:lpstr>
      <vt:lpstr>Перспективы развития вакцинологии </vt:lpstr>
      <vt:lpstr>Результаты работы над проектом </vt:lpstr>
      <vt:lpstr>Выводы 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Власов</dc:creator>
  <cp:lastModifiedBy>Дмитрий Власов</cp:lastModifiedBy>
  <cp:revision>20</cp:revision>
  <dcterms:created xsi:type="dcterms:W3CDTF">2026-02-23T07:14:06Z</dcterms:created>
  <dcterms:modified xsi:type="dcterms:W3CDTF">2026-03-27T11:22:58Z</dcterms:modified>
</cp:coreProperties>
</file>